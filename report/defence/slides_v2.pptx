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663"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0380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Suhail. This is my graduation project about the voice and Parkinson's disease.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sentence: the program listens to a recording. It answers one question. Does this voice pattern look more like patients, or like healthy people? It is not a diagnosis. It is a research screening idea.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voice? Ninety percent of patients get voice changes. The changes can start early. And a microphone is cheap and painless. Parkinson's weakens every muscle. Also the small muscles of speech.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is made in three stages. The lungs push the air. The vocal folds vibrate very fast. That vibration is the pitch. The mouth and tongue shape the sound into letters. Like a musical instrument.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turn every recording into seventy-four numbers. Each number answers a simple question. Is the pitch flat or lively? Is the vibration steady? Is the voice clear or breathy? Are there many pauses? How fast does the mouth move? Every number has a medical reason.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sound become numbers? The sound wave hits the microphone. It becomes an electrical signal. Then a converter called ADC measures this signal 44,100 times every second. Each measurement is one number, called a sample. A two-minute recording is about five million numbers.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small technical points. Mono means one channel. One list of numbers. That is enough for one voice. And we use WAV files. WAV keeps every number. MP3 deletes small details to save space. But small details are exactly what we measure. So no MP3.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is called MDVR-KCL. It is a public research dataset from King's College London. Thirty-seven people. Twenty-one healthy, sixteen with Parkinson's. Seventy-three recordings, about two minutes each, on a phone. We checked every file before training. Labels, speaker identity, no duplicates.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measuring, we clean up. Five careful steps. One channel. One fixed clock, 44.1 kilohertz. Center the wave. Trim the silence at the edges. Same loudness for all. And one thing we did not do: remove noise. Noise removal smooths away irregularities. But the irregularities are the medical evidence.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the computer learn? Two phases. Training: we show it many recordings with the answers. It finds the pattern. Testing: new recordings, no answers, from people it never heard. Can it still tell? One golden rule. Never test on a person the computer trained on. Like a student who saw the exam questions before the exam.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is called Random Forest. Three hundred small decision trees. Each looks at the numbers differently. Then they vote. Why this model? Because we can ask it which measurements it used. Its favourite is pitch range. That is the monotone speech sign doctors already know. We compared four models. This one won.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good is it? Balanced accuracy 0.822 on people it never heard. Sensitivity 77 percent. Of all true patients, how many did we catch? Specificity 87 percent. Of all healthy people, how many did we clear? Why not plain accuracy? A lazy model that always says healthy scores 57.5 percent and finds zero patients. That is why we use the fair score.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counts every recording. Really healthy, and the model says healthy: 36 correct. Six false alarms. Seven missed patients. Twenty-four caught. Out of 73 recordings, 60 correct, 13 mistakes. And we say so openly. Every screening system makes mistakes. Honest systems count them.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remember. One: the voice carries a real, measurable signal. Two: we tested honestly, only on people the computer never heard. Three: it is a screening helper, not a diagnosis. A doctor decides.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5.png"/><Relationship Id="rId9"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C:\Users\MShaheen\Documents\parkinsons_voice_project\report\defence\figs\wave_teal.png"/>
          <p:cNvPicPr>
            <a:picLocks noChangeAspect="1"/>
          </p:cNvPicPr>
          <p:nvPr/>
        </p:nvPicPr>
        <p:blipFill>
          <a:blip r:embed="rId4"/>
          <a:stretch>
            <a:fillRect/>
          </a:stretch>
        </p:blipFill>
        <p:spPr>
          <a:xfrm>
            <a:off x="0" y="5349240"/>
            <a:ext cx="12188952" cy="1508760"/>
          </a:xfrm>
          <a:prstGeom prst="rect">
            <a:avLst/>
          </a:prstGeom>
        </p:spPr>
      </p:pic>
      <p:sp>
        <p:nvSpPr>
          <p:cNvPr id="3" name="Text 0"/>
          <p:cNvSpPr txBox="1"/>
          <p:nvPr/>
        </p:nvSpPr>
        <p:spPr>
          <a:xfrm>
            <a:off x="822960" y="1097280"/>
            <a:ext cx="10543032" cy="1554480"/>
          </a:xfrm>
          <a:prstGeom prst="rect">
            <a:avLst/>
          </a:prstGeom>
          <a:noFill/>
          <a:ln/>
        </p:spPr>
        <p:txBody>
          <a:bodyPr wrap="square" lIns="0" tIns="0" rIns="0" bIns="0" rtlCol="0" anchor="ctr"/>
          <a:lstStyle/>
          <a:p>
            <a:pPr marL="0" indent="0" algn="ctr">
              <a:lnSpc>
                <a:spcPts val="4200"/>
              </a:lnSpc>
              <a:buNone/>
            </a:pPr>
            <a:r>
              <a:rPr lang="en-US" sz="3200" b="1" dirty="0">
                <a:solidFill>
                  <a:srgbClr val="16324A"/>
                </a:solidFill>
                <a:latin typeface="Cambria" pitchFamily="34" charset="0"/>
                <a:ea typeface="Cambria" pitchFamily="34" charset="-122"/>
                <a:cs typeface="Cambria" pitchFamily="34" charset="-120"/>
              </a:rPr>
              <a:t>Voice Signal Analysis Using Machine Learning</a:t>
            </a:r>
            <a:endParaRPr lang="en-US" sz="3200" dirty="0"/>
          </a:p>
          <a:p>
            <a:pPr marL="0" indent="0" algn="ctr">
              <a:lnSpc>
                <a:spcPts val="4200"/>
              </a:lnSpc>
              <a:buNone/>
            </a:pPr>
            <a:r>
              <a:rPr lang="en-US" sz="3200" b="1" dirty="0">
                <a:solidFill>
                  <a:srgbClr val="16324A"/>
                </a:solidFill>
                <a:latin typeface="Cambria" pitchFamily="34" charset="0"/>
                <a:ea typeface="Cambria" pitchFamily="34" charset="-122"/>
                <a:cs typeface="Cambria" pitchFamily="34" charset="-120"/>
              </a:rPr>
              <a:t>for Early Detection of Parkinson's Disease</a:t>
            </a:r>
            <a:endParaRPr lang="en-US" sz="3200" dirty="0"/>
          </a:p>
        </p:txBody>
      </p:sp>
      <p:sp>
        <p:nvSpPr>
          <p:cNvPr id="4" name="Text 1"/>
          <p:cNvSpPr txBox="1"/>
          <p:nvPr/>
        </p:nvSpPr>
        <p:spPr>
          <a:xfrm>
            <a:off x="822960" y="2788920"/>
            <a:ext cx="10543032" cy="411480"/>
          </a:xfrm>
          <a:prstGeom prst="rect">
            <a:avLst/>
          </a:prstGeom>
          <a:noFill/>
          <a:ln/>
        </p:spPr>
        <p:txBody>
          <a:bodyPr wrap="square" lIns="0" tIns="0" rIns="0" bIns="0" rtlCol="0" anchor="ctr"/>
          <a:lstStyle/>
          <a:p>
            <a:pPr marL="0" indent="0" algn="ctr">
              <a:buNone/>
            </a:pPr>
            <a:r>
              <a:rPr lang="en-US" sz="2000" b="1" dirty="0">
                <a:solidFill>
                  <a:srgbClr val="028090"/>
                </a:solidFill>
                <a:latin typeface="Calibri" pitchFamily="34" charset="0"/>
                <a:ea typeface="Calibri" pitchFamily="34" charset="-122"/>
                <a:cs typeface="Calibri" pitchFamily="34" charset="-120"/>
              </a:rPr>
              <a:t>Suhail Mohamed Alhammali</a:t>
            </a:r>
            <a:endParaRPr lang="en-US" sz="2000" dirty="0"/>
          </a:p>
        </p:txBody>
      </p:sp>
      <p:sp>
        <p:nvSpPr>
          <p:cNvPr id="5" name="Text 2"/>
          <p:cNvSpPr txBox="1"/>
          <p:nvPr/>
        </p:nvSpPr>
        <p:spPr>
          <a:xfrm>
            <a:off x="822960" y="3218688"/>
            <a:ext cx="10543032" cy="347472"/>
          </a:xfrm>
          <a:prstGeom prst="rect">
            <a:avLst/>
          </a:prstGeom>
          <a:noFill/>
          <a:ln/>
        </p:spPr>
        <p:txBody>
          <a:bodyPr wrap="square" lIns="0" tIns="0" rIns="0" bIns="0" rtlCol="0" anchor="ctr"/>
          <a:lstStyle/>
          <a:p>
            <a:pPr marL="0" indent="0" algn="ctr">
              <a:buNone/>
            </a:pPr>
            <a:r>
              <a:rPr lang="en-US" sz="1400" dirty="0">
                <a:solidFill>
                  <a:srgbClr val="5B7286"/>
                </a:solidFill>
                <a:latin typeface="Calibri" pitchFamily="34" charset="0"/>
                <a:ea typeface="Calibri" pitchFamily="34" charset="-122"/>
                <a:cs typeface="Calibri" pitchFamily="34" charset="-120"/>
              </a:rPr>
              <a:t>ID 2200208522      Supervisor: Dr. Adel Adyaf</a:t>
            </a:r>
            <a:endParaRPr lang="en-US" sz="1400" dirty="0"/>
          </a:p>
        </p:txBody>
      </p:sp>
      <p:sp>
        <p:nvSpPr>
          <p:cNvPr id="6" name="Text 3"/>
          <p:cNvSpPr txBox="1"/>
          <p:nvPr/>
        </p:nvSpPr>
        <p:spPr>
          <a:xfrm>
            <a:off x="822960" y="3703320"/>
            <a:ext cx="10543032" cy="640080"/>
          </a:xfrm>
          <a:prstGeom prst="rect">
            <a:avLst/>
          </a:prstGeom>
          <a:noFill/>
          <a:ln/>
        </p:spPr>
        <p:txBody>
          <a:bodyPr wrap="square" lIns="0" tIns="0" rIns="0" bIns="0" rtlCol="0" anchor="ctr"/>
          <a:lstStyle/>
          <a:p>
            <a:pPr marL="0" indent="0" algn="ctr">
              <a:buNone/>
            </a:pPr>
            <a:r>
              <a:rPr lang="en-US" sz="1300" dirty="0">
                <a:solidFill>
                  <a:srgbClr val="5B7286"/>
                </a:solidFill>
                <a:latin typeface="Calibri" pitchFamily="34" charset="0"/>
                <a:ea typeface="Calibri" pitchFamily="34" charset="-122"/>
                <a:cs typeface="Calibri" pitchFamily="34" charset="-120"/>
              </a:rPr>
              <a:t>Department of Biomedical Engineering  •  Faculty of Engineering</a:t>
            </a:r>
            <a:endParaRPr lang="en-US" sz="1300" dirty="0"/>
          </a:p>
          <a:p>
            <a:pPr marL="0" indent="0" algn="ctr">
              <a:buNone/>
            </a:pPr>
            <a:r>
              <a:rPr lang="en-US" sz="1300" dirty="0">
                <a:solidFill>
                  <a:srgbClr val="5B7286"/>
                </a:solidFill>
                <a:latin typeface="Calibri" pitchFamily="34" charset="0"/>
                <a:ea typeface="Calibri" pitchFamily="34" charset="-122"/>
                <a:cs typeface="Calibri" pitchFamily="34" charset="-120"/>
              </a:rPr>
              <a:t>University of Tripoli  •  Spring 2026</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marL="0" indent="0" algn="l">
              <a:buNone/>
            </a:pPr>
            <a:r>
              <a:rPr lang="en-US" sz="3000" b="1" dirty="0">
                <a:solidFill>
                  <a:srgbClr val="16324A"/>
                </a:solidFill>
                <a:latin typeface="Cambria" pitchFamily="34" charset="0"/>
                <a:ea typeface="Cambria" pitchFamily="34" charset="-122"/>
                <a:cs typeface="Cambria" pitchFamily="34" charset="-120"/>
              </a:rPr>
              <a:t>What is this project?</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marL="0" indent="0" algn="r">
              <a:buNone/>
            </a:pPr>
            <a:r>
              <a:rPr lang="en-US" sz="1000" dirty="0">
                <a:solidFill>
                  <a:srgbClr val="5B7286"/>
                </a:solidFill>
                <a:latin typeface="Calibri" pitchFamily="34" charset="0"/>
                <a:ea typeface="Calibri" pitchFamily="34" charset="-122"/>
                <a:cs typeface="Calibri" pitchFamily="34" charset="-120"/>
              </a:rPr>
              <a:t>2</a:t>
            </a:r>
            <a:endParaRPr lang="en-US" sz="1000" dirty="0"/>
          </a:p>
        </p:txBody>
      </p:sp>
      <p:sp>
        <p:nvSpPr>
          <p:cNvPr id="4" name="Shape 2"/>
          <p:cNvSpPr/>
          <p:nvPr/>
        </p:nvSpPr>
        <p:spPr>
          <a:xfrm>
            <a:off x="1188720" y="1463040"/>
            <a:ext cx="9811512" cy="1737360"/>
          </a:xfrm>
          <a:prstGeom prst="roundRect">
            <a:avLst>
              <a:gd name="adj" fmla="val 5263"/>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5" name="Text 3"/>
          <p:cNvSpPr txBox="1"/>
          <p:nvPr/>
        </p:nvSpPr>
        <p:spPr>
          <a:xfrm>
            <a:off x="1188720" y="1463040"/>
            <a:ext cx="9811512" cy="1737360"/>
          </a:xfrm>
          <a:prstGeom prst="rect">
            <a:avLst/>
          </a:prstGeom>
          <a:noFill/>
          <a:ln/>
        </p:spPr>
        <p:txBody>
          <a:bodyPr wrap="square" lIns="2540" tIns="2540" rIns="2540" bIns="2540" rtlCol="0" anchor="ctr"/>
          <a:lstStyle/>
          <a:p>
            <a:pPr marL="0" indent="0" algn="ctr">
              <a:lnSpc>
                <a:spcPts val="3200"/>
              </a:lnSpc>
              <a:buNone/>
            </a:pPr>
            <a:r>
              <a:rPr lang="en-US" sz="2100" dirty="0">
                <a:solidFill>
                  <a:srgbClr val="16324A"/>
                </a:solidFill>
                <a:latin typeface="Cambria" pitchFamily="34" charset="0"/>
                <a:ea typeface="Cambria" pitchFamily="34" charset="-122"/>
                <a:cs typeface="Cambria" pitchFamily="34" charset="-120"/>
              </a:rPr>
              <a:t>A computer program that listens to a voice recording</a:t>
            </a:r>
            <a:endParaRPr lang="en-US" sz="2100" dirty="0"/>
          </a:p>
          <a:p>
            <a:pPr marL="0" indent="0" algn="ctr">
              <a:lnSpc>
                <a:spcPts val="3200"/>
              </a:lnSpc>
              <a:buNone/>
            </a:pPr>
            <a:r>
              <a:rPr lang="en-US" sz="2100" dirty="0">
                <a:solidFill>
                  <a:srgbClr val="16324A"/>
                </a:solidFill>
                <a:latin typeface="Cambria" pitchFamily="34" charset="0"/>
                <a:ea typeface="Cambria" pitchFamily="34" charset="-122"/>
                <a:cs typeface="Cambria" pitchFamily="34" charset="-120"/>
              </a:rPr>
              <a:t>and answers one question: </a:t>
            </a:r>
            <a:endParaRPr lang="en-US" sz="2100" dirty="0"/>
          </a:p>
          <a:p>
            <a:pPr marL="0" indent="0" algn="ctr">
              <a:lnSpc>
                <a:spcPts val="3200"/>
              </a:lnSpc>
              <a:buNone/>
            </a:pPr>
            <a:r>
              <a:rPr lang="en-US" sz="2100" b="1" dirty="0">
                <a:solidFill>
                  <a:srgbClr val="026873"/>
                </a:solidFill>
                <a:latin typeface="Cambria" pitchFamily="34" charset="0"/>
                <a:ea typeface="Cambria" pitchFamily="34" charset="-122"/>
                <a:cs typeface="Cambria" pitchFamily="34" charset="-120"/>
              </a:rPr>
              <a:t>does this voice pattern look more like</a:t>
            </a:r>
            <a:endParaRPr lang="en-US" sz="2100" dirty="0"/>
          </a:p>
          <a:p>
            <a:pPr marL="0" indent="0" algn="ctr">
              <a:lnSpc>
                <a:spcPts val="3200"/>
              </a:lnSpc>
              <a:buNone/>
            </a:pPr>
            <a:r>
              <a:rPr lang="en-US" sz="2100" b="1" dirty="0">
                <a:solidFill>
                  <a:srgbClr val="026873"/>
                </a:solidFill>
                <a:latin typeface="Cambria" pitchFamily="34" charset="0"/>
                <a:ea typeface="Cambria" pitchFamily="34" charset="-122"/>
                <a:cs typeface="Cambria" pitchFamily="34" charset="-120"/>
              </a:rPr>
              <a:t>Parkinson's patients — or like healthy people?</a:t>
            </a:r>
            <a:endParaRPr lang="en-US" sz="2100" dirty="0"/>
          </a:p>
        </p:txBody>
      </p:sp>
      <p:sp>
        <p:nvSpPr>
          <p:cNvPr id="6" name="Shape 4"/>
          <p:cNvSpPr/>
          <p:nvPr/>
        </p:nvSpPr>
        <p:spPr>
          <a:xfrm>
            <a:off x="699516" y="3794760"/>
            <a:ext cx="3200400" cy="1737360"/>
          </a:xfrm>
          <a:prstGeom prst="roundRect">
            <a:avLst>
              <a:gd name="adj" fmla="val 5263"/>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7" name="Shape 5"/>
          <p:cNvSpPr/>
          <p:nvPr/>
        </p:nvSpPr>
        <p:spPr>
          <a:xfrm>
            <a:off x="1961388" y="3456432"/>
            <a:ext cx="676656" cy="676656"/>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8" name="Image 0" descr="C:\Users\MShaheen\Documents\parkinsons_voice_project\report\defence\figs\t_person.png"/>
          <p:cNvPicPr>
            <a:picLocks noChangeAspect="1"/>
          </p:cNvPicPr>
          <p:nvPr/>
        </p:nvPicPr>
        <p:blipFill>
          <a:blip r:embed="rId4"/>
          <a:stretch>
            <a:fillRect/>
          </a:stretch>
        </p:blipFill>
        <p:spPr>
          <a:xfrm>
            <a:off x="2137319" y="3632363"/>
            <a:ext cx="324795" cy="324795"/>
          </a:xfrm>
          <a:prstGeom prst="rect">
            <a:avLst/>
          </a:prstGeom>
        </p:spPr>
      </p:pic>
      <p:sp>
        <p:nvSpPr>
          <p:cNvPr id="9" name="Text 6"/>
          <p:cNvSpPr txBox="1"/>
          <p:nvPr/>
        </p:nvSpPr>
        <p:spPr>
          <a:xfrm>
            <a:off x="699516" y="4297680"/>
            <a:ext cx="3200400" cy="502920"/>
          </a:xfrm>
          <a:prstGeom prst="rect">
            <a:avLst/>
          </a:prstGeom>
          <a:noFill/>
          <a:ln/>
        </p:spPr>
        <p:txBody>
          <a:bodyPr wrap="square" lIns="0" tIns="0" rIns="0" bIns="0" rtlCol="0" anchor="ctr"/>
          <a:lstStyle/>
          <a:p>
            <a:pPr marL="0" indent="0" algn="ctr">
              <a:buNone/>
            </a:pPr>
            <a:r>
              <a:rPr lang="en-US" sz="2100" b="1" dirty="0">
                <a:solidFill>
                  <a:srgbClr val="028090"/>
                </a:solidFill>
                <a:latin typeface="Cambria" pitchFamily="34" charset="0"/>
                <a:ea typeface="Cambria" pitchFamily="34" charset="-122"/>
                <a:cs typeface="Cambria" pitchFamily="34" charset="-120"/>
              </a:rPr>
              <a:t>37 people</a:t>
            </a:r>
            <a:endParaRPr lang="en-US" sz="2100" dirty="0"/>
          </a:p>
        </p:txBody>
      </p:sp>
      <p:sp>
        <p:nvSpPr>
          <p:cNvPr id="10" name="Text 7"/>
          <p:cNvSpPr txBox="1"/>
          <p:nvPr/>
        </p:nvSpPr>
        <p:spPr>
          <a:xfrm>
            <a:off x="699516" y="4846320"/>
            <a:ext cx="3200400" cy="411480"/>
          </a:xfrm>
          <a:prstGeom prst="rect">
            <a:avLst/>
          </a:prstGeom>
          <a:noFill/>
          <a:ln/>
        </p:spPr>
        <p:txBody>
          <a:bodyPr wrap="square" lIns="0" tIns="0" rIns="0" bIns="0" rtlCol="0" anchor="ctr"/>
          <a:lstStyle/>
          <a:p>
            <a:pPr marL="0" indent="0" algn="ctr">
              <a:buNone/>
            </a:pPr>
            <a:r>
              <a:rPr lang="en-US" sz="1300" dirty="0">
                <a:solidFill>
                  <a:srgbClr val="5B7286"/>
                </a:solidFill>
                <a:latin typeface="Calibri" pitchFamily="34" charset="0"/>
                <a:ea typeface="Calibri" pitchFamily="34" charset="-122"/>
                <a:cs typeface="Calibri" pitchFamily="34" charset="-120"/>
              </a:rPr>
              <a:t>in the study data</a:t>
            </a:r>
            <a:endParaRPr lang="en-US" sz="1300" dirty="0"/>
          </a:p>
        </p:txBody>
      </p:sp>
      <p:sp>
        <p:nvSpPr>
          <p:cNvPr id="11" name="Shape 8"/>
          <p:cNvSpPr/>
          <p:nvPr/>
        </p:nvSpPr>
        <p:spPr>
          <a:xfrm>
            <a:off x="4494276" y="3794760"/>
            <a:ext cx="3200400" cy="1737360"/>
          </a:xfrm>
          <a:prstGeom prst="roundRect">
            <a:avLst>
              <a:gd name="adj" fmla="val 5263"/>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2" name="Shape 9"/>
          <p:cNvSpPr/>
          <p:nvPr/>
        </p:nvSpPr>
        <p:spPr>
          <a:xfrm>
            <a:off x="5756148" y="3456432"/>
            <a:ext cx="676656" cy="676656"/>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13" name="Image 1" descr="C:\Users\MShaheen\Documents\parkinsons_voice_project\report\defence\figs\t_wave.png"/>
          <p:cNvPicPr>
            <a:picLocks noChangeAspect="1"/>
          </p:cNvPicPr>
          <p:nvPr/>
        </p:nvPicPr>
        <p:blipFill>
          <a:blip r:embed="rId5"/>
          <a:stretch>
            <a:fillRect/>
          </a:stretch>
        </p:blipFill>
        <p:spPr>
          <a:xfrm>
            <a:off x="5932079" y="3632363"/>
            <a:ext cx="324795" cy="324795"/>
          </a:xfrm>
          <a:prstGeom prst="rect">
            <a:avLst/>
          </a:prstGeom>
        </p:spPr>
      </p:pic>
      <p:sp>
        <p:nvSpPr>
          <p:cNvPr id="14" name="Text 10"/>
          <p:cNvSpPr txBox="1"/>
          <p:nvPr/>
        </p:nvSpPr>
        <p:spPr>
          <a:xfrm>
            <a:off x="4494276" y="4297680"/>
            <a:ext cx="3200400" cy="502920"/>
          </a:xfrm>
          <a:prstGeom prst="rect">
            <a:avLst/>
          </a:prstGeom>
          <a:noFill/>
          <a:ln/>
        </p:spPr>
        <p:txBody>
          <a:bodyPr wrap="square" lIns="0" tIns="0" rIns="0" bIns="0" rtlCol="0" anchor="ctr"/>
          <a:lstStyle/>
          <a:p>
            <a:pPr marL="0" indent="0" algn="ctr">
              <a:buNone/>
            </a:pPr>
            <a:r>
              <a:rPr lang="en-US" sz="2100" b="1" dirty="0">
                <a:solidFill>
                  <a:srgbClr val="028090"/>
                </a:solidFill>
                <a:latin typeface="Cambria" pitchFamily="34" charset="0"/>
                <a:ea typeface="Cambria" pitchFamily="34" charset="-122"/>
                <a:cs typeface="Cambria" pitchFamily="34" charset="-120"/>
              </a:rPr>
              <a:t>74 measurements</a:t>
            </a:r>
            <a:endParaRPr lang="en-US" sz="2100" dirty="0"/>
          </a:p>
        </p:txBody>
      </p:sp>
      <p:sp>
        <p:nvSpPr>
          <p:cNvPr id="15" name="Text 11"/>
          <p:cNvSpPr txBox="1"/>
          <p:nvPr/>
        </p:nvSpPr>
        <p:spPr>
          <a:xfrm>
            <a:off x="4494276" y="4846320"/>
            <a:ext cx="3200400" cy="411480"/>
          </a:xfrm>
          <a:prstGeom prst="rect">
            <a:avLst/>
          </a:prstGeom>
          <a:noFill/>
          <a:ln/>
        </p:spPr>
        <p:txBody>
          <a:bodyPr wrap="square" lIns="0" tIns="0" rIns="0" bIns="0" rtlCol="0" anchor="ctr"/>
          <a:lstStyle/>
          <a:p>
            <a:pPr marL="0" indent="0" algn="ctr">
              <a:buNone/>
            </a:pPr>
            <a:r>
              <a:rPr lang="en-US" sz="1300" dirty="0">
                <a:solidFill>
                  <a:srgbClr val="5B7286"/>
                </a:solidFill>
                <a:latin typeface="Calibri" pitchFamily="34" charset="0"/>
                <a:ea typeface="Calibri" pitchFamily="34" charset="-122"/>
                <a:cs typeface="Calibri" pitchFamily="34" charset="-120"/>
              </a:rPr>
              <a:t>from every recording</a:t>
            </a:r>
            <a:endParaRPr lang="en-US" sz="1300" dirty="0"/>
          </a:p>
        </p:txBody>
      </p:sp>
      <p:sp>
        <p:nvSpPr>
          <p:cNvPr id="16" name="Shape 12"/>
          <p:cNvSpPr/>
          <p:nvPr/>
        </p:nvSpPr>
        <p:spPr>
          <a:xfrm>
            <a:off x="8289036" y="3794760"/>
            <a:ext cx="3200400" cy="1737360"/>
          </a:xfrm>
          <a:prstGeom prst="roundRect">
            <a:avLst>
              <a:gd name="adj" fmla="val 5263"/>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7" name="Shape 13"/>
          <p:cNvSpPr/>
          <p:nvPr/>
        </p:nvSpPr>
        <p:spPr>
          <a:xfrm>
            <a:off x="9550908" y="3456432"/>
            <a:ext cx="676656" cy="676656"/>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18" name="Image 2" descr="C:\Users\MShaheen\Documents\parkinsons_voice_project\report\defence\figs\t_check.png"/>
          <p:cNvPicPr>
            <a:picLocks noChangeAspect="1"/>
          </p:cNvPicPr>
          <p:nvPr/>
        </p:nvPicPr>
        <p:blipFill>
          <a:blip r:embed="rId6"/>
          <a:stretch>
            <a:fillRect/>
          </a:stretch>
        </p:blipFill>
        <p:spPr>
          <a:xfrm>
            <a:off x="9726839" y="3632363"/>
            <a:ext cx="324795" cy="324795"/>
          </a:xfrm>
          <a:prstGeom prst="rect">
            <a:avLst/>
          </a:prstGeom>
        </p:spPr>
      </p:pic>
      <p:sp>
        <p:nvSpPr>
          <p:cNvPr id="19" name="Text 14"/>
          <p:cNvSpPr txBox="1"/>
          <p:nvPr/>
        </p:nvSpPr>
        <p:spPr>
          <a:xfrm>
            <a:off x="8289036" y="4297680"/>
            <a:ext cx="3200400" cy="502920"/>
          </a:xfrm>
          <a:prstGeom prst="rect">
            <a:avLst/>
          </a:prstGeom>
          <a:noFill/>
          <a:ln/>
        </p:spPr>
        <p:txBody>
          <a:bodyPr wrap="square" lIns="0" tIns="0" rIns="0" bIns="0" rtlCol="0" anchor="ctr"/>
          <a:lstStyle/>
          <a:p>
            <a:pPr marL="0" indent="0" algn="ctr">
              <a:buNone/>
            </a:pPr>
            <a:r>
              <a:rPr lang="en-US" sz="2100" b="1" dirty="0">
                <a:solidFill>
                  <a:srgbClr val="028090"/>
                </a:solidFill>
                <a:latin typeface="Cambria" pitchFamily="34" charset="0"/>
                <a:ea typeface="Cambria" pitchFamily="34" charset="-122"/>
                <a:cs typeface="Cambria" pitchFamily="34" charset="-120"/>
              </a:rPr>
              <a:t>not a diagnosis</a:t>
            </a:r>
            <a:endParaRPr lang="en-US" sz="2100" dirty="0"/>
          </a:p>
        </p:txBody>
      </p:sp>
      <p:sp>
        <p:nvSpPr>
          <p:cNvPr id="20" name="Text 15"/>
          <p:cNvSpPr txBox="1"/>
          <p:nvPr/>
        </p:nvSpPr>
        <p:spPr>
          <a:xfrm>
            <a:off x="8289036" y="4846320"/>
            <a:ext cx="3200400" cy="411480"/>
          </a:xfrm>
          <a:prstGeom prst="rect">
            <a:avLst/>
          </a:prstGeom>
          <a:noFill/>
          <a:ln/>
        </p:spPr>
        <p:txBody>
          <a:bodyPr wrap="square" lIns="0" tIns="0" rIns="0" bIns="0" rtlCol="0" anchor="ctr"/>
          <a:lstStyle/>
          <a:p>
            <a:pPr marL="0" indent="0" algn="ctr">
              <a:buNone/>
            </a:pPr>
            <a:r>
              <a:rPr lang="en-US" sz="1300" dirty="0">
                <a:solidFill>
                  <a:srgbClr val="5B7286"/>
                </a:solidFill>
                <a:latin typeface="Calibri" pitchFamily="34" charset="0"/>
                <a:ea typeface="Calibri" pitchFamily="34" charset="-122"/>
                <a:cs typeface="Calibri" pitchFamily="34" charset="-120"/>
              </a:rPr>
              <a:t>a research screening idea</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nodeType="withEffect">
                                  <p:stCondLst>
                                    <p:cond delay="20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216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228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9" grpId="0" animBg="1"/>
      <p:bldP spid="10" grpId="0" animBg="1"/>
      <p:bldP spid="14" grpId="0" animBg="1"/>
      <p:bldP spid="15" grpId="0" animBg="1"/>
      <p:bldP spid="19" grpId="0" animBg="1"/>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marL="0" indent="0" algn="l">
              <a:buNone/>
            </a:pPr>
            <a:r>
              <a:rPr lang="en-US" sz="3000" b="1" dirty="0">
                <a:solidFill>
                  <a:srgbClr val="16324A"/>
                </a:solidFill>
                <a:latin typeface="Cambria" pitchFamily="34" charset="0"/>
                <a:ea typeface="Cambria" pitchFamily="34" charset="-122"/>
                <a:cs typeface="Cambria" pitchFamily="34" charset="-120"/>
              </a:rPr>
              <a:t>Why the voice?</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marL="0" indent="0" algn="r">
              <a:buNone/>
            </a:pPr>
            <a:r>
              <a:rPr lang="en-US" sz="1000" dirty="0">
                <a:solidFill>
                  <a:srgbClr val="5B7286"/>
                </a:solidFill>
                <a:latin typeface="Calibri" pitchFamily="34" charset="0"/>
                <a:ea typeface="Calibri" pitchFamily="34" charset="-122"/>
                <a:cs typeface="Calibri" pitchFamily="34" charset="-120"/>
              </a:rPr>
              <a:t>3</a:t>
            </a:r>
            <a:endParaRPr lang="en-US" sz="1000" dirty="0"/>
          </a:p>
        </p:txBody>
      </p:sp>
      <p:sp>
        <p:nvSpPr>
          <p:cNvPr id="4" name="Shape 2"/>
          <p:cNvSpPr/>
          <p:nvPr/>
        </p:nvSpPr>
        <p:spPr>
          <a:xfrm>
            <a:off x="585216" y="1783080"/>
            <a:ext cx="3246120" cy="2743200"/>
          </a:xfrm>
          <a:prstGeom prst="roundRect">
            <a:avLst>
              <a:gd name="adj" fmla="val 3333"/>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5" name="Shape 3"/>
          <p:cNvSpPr/>
          <p:nvPr/>
        </p:nvSpPr>
        <p:spPr>
          <a:xfrm>
            <a:off x="1824228" y="1399032"/>
            <a:ext cx="768096" cy="768096"/>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6" name="Image 0" descr="C:\Users\MShaheen\Documents\parkinsons_voice_project\report\defence\figs\t_ear.png"/>
          <p:cNvPicPr>
            <a:picLocks noChangeAspect="1"/>
          </p:cNvPicPr>
          <p:nvPr/>
        </p:nvPicPr>
        <p:blipFill>
          <a:blip r:embed="rId4"/>
          <a:stretch>
            <a:fillRect/>
          </a:stretch>
        </p:blipFill>
        <p:spPr>
          <a:xfrm>
            <a:off x="2023933" y="1598737"/>
            <a:ext cx="368686" cy="368686"/>
          </a:xfrm>
          <a:prstGeom prst="rect">
            <a:avLst/>
          </a:prstGeom>
        </p:spPr>
      </p:pic>
      <p:sp>
        <p:nvSpPr>
          <p:cNvPr id="7" name="Text 4"/>
          <p:cNvSpPr txBox="1"/>
          <p:nvPr/>
        </p:nvSpPr>
        <p:spPr>
          <a:xfrm>
            <a:off x="585216" y="2423160"/>
            <a:ext cx="3246120" cy="914400"/>
          </a:xfrm>
          <a:prstGeom prst="rect">
            <a:avLst/>
          </a:prstGeom>
          <a:noFill/>
          <a:ln/>
        </p:spPr>
        <p:txBody>
          <a:bodyPr wrap="square" lIns="0" tIns="0" rIns="0" bIns="0" rtlCol="0" anchor="ctr"/>
          <a:lstStyle/>
          <a:p>
            <a:pPr marL="0" indent="0" algn="ctr">
              <a:buNone/>
            </a:pPr>
            <a:r>
              <a:rPr lang="en-US" sz="4400" b="1" dirty="0">
                <a:solidFill>
                  <a:srgbClr val="028090"/>
                </a:solidFill>
                <a:latin typeface="Cambria" pitchFamily="34" charset="0"/>
                <a:ea typeface="Cambria" pitchFamily="34" charset="-122"/>
                <a:cs typeface="Cambria" pitchFamily="34" charset="-120"/>
              </a:rPr>
              <a:t>~90%</a:t>
            </a:r>
            <a:endParaRPr lang="en-US" sz="4400" dirty="0"/>
          </a:p>
        </p:txBody>
      </p:sp>
      <p:sp>
        <p:nvSpPr>
          <p:cNvPr id="8" name="Text 5"/>
          <p:cNvSpPr txBox="1"/>
          <p:nvPr/>
        </p:nvSpPr>
        <p:spPr>
          <a:xfrm>
            <a:off x="768096" y="3474720"/>
            <a:ext cx="2880360" cy="822960"/>
          </a:xfrm>
          <a:prstGeom prst="rect">
            <a:avLst/>
          </a:prstGeom>
          <a:noFill/>
          <a:ln/>
        </p:spPr>
        <p:txBody>
          <a:bodyPr wrap="square" lIns="0" tIns="0" rIns="0" bIns="0" rtlCol="0" anchor="ctr"/>
          <a:lstStyle/>
          <a:p>
            <a:pPr marL="0" indent="0" algn="ctr">
              <a:buNone/>
            </a:pPr>
            <a:r>
              <a:rPr lang="en-US" sz="1400" dirty="0">
                <a:solidFill>
                  <a:srgbClr val="5B7286"/>
                </a:solidFill>
                <a:latin typeface="Calibri" pitchFamily="34" charset="0"/>
                <a:ea typeface="Calibri" pitchFamily="34" charset="-122"/>
                <a:cs typeface="Calibri" pitchFamily="34" charset="-120"/>
              </a:rPr>
              <a:t>of patients get</a:t>
            </a:r>
            <a:endParaRPr lang="en-US" sz="1400" dirty="0"/>
          </a:p>
          <a:p>
            <a:pPr marL="0" indent="0" algn="ctr">
              <a:buNone/>
            </a:pPr>
            <a:r>
              <a:rPr lang="en-US" sz="1400" dirty="0">
                <a:solidFill>
                  <a:srgbClr val="5B7286"/>
                </a:solidFill>
                <a:latin typeface="Calibri" pitchFamily="34" charset="0"/>
                <a:ea typeface="Calibri" pitchFamily="34" charset="-122"/>
                <a:cs typeface="Calibri" pitchFamily="34" charset="-120"/>
              </a:rPr>
              <a:t>voice changes</a:t>
            </a:r>
            <a:endParaRPr lang="en-US" sz="1400" dirty="0"/>
          </a:p>
        </p:txBody>
      </p:sp>
      <p:sp>
        <p:nvSpPr>
          <p:cNvPr id="9" name="Shape 6"/>
          <p:cNvSpPr/>
          <p:nvPr/>
        </p:nvSpPr>
        <p:spPr>
          <a:xfrm>
            <a:off x="4471416" y="1783080"/>
            <a:ext cx="3246120" cy="2743200"/>
          </a:xfrm>
          <a:prstGeom prst="roundRect">
            <a:avLst>
              <a:gd name="adj" fmla="val 3333"/>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0" name="Shape 7"/>
          <p:cNvSpPr/>
          <p:nvPr/>
        </p:nvSpPr>
        <p:spPr>
          <a:xfrm>
            <a:off x="5710428" y="1399032"/>
            <a:ext cx="768096" cy="768096"/>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11" name="Image 1" descr="C:\Users\MShaheen\Documents\parkinsons_voice_project\report\defence\figs\t_clock.png"/>
          <p:cNvPicPr>
            <a:picLocks noChangeAspect="1"/>
          </p:cNvPicPr>
          <p:nvPr/>
        </p:nvPicPr>
        <p:blipFill>
          <a:blip r:embed="rId5"/>
          <a:stretch>
            <a:fillRect/>
          </a:stretch>
        </p:blipFill>
        <p:spPr>
          <a:xfrm>
            <a:off x="5910133" y="1598737"/>
            <a:ext cx="368686" cy="368686"/>
          </a:xfrm>
          <a:prstGeom prst="rect">
            <a:avLst/>
          </a:prstGeom>
        </p:spPr>
      </p:pic>
      <p:sp>
        <p:nvSpPr>
          <p:cNvPr id="12" name="Text 8"/>
          <p:cNvSpPr txBox="1"/>
          <p:nvPr/>
        </p:nvSpPr>
        <p:spPr>
          <a:xfrm>
            <a:off x="4471416" y="2423160"/>
            <a:ext cx="3246120" cy="914400"/>
          </a:xfrm>
          <a:prstGeom prst="rect">
            <a:avLst/>
          </a:prstGeom>
          <a:noFill/>
          <a:ln/>
        </p:spPr>
        <p:txBody>
          <a:bodyPr wrap="square" lIns="0" tIns="0" rIns="0" bIns="0" rtlCol="0" anchor="ctr"/>
          <a:lstStyle/>
          <a:p>
            <a:pPr marL="0" indent="0" algn="ctr">
              <a:buNone/>
            </a:pPr>
            <a:r>
              <a:rPr lang="en-US" sz="4400" b="1" dirty="0">
                <a:solidFill>
                  <a:srgbClr val="028090"/>
                </a:solidFill>
                <a:latin typeface="Cambria" pitchFamily="34" charset="0"/>
                <a:ea typeface="Cambria" pitchFamily="34" charset="-122"/>
                <a:cs typeface="Cambria" pitchFamily="34" charset="-120"/>
              </a:rPr>
              <a:t>early</a:t>
            </a:r>
            <a:endParaRPr lang="en-US" sz="4400" dirty="0"/>
          </a:p>
        </p:txBody>
      </p:sp>
      <p:sp>
        <p:nvSpPr>
          <p:cNvPr id="13" name="Text 9"/>
          <p:cNvSpPr txBox="1"/>
          <p:nvPr/>
        </p:nvSpPr>
        <p:spPr>
          <a:xfrm>
            <a:off x="4654296" y="3474720"/>
            <a:ext cx="2880360" cy="822960"/>
          </a:xfrm>
          <a:prstGeom prst="rect">
            <a:avLst/>
          </a:prstGeom>
          <a:noFill/>
          <a:ln/>
        </p:spPr>
        <p:txBody>
          <a:bodyPr wrap="square" lIns="0" tIns="0" rIns="0" bIns="0" rtlCol="0" anchor="ctr"/>
          <a:lstStyle/>
          <a:p>
            <a:pPr marL="0" indent="0" algn="ctr">
              <a:buNone/>
            </a:pPr>
            <a:r>
              <a:rPr lang="en-US" sz="1400" dirty="0">
                <a:solidFill>
                  <a:srgbClr val="5B7286"/>
                </a:solidFill>
                <a:latin typeface="Calibri" pitchFamily="34" charset="0"/>
                <a:ea typeface="Calibri" pitchFamily="34" charset="-122"/>
                <a:cs typeface="Calibri" pitchFamily="34" charset="-120"/>
              </a:rPr>
              <a:t>changes can start years</a:t>
            </a:r>
            <a:endParaRPr lang="en-US" sz="1400" dirty="0"/>
          </a:p>
          <a:p>
            <a:pPr marL="0" indent="0" algn="ctr">
              <a:buNone/>
            </a:pPr>
            <a:r>
              <a:rPr lang="en-US" sz="1400" dirty="0">
                <a:solidFill>
                  <a:srgbClr val="5B7286"/>
                </a:solidFill>
                <a:latin typeface="Calibri" pitchFamily="34" charset="0"/>
                <a:ea typeface="Calibri" pitchFamily="34" charset="-122"/>
                <a:cs typeface="Calibri" pitchFamily="34" charset="-120"/>
              </a:rPr>
              <a:t>before diagnosis</a:t>
            </a:r>
            <a:endParaRPr lang="en-US" sz="1400" dirty="0"/>
          </a:p>
        </p:txBody>
      </p:sp>
      <p:sp>
        <p:nvSpPr>
          <p:cNvPr id="14" name="Shape 10"/>
          <p:cNvSpPr/>
          <p:nvPr/>
        </p:nvSpPr>
        <p:spPr>
          <a:xfrm>
            <a:off x="8357616" y="1783080"/>
            <a:ext cx="3246120" cy="2743200"/>
          </a:xfrm>
          <a:prstGeom prst="roundRect">
            <a:avLst>
              <a:gd name="adj" fmla="val 3333"/>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5" name="Shape 11"/>
          <p:cNvSpPr/>
          <p:nvPr/>
        </p:nvSpPr>
        <p:spPr>
          <a:xfrm>
            <a:off x="9596628" y="1399032"/>
            <a:ext cx="768096" cy="768096"/>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16" name="Image 2" descr="C:\Users\MShaheen\Documents\parkinsons_voice_project\report\defence\figs\t_mic.png"/>
          <p:cNvPicPr>
            <a:picLocks noChangeAspect="1"/>
          </p:cNvPicPr>
          <p:nvPr/>
        </p:nvPicPr>
        <p:blipFill>
          <a:blip r:embed="rId6"/>
          <a:stretch>
            <a:fillRect/>
          </a:stretch>
        </p:blipFill>
        <p:spPr>
          <a:xfrm>
            <a:off x="9796333" y="1598737"/>
            <a:ext cx="368686" cy="368686"/>
          </a:xfrm>
          <a:prstGeom prst="rect">
            <a:avLst/>
          </a:prstGeom>
        </p:spPr>
      </p:pic>
      <p:sp>
        <p:nvSpPr>
          <p:cNvPr id="17" name="Text 12"/>
          <p:cNvSpPr txBox="1"/>
          <p:nvPr/>
        </p:nvSpPr>
        <p:spPr>
          <a:xfrm>
            <a:off x="8357616" y="2423160"/>
            <a:ext cx="3246120" cy="914400"/>
          </a:xfrm>
          <a:prstGeom prst="rect">
            <a:avLst/>
          </a:prstGeom>
          <a:noFill/>
          <a:ln/>
        </p:spPr>
        <p:txBody>
          <a:bodyPr wrap="square" lIns="0" tIns="0" rIns="0" bIns="0" rtlCol="0" anchor="ctr"/>
          <a:lstStyle/>
          <a:p>
            <a:pPr marL="0" indent="0" algn="ctr">
              <a:buNone/>
            </a:pPr>
            <a:r>
              <a:rPr lang="en-US" sz="4400" b="1" dirty="0">
                <a:solidFill>
                  <a:srgbClr val="028090"/>
                </a:solidFill>
                <a:latin typeface="Cambria" pitchFamily="34" charset="0"/>
                <a:ea typeface="Cambria" pitchFamily="34" charset="-122"/>
                <a:cs typeface="Cambria" pitchFamily="34" charset="-120"/>
              </a:rPr>
              <a:t>easy</a:t>
            </a:r>
            <a:endParaRPr lang="en-US" sz="4400" dirty="0"/>
          </a:p>
        </p:txBody>
      </p:sp>
      <p:sp>
        <p:nvSpPr>
          <p:cNvPr id="18" name="Text 13"/>
          <p:cNvSpPr txBox="1"/>
          <p:nvPr/>
        </p:nvSpPr>
        <p:spPr>
          <a:xfrm>
            <a:off x="8540496" y="3474720"/>
            <a:ext cx="2880360" cy="822960"/>
          </a:xfrm>
          <a:prstGeom prst="rect">
            <a:avLst/>
          </a:prstGeom>
          <a:noFill/>
          <a:ln/>
        </p:spPr>
        <p:txBody>
          <a:bodyPr wrap="square" lIns="0" tIns="0" rIns="0" bIns="0" rtlCol="0" anchor="ctr"/>
          <a:lstStyle/>
          <a:p>
            <a:pPr marL="0" indent="0" algn="ctr">
              <a:buNone/>
            </a:pPr>
            <a:r>
              <a:rPr lang="en-US" sz="1400" dirty="0">
                <a:solidFill>
                  <a:srgbClr val="5B7286"/>
                </a:solidFill>
                <a:latin typeface="Calibri" pitchFamily="34" charset="0"/>
                <a:ea typeface="Calibri" pitchFamily="34" charset="-122"/>
                <a:cs typeface="Calibri" pitchFamily="34" charset="-120"/>
              </a:rPr>
              <a:t>a microphone is cheap</a:t>
            </a:r>
            <a:endParaRPr lang="en-US" sz="1400" dirty="0"/>
          </a:p>
          <a:p>
            <a:pPr marL="0" indent="0" algn="ctr">
              <a:buNone/>
            </a:pPr>
            <a:r>
              <a:rPr lang="en-US" sz="1400" dirty="0">
                <a:solidFill>
                  <a:srgbClr val="5B7286"/>
                </a:solidFill>
                <a:latin typeface="Calibri" pitchFamily="34" charset="0"/>
                <a:ea typeface="Calibri" pitchFamily="34" charset="-122"/>
                <a:cs typeface="Calibri" pitchFamily="34" charset="-120"/>
              </a:rPr>
              <a:t>and painless</a:t>
            </a:r>
            <a:endParaRPr lang="en-US" sz="1400" dirty="0"/>
          </a:p>
        </p:txBody>
      </p:sp>
      <p:sp>
        <p:nvSpPr>
          <p:cNvPr id="19" name="Text 14"/>
          <p:cNvSpPr txBox="1"/>
          <p:nvPr/>
        </p:nvSpPr>
        <p:spPr>
          <a:xfrm>
            <a:off x="822960" y="4892040"/>
            <a:ext cx="10543032" cy="457200"/>
          </a:xfrm>
          <a:prstGeom prst="rect">
            <a:avLst/>
          </a:prstGeom>
          <a:noFill/>
          <a:ln/>
        </p:spPr>
        <p:txBody>
          <a:bodyPr wrap="square" lIns="0" tIns="0" rIns="0" bIns="0" rtlCol="0" anchor="ctr"/>
          <a:lstStyle/>
          <a:p>
            <a:pPr marL="0" indent="0" algn="ctr">
              <a:buNone/>
            </a:pPr>
            <a:r>
              <a:rPr lang="en-US" sz="1700" i="1" dirty="0">
                <a:solidFill>
                  <a:srgbClr val="16324A"/>
                </a:solidFill>
                <a:latin typeface="Cambria" pitchFamily="34" charset="0"/>
                <a:ea typeface="Cambria" pitchFamily="34" charset="-122"/>
                <a:cs typeface="Cambria" pitchFamily="34" charset="-120"/>
              </a:rPr>
              <a:t>Parkinson's weakens every muscle — also the small muscles of speech.</a:t>
            </a:r>
            <a:endParaRPr lang="en-US" sz="17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20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216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12" grpId="0" animBg="1"/>
      <p:bldP spid="13" grpId="0" animBg="1"/>
      <p:bldP spid="17" grpId="0" animBg="1"/>
      <p:bldP spid="18"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marL="0" indent="0" algn="l">
              <a:buNone/>
            </a:pPr>
            <a:r>
              <a:rPr lang="en-US" sz="3000" b="1" dirty="0">
                <a:solidFill>
                  <a:srgbClr val="16324A"/>
                </a:solidFill>
                <a:latin typeface="Cambria" pitchFamily="34" charset="0"/>
                <a:ea typeface="Cambria" pitchFamily="34" charset="-122"/>
                <a:cs typeface="Cambria" pitchFamily="34" charset="-120"/>
              </a:rPr>
              <a:t>How the voice is made — three stages</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marL="0" indent="0" algn="r">
              <a:buNone/>
            </a:pPr>
            <a:r>
              <a:rPr lang="en-US" sz="1000" dirty="0">
                <a:solidFill>
                  <a:srgbClr val="5B7286"/>
                </a:solidFill>
                <a:latin typeface="Calibri" pitchFamily="34" charset="0"/>
                <a:ea typeface="Calibri" pitchFamily="34" charset="-122"/>
                <a:cs typeface="Calibri" pitchFamily="34" charset="-120"/>
              </a:rPr>
              <a:t>4</a:t>
            </a:r>
            <a:endParaRPr lang="en-US" sz="1000" dirty="0"/>
          </a:p>
        </p:txBody>
      </p:sp>
      <p:sp>
        <p:nvSpPr>
          <p:cNvPr id="4" name="Shape 2"/>
          <p:cNvSpPr/>
          <p:nvPr/>
        </p:nvSpPr>
        <p:spPr>
          <a:xfrm>
            <a:off x="589788" y="1783080"/>
            <a:ext cx="3291840" cy="2651760"/>
          </a:xfrm>
          <a:prstGeom prst="roundRect">
            <a:avLst>
              <a:gd name="adj" fmla="val 3448"/>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5" name="Shape 3"/>
          <p:cNvSpPr/>
          <p:nvPr/>
        </p:nvSpPr>
        <p:spPr>
          <a:xfrm>
            <a:off x="1851660" y="1399032"/>
            <a:ext cx="768096" cy="768096"/>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6" name="Image 0" descr="C:\Users\MShaheen\Documents\parkinsons_voice_project\report\defence\figs\t_lungs.png"/>
          <p:cNvPicPr>
            <a:picLocks noChangeAspect="1"/>
          </p:cNvPicPr>
          <p:nvPr/>
        </p:nvPicPr>
        <p:blipFill>
          <a:blip r:embed="rId4"/>
          <a:stretch>
            <a:fillRect/>
          </a:stretch>
        </p:blipFill>
        <p:spPr>
          <a:xfrm>
            <a:off x="2051365" y="1598737"/>
            <a:ext cx="368686" cy="368686"/>
          </a:xfrm>
          <a:prstGeom prst="rect">
            <a:avLst/>
          </a:prstGeom>
        </p:spPr>
      </p:pic>
      <p:sp>
        <p:nvSpPr>
          <p:cNvPr id="7" name="Text 4"/>
          <p:cNvSpPr txBox="1"/>
          <p:nvPr/>
        </p:nvSpPr>
        <p:spPr>
          <a:xfrm>
            <a:off x="589788" y="2331720"/>
            <a:ext cx="3291840" cy="502920"/>
          </a:xfrm>
          <a:prstGeom prst="rect">
            <a:avLst/>
          </a:prstGeom>
          <a:noFill/>
          <a:ln/>
        </p:spPr>
        <p:txBody>
          <a:bodyPr wrap="square" lIns="0" tIns="0" rIns="0" bIns="0" rtlCol="0" anchor="ctr"/>
          <a:lstStyle/>
          <a:p>
            <a:pPr marL="0" indent="0" algn="ctr">
              <a:buNone/>
            </a:pPr>
            <a:r>
              <a:rPr lang="en-US" sz="2200" b="1" dirty="0">
                <a:solidFill>
                  <a:srgbClr val="16324A"/>
                </a:solidFill>
                <a:latin typeface="Cambria" pitchFamily="34" charset="0"/>
                <a:ea typeface="Cambria" pitchFamily="34" charset="-122"/>
                <a:cs typeface="Cambria" pitchFamily="34" charset="-120"/>
              </a:rPr>
              <a:t>1. Lungs</a:t>
            </a:r>
            <a:endParaRPr lang="en-US" sz="2200" dirty="0"/>
          </a:p>
        </p:txBody>
      </p:sp>
      <p:sp>
        <p:nvSpPr>
          <p:cNvPr id="8" name="Text 5"/>
          <p:cNvSpPr txBox="1"/>
          <p:nvPr/>
        </p:nvSpPr>
        <p:spPr>
          <a:xfrm>
            <a:off x="589788" y="2926080"/>
            <a:ext cx="3291840" cy="411480"/>
          </a:xfrm>
          <a:prstGeom prst="rect">
            <a:avLst/>
          </a:prstGeom>
          <a:noFill/>
          <a:ln/>
        </p:spPr>
        <p:txBody>
          <a:bodyPr wrap="square" lIns="0" tIns="0" rIns="0" bIns="0" rtlCol="0" anchor="ctr"/>
          <a:lstStyle/>
          <a:p>
            <a:pPr marL="0" indent="0" algn="ctr">
              <a:buNone/>
            </a:pPr>
            <a:r>
              <a:rPr lang="en-US" sz="1500" dirty="0">
                <a:solidFill>
                  <a:srgbClr val="5B7286"/>
                </a:solidFill>
                <a:latin typeface="Calibri" pitchFamily="34" charset="0"/>
                <a:ea typeface="Calibri" pitchFamily="34" charset="-122"/>
                <a:cs typeface="Calibri" pitchFamily="34" charset="-120"/>
              </a:rPr>
              <a:t>push the air</a:t>
            </a:r>
            <a:endParaRPr lang="en-US" sz="1500" dirty="0"/>
          </a:p>
        </p:txBody>
      </p:sp>
      <p:sp>
        <p:nvSpPr>
          <p:cNvPr id="9" name="Text 6"/>
          <p:cNvSpPr txBox="1"/>
          <p:nvPr/>
        </p:nvSpPr>
        <p:spPr>
          <a:xfrm>
            <a:off x="589788" y="3566160"/>
            <a:ext cx="3291840" cy="457200"/>
          </a:xfrm>
          <a:prstGeom prst="rect">
            <a:avLst/>
          </a:prstGeom>
          <a:noFill/>
          <a:ln/>
        </p:spPr>
        <p:txBody>
          <a:bodyPr wrap="square" lIns="0" tIns="0" rIns="0" bIns="0" rtlCol="0" anchor="ctr"/>
          <a:lstStyle/>
          <a:p>
            <a:pPr marL="0" indent="0" algn="ctr">
              <a:buNone/>
            </a:pPr>
            <a:r>
              <a:rPr lang="en-US" sz="1700" b="1" i="1" dirty="0">
                <a:solidFill>
                  <a:srgbClr val="028090"/>
                </a:solidFill>
                <a:latin typeface="Cambria" pitchFamily="34" charset="0"/>
                <a:ea typeface="Cambria" pitchFamily="34" charset="-122"/>
                <a:cs typeface="Cambria" pitchFamily="34" charset="-120"/>
              </a:rPr>
              <a:t>the power</a:t>
            </a:r>
            <a:endParaRPr lang="en-US" sz="1700" dirty="0"/>
          </a:p>
        </p:txBody>
      </p:sp>
      <p:sp>
        <p:nvSpPr>
          <p:cNvPr id="10" name="Shape 7"/>
          <p:cNvSpPr/>
          <p:nvPr/>
        </p:nvSpPr>
        <p:spPr>
          <a:xfrm>
            <a:off x="3954780" y="2999232"/>
            <a:ext cx="402336" cy="219456"/>
          </a:xfrm>
          <a:prstGeom prst="rightArrow">
            <a:avLst/>
          </a:prstGeom>
          <a:solidFill>
            <a:srgbClr val="5B7286">
              <a:alpha val="55000"/>
            </a:srgbClr>
          </a:solidFill>
          <a:ln/>
        </p:spPr>
      </p:sp>
      <p:sp>
        <p:nvSpPr>
          <p:cNvPr id="11" name="Shape 8"/>
          <p:cNvSpPr/>
          <p:nvPr/>
        </p:nvSpPr>
        <p:spPr>
          <a:xfrm>
            <a:off x="4448556" y="1783080"/>
            <a:ext cx="3291840" cy="2651760"/>
          </a:xfrm>
          <a:prstGeom prst="roundRect">
            <a:avLst>
              <a:gd name="adj" fmla="val 3448"/>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2" name="Shape 9"/>
          <p:cNvSpPr/>
          <p:nvPr/>
        </p:nvSpPr>
        <p:spPr>
          <a:xfrm>
            <a:off x="5710428" y="1399032"/>
            <a:ext cx="768096" cy="768096"/>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13" name="Image 1" descr="C:\Users\MShaheen\Documents\parkinsons_voice_project\report\defence\figs\t_wave.png"/>
          <p:cNvPicPr>
            <a:picLocks noChangeAspect="1"/>
          </p:cNvPicPr>
          <p:nvPr/>
        </p:nvPicPr>
        <p:blipFill>
          <a:blip r:embed="rId5"/>
          <a:stretch>
            <a:fillRect/>
          </a:stretch>
        </p:blipFill>
        <p:spPr>
          <a:xfrm>
            <a:off x="5910133" y="1598737"/>
            <a:ext cx="368686" cy="368686"/>
          </a:xfrm>
          <a:prstGeom prst="rect">
            <a:avLst/>
          </a:prstGeom>
        </p:spPr>
      </p:pic>
      <p:sp>
        <p:nvSpPr>
          <p:cNvPr id="14" name="Text 10"/>
          <p:cNvSpPr txBox="1"/>
          <p:nvPr/>
        </p:nvSpPr>
        <p:spPr>
          <a:xfrm>
            <a:off x="4448556" y="2331720"/>
            <a:ext cx="3291840" cy="502920"/>
          </a:xfrm>
          <a:prstGeom prst="rect">
            <a:avLst/>
          </a:prstGeom>
          <a:noFill/>
          <a:ln/>
        </p:spPr>
        <p:txBody>
          <a:bodyPr wrap="square" lIns="0" tIns="0" rIns="0" bIns="0" rtlCol="0" anchor="ctr"/>
          <a:lstStyle/>
          <a:p>
            <a:pPr marL="0" indent="0" algn="ctr">
              <a:buNone/>
            </a:pPr>
            <a:r>
              <a:rPr lang="en-US" sz="2200" b="1" dirty="0">
                <a:solidFill>
                  <a:srgbClr val="16324A"/>
                </a:solidFill>
                <a:latin typeface="Cambria" pitchFamily="34" charset="0"/>
                <a:ea typeface="Cambria" pitchFamily="34" charset="-122"/>
                <a:cs typeface="Cambria" pitchFamily="34" charset="-120"/>
              </a:rPr>
              <a:t>2. Vocal folds</a:t>
            </a:r>
            <a:endParaRPr lang="en-US" sz="2200" dirty="0"/>
          </a:p>
        </p:txBody>
      </p:sp>
      <p:sp>
        <p:nvSpPr>
          <p:cNvPr id="15" name="Text 11"/>
          <p:cNvSpPr txBox="1"/>
          <p:nvPr/>
        </p:nvSpPr>
        <p:spPr>
          <a:xfrm>
            <a:off x="4448556" y="2926080"/>
            <a:ext cx="3291840" cy="411480"/>
          </a:xfrm>
          <a:prstGeom prst="rect">
            <a:avLst/>
          </a:prstGeom>
          <a:noFill/>
          <a:ln/>
        </p:spPr>
        <p:txBody>
          <a:bodyPr wrap="square" lIns="0" tIns="0" rIns="0" bIns="0" rtlCol="0" anchor="ctr"/>
          <a:lstStyle/>
          <a:p>
            <a:pPr marL="0" indent="0" algn="ctr">
              <a:buNone/>
            </a:pPr>
            <a:r>
              <a:rPr lang="en-US" sz="1500" dirty="0">
                <a:solidFill>
                  <a:srgbClr val="5B7286"/>
                </a:solidFill>
                <a:latin typeface="Calibri" pitchFamily="34" charset="0"/>
                <a:ea typeface="Calibri" pitchFamily="34" charset="-122"/>
                <a:cs typeface="Calibri" pitchFamily="34" charset="-120"/>
              </a:rPr>
              <a:t>vibrate very fast</a:t>
            </a:r>
            <a:endParaRPr lang="en-US" sz="1500" dirty="0"/>
          </a:p>
        </p:txBody>
      </p:sp>
      <p:sp>
        <p:nvSpPr>
          <p:cNvPr id="16" name="Text 12"/>
          <p:cNvSpPr txBox="1"/>
          <p:nvPr/>
        </p:nvSpPr>
        <p:spPr>
          <a:xfrm>
            <a:off x="4448556" y="3566160"/>
            <a:ext cx="3291840" cy="457200"/>
          </a:xfrm>
          <a:prstGeom prst="rect">
            <a:avLst/>
          </a:prstGeom>
          <a:noFill/>
          <a:ln/>
        </p:spPr>
        <p:txBody>
          <a:bodyPr wrap="square" lIns="0" tIns="0" rIns="0" bIns="0" rtlCol="0" anchor="ctr"/>
          <a:lstStyle/>
          <a:p>
            <a:pPr marL="0" indent="0" algn="ctr">
              <a:buNone/>
            </a:pPr>
            <a:r>
              <a:rPr lang="en-US" sz="1700" b="1" i="1" dirty="0">
                <a:solidFill>
                  <a:srgbClr val="028090"/>
                </a:solidFill>
                <a:latin typeface="Cambria" pitchFamily="34" charset="0"/>
                <a:ea typeface="Cambria" pitchFamily="34" charset="-122"/>
                <a:cs typeface="Cambria" pitchFamily="34" charset="-120"/>
              </a:rPr>
              <a:t>the sound  (pitch)</a:t>
            </a:r>
            <a:endParaRPr lang="en-US" sz="1700" dirty="0"/>
          </a:p>
        </p:txBody>
      </p:sp>
      <p:sp>
        <p:nvSpPr>
          <p:cNvPr id="17" name="Shape 13"/>
          <p:cNvSpPr/>
          <p:nvPr/>
        </p:nvSpPr>
        <p:spPr>
          <a:xfrm>
            <a:off x="7813548" y="2999232"/>
            <a:ext cx="402336" cy="219456"/>
          </a:xfrm>
          <a:prstGeom prst="rightArrow">
            <a:avLst/>
          </a:prstGeom>
          <a:solidFill>
            <a:srgbClr val="5B7286">
              <a:alpha val="55000"/>
            </a:srgbClr>
          </a:solidFill>
          <a:ln/>
        </p:spPr>
      </p:sp>
      <p:sp>
        <p:nvSpPr>
          <p:cNvPr id="18" name="Shape 14"/>
          <p:cNvSpPr/>
          <p:nvPr/>
        </p:nvSpPr>
        <p:spPr>
          <a:xfrm>
            <a:off x="8307324" y="1783080"/>
            <a:ext cx="3291840" cy="2651760"/>
          </a:xfrm>
          <a:prstGeom prst="roundRect">
            <a:avLst>
              <a:gd name="adj" fmla="val 3448"/>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9" name="Shape 15"/>
          <p:cNvSpPr/>
          <p:nvPr/>
        </p:nvSpPr>
        <p:spPr>
          <a:xfrm>
            <a:off x="9569196" y="1399032"/>
            <a:ext cx="768096" cy="768096"/>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20" name="Image 2" descr="C:\Users\MShaheen\Documents\parkinsons_voice_project\report\defence\figs\t_mouth.png"/>
          <p:cNvPicPr>
            <a:picLocks noChangeAspect="1"/>
          </p:cNvPicPr>
          <p:nvPr/>
        </p:nvPicPr>
        <p:blipFill>
          <a:blip r:embed="rId6"/>
          <a:stretch>
            <a:fillRect/>
          </a:stretch>
        </p:blipFill>
        <p:spPr>
          <a:xfrm>
            <a:off x="9768901" y="1598737"/>
            <a:ext cx="368686" cy="368686"/>
          </a:xfrm>
          <a:prstGeom prst="rect">
            <a:avLst/>
          </a:prstGeom>
        </p:spPr>
      </p:pic>
      <p:sp>
        <p:nvSpPr>
          <p:cNvPr id="21" name="Text 16"/>
          <p:cNvSpPr txBox="1"/>
          <p:nvPr/>
        </p:nvSpPr>
        <p:spPr>
          <a:xfrm>
            <a:off x="8307324" y="2331720"/>
            <a:ext cx="3291840" cy="502920"/>
          </a:xfrm>
          <a:prstGeom prst="rect">
            <a:avLst/>
          </a:prstGeom>
          <a:noFill/>
          <a:ln/>
        </p:spPr>
        <p:txBody>
          <a:bodyPr wrap="square" lIns="0" tIns="0" rIns="0" bIns="0" rtlCol="0" anchor="ctr"/>
          <a:lstStyle/>
          <a:p>
            <a:pPr marL="0" indent="0" algn="ctr">
              <a:buNone/>
            </a:pPr>
            <a:r>
              <a:rPr lang="en-US" sz="2200" b="1" dirty="0">
                <a:solidFill>
                  <a:srgbClr val="16324A"/>
                </a:solidFill>
                <a:latin typeface="Cambria" pitchFamily="34" charset="0"/>
                <a:ea typeface="Cambria" pitchFamily="34" charset="-122"/>
                <a:cs typeface="Cambria" pitchFamily="34" charset="-120"/>
              </a:rPr>
              <a:t>3. Mouth &amp; tongue</a:t>
            </a:r>
            <a:endParaRPr lang="en-US" sz="2200" dirty="0"/>
          </a:p>
        </p:txBody>
      </p:sp>
      <p:sp>
        <p:nvSpPr>
          <p:cNvPr id="22" name="Text 17"/>
          <p:cNvSpPr txBox="1"/>
          <p:nvPr/>
        </p:nvSpPr>
        <p:spPr>
          <a:xfrm>
            <a:off x="8307324" y="2926080"/>
            <a:ext cx="3291840" cy="411480"/>
          </a:xfrm>
          <a:prstGeom prst="rect">
            <a:avLst/>
          </a:prstGeom>
          <a:noFill/>
          <a:ln/>
        </p:spPr>
        <p:txBody>
          <a:bodyPr wrap="square" lIns="0" tIns="0" rIns="0" bIns="0" rtlCol="0" anchor="ctr"/>
          <a:lstStyle/>
          <a:p>
            <a:pPr marL="0" indent="0" algn="ctr">
              <a:buNone/>
            </a:pPr>
            <a:r>
              <a:rPr lang="en-US" sz="1500" dirty="0">
                <a:solidFill>
                  <a:srgbClr val="5B7286"/>
                </a:solidFill>
                <a:latin typeface="Calibri" pitchFamily="34" charset="0"/>
                <a:ea typeface="Calibri" pitchFamily="34" charset="-122"/>
                <a:cs typeface="Calibri" pitchFamily="34" charset="-120"/>
              </a:rPr>
              <a:t>shape the sound</a:t>
            </a:r>
            <a:endParaRPr lang="en-US" sz="1500" dirty="0"/>
          </a:p>
        </p:txBody>
      </p:sp>
      <p:sp>
        <p:nvSpPr>
          <p:cNvPr id="23" name="Text 18"/>
          <p:cNvSpPr txBox="1"/>
          <p:nvPr/>
        </p:nvSpPr>
        <p:spPr>
          <a:xfrm>
            <a:off x="8307324" y="3566160"/>
            <a:ext cx="3291840" cy="457200"/>
          </a:xfrm>
          <a:prstGeom prst="rect">
            <a:avLst/>
          </a:prstGeom>
          <a:noFill/>
          <a:ln/>
        </p:spPr>
        <p:txBody>
          <a:bodyPr wrap="square" lIns="0" tIns="0" rIns="0" bIns="0" rtlCol="0" anchor="ctr"/>
          <a:lstStyle/>
          <a:p>
            <a:pPr marL="0" indent="0" algn="ctr">
              <a:buNone/>
            </a:pPr>
            <a:r>
              <a:rPr lang="en-US" sz="1700" b="1" i="1" dirty="0">
                <a:solidFill>
                  <a:srgbClr val="028090"/>
                </a:solidFill>
                <a:latin typeface="Cambria" pitchFamily="34" charset="0"/>
                <a:ea typeface="Cambria" pitchFamily="34" charset="-122"/>
                <a:cs typeface="Cambria" pitchFamily="34" charset="-120"/>
              </a:rPr>
              <a:t>the letters</a:t>
            </a:r>
            <a:endParaRPr lang="en-US" sz="1700" dirty="0"/>
          </a:p>
        </p:txBody>
      </p:sp>
      <p:sp>
        <p:nvSpPr>
          <p:cNvPr id="24" name="Text 19"/>
          <p:cNvSpPr txBox="1"/>
          <p:nvPr/>
        </p:nvSpPr>
        <p:spPr>
          <a:xfrm>
            <a:off x="822960" y="4846320"/>
            <a:ext cx="10543032" cy="457200"/>
          </a:xfrm>
          <a:prstGeom prst="rect">
            <a:avLst/>
          </a:prstGeom>
          <a:noFill/>
          <a:ln/>
        </p:spPr>
        <p:txBody>
          <a:bodyPr wrap="square" lIns="0" tIns="0" rIns="0" bIns="0" rtlCol="0" anchor="ctr"/>
          <a:lstStyle/>
          <a:p>
            <a:pPr marL="0" indent="0" algn="ctr">
              <a:buNone/>
            </a:pPr>
            <a:r>
              <a:rPr lang="en-US" sz="1700" i="1" dirty="0">
                <a:solidFill>
                  <a:srgbClr val="16324A"/>
                </a:solidFill>
                <a:latin typeface="Cambria" pitchFamily="34" charset="0"/>
                <a:ea typeface="Cambria" pitchFamily="34" charset="-122"/>
                <a:cs typeface="Cambria" pitchFamily="34" charset="-120"/>
              </a:rPr>
              <a:t>Like a musical instrument: air, a vibrating part, and a shape around it.</a:t>
            </a:r>
            <a:endParaRPr lang="en-US" sz="17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nodeType="withEffect">
                                  <p:stCondLst>
                                    <p:cond delay="20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nodeType="withEffect">
                                  <p:stCondLst>
                                    <p:cond delay="216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nodeType="withEffect">
                                  <p:stCondLst>
                                    <p:cond delay="228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240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240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240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240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9" grpId="0" animBg="1"/>
      <p:bldP spid="14" grpId="0" animBg="1"/>
      <p:bldP spid="15" grpId="0" animBg="1"/>
      <p:bldP spid="16" grpId="0" animBg="1"/>
      <p:bldP spid="21" grpId="0" animBg="1"/>
      <p:bldP spid="22" grpId="0" animBg="1"/>
      <p:bldP spid="23"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marL="0" indent="0" algn="l">
              <a:buNone/>
            </a:pPr>
            <a:r>
              <a:rPr lang="en-US" sz="3000" b="1" dirty="0">
                <a:solidFill>
                  <a:srgbClr val="16324A"/>
                </a:solidFill>
                <a:latin typeface="Cambria" pitchFamily="34" charset="0"/>
                <a:ea typeface="Cambria" pitchFamily="34" charset="-122"/>
                <a:cs typeface="Cambria" pitchFamily="34" charset="-120"/>
              </a:rPr>
              <a:t>What we measure — 74 numbers per recording</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marL="0" indent="0" algn="r">
              <a:buNone/>
            </a:pPr>
            <a:r>
              <a:rPr lang="en-US" sz="1000" dirty="0">
                <a:solidFill>
                  <a:srgbClr val="5B7286"/>
                </a:solidFill>
                <a:latin typeface="Calibri" pitchFamily="34" charset="0"/>
                <a:ea typeface="Calibri" pitchFamily="34" charset="-122"/>
                <a:cs typeface="Calibri" pitchFamily="34" charset="-120"/>
              </a:rPr>
              <a:t>5</a:t>
            </a:r>
            <a:endParaRPr lang="en-US" sz="1000" dirty="0"/>
          </a:p>
        </p:txBody>
      </p:sp>
      <p:sp>
        <p:nvSpPr>
          <p:cNvPr id="4" name="Shape 2"/>
          <p:cNvSpPr/>
          <p:nvPr/>
        </p:nvSpPr>
        <p:spPr>
          <a:xfrm>
            <a:off x="822960" y="1371600"/>
            <a:ext cx="10543032" cy="841248"/>
          </a:xfrm>
          <a:prstGeom prst="roundRect">
            <a:avLst>
              <a:gd name="adj" fmla="val 10870"/>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5" name="Text 3"/>
          <p:cNvSpPr txBox="1"/>
          <p:nvPr/>
        </p:nvSpPr>
        <p:spPr>
          <a:xfrm>
            <a:off x="1097280" y="1371600"/>
            <a:ext cx="4206240" cy="841248"/>
          </a:xfrm>
          <a:prstGeom prst="rect">
            <a:avLst/>
          </a:prstGeom>
          <a:noFill/>
          <a:ln/>
        </p:spPr>
        <p:txBody>
          <a:bodyPr wrap="square" lIns="0" tIns="0" rIns="0" bIns="0" rtlCol="0" anchor="ctr"/>
          <a:lstStyle/>
          <a:p>
            <a:pPr marL="0" indent="0" algn="l">
              <a:buNone/>
            </a:pPr>
            <a:r>
              <a:rPr lang="en-US" sz="1550" b="1" dirty="0">
                <a:solidFill>
                  <a:srgbClr val="16324A"/>
                </a:solidFill>
                <a:latin typeface="Calibri" pitchFamily="34" charset="0"/>
                <a:ea typeface="Calibri" pitchFamily="34" charset="-122"/>
                <a:cs typeface="Calibri" pitchFamily="34" charset="-120"/>
              </a:rPr>
              <a:t>Is the pitch flat or lively?</a:t>
            </a:r>
            <a:endParaRPr lang="en-US" sz="1550" dirty="0"/>
          </a:p>
        </p:txBody>
      </p:sp>
      <p:sp>
        <p:nvSpPr>
          <p:cNvPr id="6" name="Text 4"/>
          <p:cNvSpPr txBox="1"/>
          <p:nvPr/>
        </p:nvSpPr>
        <p:spPr>
          <a:xfrm>
            <a:off x="5486400" y="1371600"/>
            <a:ext cx="2651760" cy="841248"/>
          </a:xfrm>
          <a:prstGeom prst="rect">
            <a:avLst/>
          </a:prstGeom>
          <a:noFill/>
          <a:ln/>
        </p:spPr>
        <p:txBody>
          <a:bodyPr wrap="square" lIns="0" tIns="0" rIns="0" bIns="0" rtlCol="0" anchor="ctr"/>
          <a:lstStyle/>
          <a:p>
            <a:pPr marL="0" indent="0" algn="l">
              <a:buNone/>
            </a:pPr>
            <a:r>
              <a:rPr lang="en-US" sz="1550" b="1" dirty="0">
                <a:solidFill>
                  <a:srgbClr val="028090"/>
                </a:solidFill>
                <a:latin typeface="Cambria" pitchFamily="34" charset="0"/>
                <a:ea typeface="Cambria" pitchFamily="34" charset="-122"/>
                <a:cs typeface="Cambria" pitchFamily="34" charset="-120"/>
              </a:rPr>
              <a:t>pitch range</a:t>
            </a:r>
            <a:endParaRPr lang="en-US" sz="1550" dirty="0"/>
          </a:p>
        </p:txBody>
      </p:sp>
      <p:sp>
        <p:nvSpPr>
          <p:cNvPr id="7" name="Text 5"/>
          <p:cNvSpPr txBox="1"/>
          <p:nvPr/>
        </p:nvSpPr>
        <p:spPr>
          <a:xfrm>
            <a:off x="8229600" y="1371600"/>
            <a:ext cx="3017520" cy="841248"/>
          </a:xfrm>
          <a:prstGeom prst="rect">
            <a:avLst/>
          </a:prstGeom>
          <a:noFill/>
          <a:ln/>
        </p:spPr>
        <p:txBody>
          <a:bodyPr wrap="square" lIns="0" tIns="0" rIns="0" bIns="0" rtlCol="0" anchor="ctr"/>
          <a:lstStyle/>
          <a:p>
            <a:pPr marL="0" indent="0" algn="l">
              <a:buNone/>
            </a:pPr>
            <a:r>
              <a:rPr lang="en-US" sz="1250" i="1" dirty="0">
                <a:solidFill>
                  <a:srgbClr val="5B7286"/>
                </a:solidFill>
                <a:latin typeface="Calibri" pitchFamily="34" charset="0"/>
                <a:ea typeface="Calibri" pitchFamily="34" charset="-122"/>
                <a:cs typeface="Calibri" pitchFamily="34" charset="-120"/>
              </a:rPr>
              <a:t>monotone speech is a classic sign</a:t>
            </a:r>
            <a:endParaRPr lang="en-US" sz="1250" dirty="0"/>
          </a:p>
        </p:txBody>
      </p:sp>
      <p:sp>
        <p:nvSpPr>
          <p:cNvPr id="8" name="Shape 6"/>
          <p:cNvSpPr/>
          <p:nvPr/>
        </p:nvSpPr>
        <p:spPr>
          <a:xfrm>
            <a:off x="822960" y="2359152"/>
            <a:ext cx="10543032" cy="841248"/>
          </a:xfrm>
          <a:prstGeom prst="roundRect">
            <a:avLst>
              <a:gd name="adj" fmla="val 10870"/>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9" name="Text 7"/>
          <p:cNvSpPr txBox="1"/>
          <p:nvPr/>
        </p:nvSpPr>
        <p:spPr>
          <a:xfrm>
            <a:off x="1097280" y="2359152"/>
            <a:ext cx="4206240" cy="841248"/>
          </a:xfrm>
          <a:prstGeom prst="rect">
            <a:avLst/>
          </a:prstGeom>
          <a:noFill/>
          <a:ln/>
        </p:spPr>
        <p:txBody>
          <a:bodyPr wrap="square" lIns="0" tIns="0" rIns="0" bIns="0" rtlCol="0" anchor="ctr"/>
          <a:lstStyle/>
          <a:p>
            <a:pPr marL="0" indent="0" algn="l">
              <a:buNone/>
            </a:pPr>
            <a:r>
              <a:rPr lang="en-US" sz="1550" b="1" dirty="0">
                <a:solidFill>
                  <a:srgbClr val="16324A"/>
                </a:solidFill>
                <a:latin typeface="Calibri" pitchFamily="34" charset="0"/>
                <a:ea typeface="Calibri" pitchFamily="34" charset="-122"/>
                <a:cs typeface="Calibri" pitchFamily="34" charset="-120"/>
              </a:rPr>
              <a:t>Is the vibration steady?</a:t>
            </a:r>
            <a:endParaRPr lang="en-US" sz="1550" dirty="0"/>
          </a:p>
        </p:txBody>
      </p:sp>
      <p:sp>
        <p:nvSpPr>
          <p:cNvPr id="10" name="Text 8"/>
          <p:cNvSpPr txBox="1"/>
          <p:nvPr/>
        </p:nvSpPr>
        <p:spPr>
          <a:xfrm>
            <a:off x="5486400" y="2359152"/>
            <a:ext cx="2651760" cy="841248"/>
          </a:xfrm>
          <a:prstGeom prst="rect">
            <a:avLst/>
          </a:prstGeom>
          <a:noFill/>
          <a:ln/>
        </p:spPr>
        <p:txBody>
          <a:bodyPr wrap="square" lIns="0" tIns="0" rIns="0" bIns="0" rtlCol="0" anchor="ctr"/>
          <a:lstStyle/>
          <a:p>
            <a:pPr marL="0" indent="0" algn="l">
              <a:buNone/>
            </a:pPr>
            <a:r>
              <a:rPr lang="en-US" sz="1550" b="1" dirty="0">
                <a:solidFill>
                  <a:srgbClr val="028090"/>
                </a:solidFill>
                <a:latin typeface="Cambria" pitchFamily="34" charset="0"/>
                <a:ea typeface="Cambria" pitchFamily="34" charset="-122"/>
                <a:cs typeface="Cambria" pitchFamily="34" charset="-120"/>
              </a:rPr>
              <a:t>jitter &amp; shimmer</a:t>
            </a:r>
            <a:endParaRPr lang="en-US" sz="1550" dirty="0"/>
          </a:p>
        </p:txBody>
      </p:sp>
      <p:sp>
        <p:nvSpPr>
          <p:cNvPr id="11" name="Text 9"/>
          <p:cNvSpPr txBox="1"/>
          <p:nvPr/>
        </p:nvSpPr>
        <p:spPr>
          <a:xfrm>
            <a:off x="8229600" y="2359152"/>
            <a:ext cx="3017520" cy="841248"/>
          </a:xfrm>
          <a:prstGeom prst="rect">
            <a:avLst/>
          </a:prstGeom>
          <a:noFill/>
          <a:ln/>
        </p:spPr>
        <p:txBody>
          <a:bodyPr wrap="square" lIns="0" tIns="0" rIns="0" bIns="0" rtlCol="0" anchor="ctr"/>
          <a:lstStyle/>
          <a:p>
            <a:pPr marL="0" indent="0" algn="l">
              <a:buNone/>
            </a:pPr>
            <a:r>
              <a:rPr lang="en-US" sz="1250" i="1" dirty="0">
                <a:solidFill>
                  <a:srgbClr val="5B7286"/>
                </a:solidFill>
                <a:latin typeface="Calibri" pitchFamily="34" charset="0"/>
                <a:ea typeface="Calibri" pitchFamily="34" charset="-122"/>
                <a:cs typeface="Calibri" pitchFamily="34" charset="-120"/>
              </a:rPr>
              <a:t>shaky muscle control makes it uneven</a:t>
            </a:r>
            <a:endParaRPr lang="en-US" sz="1250" dirty="0"/>
          </a:p>
        </p:txBody>
      </p:sp>
      <p:sp>
        <p:nvSpPr>
          <p:cNvPr id="12" name="Shape 10"/>
          <p:cNvSpPr/>
          <p:nvPr/>
        </p:nvSpPr>
        <p:spPr>
          <a:xfrm>
            <a:off x="822960" y="3346704"/>
            <a:ext cx="10543032" cy="841248"/>
          </a:xfrm>
          <a:prstGeom prst="roundRect">
            <a:avLst>
              <a:gd name="adj" fmla="val 10870"/>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3" name="Text 11"/>
          <p:cNvSpPr txBox="1"/>
          <p:nvPr/>
        </p:nvSpPr>
        <p:spPr>
          <a:xfrm>
            <a:off x="1097280" y="3346704"/>
            <a:ext cx="4206240" cy="841248"/>
          </a:xfrm>
          <a:prstGeom prst="rect">
            <a:avLst/>
          </a:prstGeom>
          <a:noFill/>
          <a:ln/>
        </p:spPr>
        <p:txBody>
          <a:bodyPr wrap="square" lIns="0" tIns="0" rIns="0" bIns="0" rtlCol="0" anchor="ctr"/>
          <a:lstStyle/>
          <a:p>
            <a:pPr marL="0" indent="0" algn="l">
              <a:buNone/>
            </a:pPr>
            <a:r>
              <a:rPr lang="en-US" sz="1550" b="1" dirty="0">
                <a:solidFill>
                  <a:srgbClr val="16324A"/>
                </a:solidFill>
                <a:latin typeface="Calibri" pitchFamily="34" charset="0"/>
                <a:ea typeface="Calibri" pitchFamily="34" charset="-122"/>
                <a:cs typeface="Calibri" pitchFamily="34" charset="-120"/>
              </a:rPr>
              <a:t>Is the voice clear or breathy?</a:t>
            </a:r>
            <a:endParaRPr lang="en-US" sz="1550" dirty="0"/>
          </a:p>
        </p:txBody>
      </p:sp>
      <p:sp>
        <p:nvSpPr>
          <p:cNvPr id="14" name="Text 12"/>
          <p:cNvSpPr txBox="1"/>
          <p:nvPr/>
        </p:nvSpPr>
        <p:spPr>
          <a:xfrm>
            <a:off x="5486400" y="3346704"/>
            <a:ext cx="2651760" cy="841248"/>
          </a:xfrm>
          <a:prstGeom prst="rect">
            <a:avLst/>
          </a:prstGeom>
          <a:noFill/>
          <a:ln/>
        </p:spPr>
        <p:txBody>
          <a:bodyPr wrap="square" lIns="0" tIns="0" rIns="0" bIns="0" rtlCol="0" anchor="ctr"/>
          <a:lstStyle/>
          <a:p>
            <a:pPr marL="0" indent="0" algn="l">
              <a:buNone/>
            </a:pPr>
            <a:r>
              <a:rPr lang="en-US" sz="1550" b="1" dirty="0">
                <a:solidFill>
                  <a:srgbClr val="028090"/>
                </a:solidFill>
                <a:latin typeface="Cambria" pitchFamily="34" charset="0"/>
                <a:ea typeface="Cambria" pitchFamily="34" charset="-122"/>
                <a:cs typeface="Cambria" pitchFamily="34" charset="-120"/>
              </a:rPr>
              <a:t>noise ratio (HNR)</a:t>
            </a:r>
            <a:endParaRPr lang="en-US" sz="1550" dirty="0"/>
          </a:p>
        </p:txBody>
      </p:sp>
      <p:sp>
        <p:nvSpPr>
          <p:cNvPr id="15" name="Text 13"/>
          <p:cNvSpPr txBox="1"/>
          <p:nvPr/>
        </p:nvSpPr>
        <p:spPr>
          <a:xfrm>
            <a:off x="8229600" y="3346704"/>
            <a:ext cx="3017520" cy="841248"/>
          </a:xfrm>
          <a:prstGeom prst="rect">
            <a:avLst/>
          </a:prstGeom>
          <a:noFill/>
          <a:ln/>
        </p:spPr>
        <p:txBody>
          <a:bodyPr wrap="square" lIns="0" tIns="0" rIns="0" bIns="0" rtlCol="0" anchor="ctr"/>
          <a:lstStyle/>
          <a:p>
            <a:pPr marL="0" indent="0" algn="l">
              <a:buNone/>
            </a:pPr>
            <a:r>
              <a:rPr lang="en-US" sz="1250" i="1" dirty="0">
                <a:solidFill>
                  <a:srgbClr val="5B7286"/>
                </a:solidFill>
                <a:latin typeface="Calibri" pitchFamily="34" charset="0"/>
                <a:ea typeface="Calibri" pitchFamily="34" charset="-122"/>
                <a:cs typeface="Calibri" pitchFamily="34" charset="-120"/>
              </a:rPr>
              <a:t>weak folds let air leak through</a:t>
            </a:r>
            <a:endParaRPr lang="en-US" sz="1250" dirty="0"/>
          </a:p>
        </p:txBody>
      </p:sp>
      <p:sp>
        <p:nvSpPr>
          <p:cNvPr id="16" name="Shape 14"/>
          <p:cNvSpPr/>
          <p:nvPr/>
        </p:nvSpPr>
        <p:spPr>
          <a:xfrm>
            <a:off x="822960" y="4334256"/>
            <a:ext cx="10543032" cy="841248"/>
          </a:xfrm>
          <a:prstGeom prst="roundRect">
            <a:avLst>
              <a:gd name="adj" fmla="val 10870"/>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7" name="Text 15"/>
          <p:cNvSpPr txBox="1"/>
          <p:nvPr/>
        </p:nvSpPr>
        <p:spPr>
          <a:xfrm>
            <a:off x="1097280" y="4334256"/>
            <a:ext cx="4206240" cy="841248"/>
          </a:xfrm>
          <a:prstGeom prst="rect">
            <a:avLst/>
          </a:prstGeom>
          <a:noFill/>
          <a:ln/>
        </p:spPr>
        <p:txBody>
          <a:bodyPr wrap="square" lIns="0" tIns="0" rIns="0" bIns="0" rtlCol="0" anchor="ctr"/>
          <a:lstStyle/>
          <a:p>
            <a:pPr marL="0" indent="0" algn="l">
              <a:buNone/>
            </a:pPr>
            <a:r>
              <a:rPr lang="en-US" sz="1550" b="1" dirty="0">
                <a:solidFill>
                  <a:srgbClr val="16324A"/>
                </a:solidFill>
                <a:latin typeface="Calibri" pitchFamily="34" charset="0"/>
                <a:ea typeface="Calibri" pitchFamily="34" charset="-122"/>
                <a:cs typeface="Calibri" pitchFamily="34" charset="-120"/>
              </a:rPr>
              <a:t>Are there many pauses?</a:t>
            </a:r>
            <a:endParaRPr lang="en-US" sz="1550" dirty="0"/>
          </a:p>
        </p:txBody>
      </p:sp>
      <p:sp>
        <p:nvSpPr>
          <p:cNvPr id="18" name="Text 16"/>
          <p:cNvSpPr txBox="1"/>
          <p:nvPr/>
        </p:nvSpPr>
        <p:spPr>
          <a:xfrm>
            <a:off x="5486400" y="4334256"/>
            <a:ext cx="2651760" cy="841248"/>
          </a:xfrm>
          <a:prstGeom prst="rect">
            <a:avLst/>
          </a:prstGeom>
          <a:noFill/>
          <a:ln/>
        </p:spPr>
        <p:txBody>
          <a:bodyPr wrap="square" lIns="0" tIns="0" rIns="0" bIns="0" rtlCol="0" anchor="ctr"/>
          <a:lstStyle/>
          <a:p>
            <a:pPr marL="0" indent="0" algn="l">
              <a:buNone/>
            </a:pPr>
            <a:r>
              <a:rPr lang="en-US" sz="1550" b="1" dirty="0">
                <a:solidFill>
                  <a:srgbClr val="028090"/>
                </a:solidFill>
                <a:latin typeface="Cambria" pitchFamily="34" charset="0"/>
                <a:ea typeface="Cambria" pitchFamily="34" charset="-122"/>
                <a:cs typeface="Cambria" pitchFamily="34" charset="-120"/>
              </a:rPr>
              <a:t>pause statistics</a:t>
            </a:r>
            <a:endParaRPr lang="en-US" sz="1550" dirty="0"/>
          </a:p>
        </p:txBody>
      </p:sp>
      <p:sp>
        <p:nvSpPr>
          <p:cNvPr id="19" name="Text 17"/>
          <p:cNvSpPr txBox="1"/>
          <p:nvPr/>
        </p:nvSpPr>
        <p:spPr>
          <a:xfrm>
            <a:off x="8229600" y="4334256"/>
            <a:ext cx="3017520" cy="841248"/>
          </a:xfrm>
          <a:prstGeom prst="rect">
            <a:avLst/>
          </a:prstGeom>
          <a:noFill/>
          <a:ln/>
        </p:spPr>
        <p:txBody>
          <a:bodyPr wrap="square" lIns="0" tIns="0" rIns="0" bIns="0" rtlCol="0" anchor="ctr"/>
          <a:lstStyle/>
          <a:p>
            <a:pPr marL="0" indent="0" algn="l">
              <a:buNone/>
            </a:pPr>
            <a:r>
              <a:rPr lang="en-US" sz="1250" i="1" dirty="0">
                <a:solidFill>
                  <a:srgbClr val="5B7286"/>
                </a:solidFill>
                <a:latin typeface="Calibri" pitchFamily="34" charset="0"/>
                <a:ea typeface="Calibri" pitchFamily="34" charset="-122"/>
                <a:cs typeface="Calibri" pitchFamily="34" charset="-120"/>
              </a:rPr>
              <a:t>starting speech becomes harder</a:t>
            </a:r>
            <a:endParaRPr lang="en-US" sz="1250" dirty="0"/>
          </a:p>
        </p:txBody>
      </p:sp>
      <p:sp>
        <p:nvSpPr>
          <p:cNvPr id="20" name="Shape 18"/>
          <p:cNvSpPr/>
          <p:nvPr/>
        </p:nvSpPr>
        <p:spPr>
          <a:xfrm>
            <a:off x="822960" y="5321808"/>
            <a:ext cx="10543032" cy="841248"/>
          </a:xfrm>
          <a:prstGeom prst="roundRect">
            <a:avLst>
              <a:gd name="adj" fmla="val 10870"/>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21" name="Text 19"/>
          <p:cNvSpPr txBox="1"/>
          <p:nvPr/>
        </p:nvSpPr>
        <p:spPr>
          <a:xfrm>
            <a:off x="1097280" y="5321808"/>
            <a:ext cx="4206240" cy="841248"/>
          </a:xfrm>
          <a:prstGeom prst="rect">
            <a:avLst/>
          </a:prstGeom>
          <a:noFill/>
          <a:ln/>
        </p:spPr>
        <p:txBody>
          <a:bodyPr wrap="square" lIns="0" tIns="0" rIns="0" bIns="0" rtlCol="0" anchor="ctr"/>
          <a:lstStyle/>
          <a:p>
            <a:pPr marL="0" indent="0" algn="l">
              <a:buNone/>
            </a:pPr>
            <a:r>
              <a:rPr lang="en-US" sz="1550" b="1" dirty="0">
                <a:solidFill>
                  <a:srgbClr val="16324A"/>
                </a:solidFill>
                <a:latin typeface="Calibri" pitchFamily="34" charset="0"/>
                <a:ea typeface="Calibri" pitchFamily="34" charset="-122"/>
                <a:cs typeface="Calibri" pitchFamily="34" charset="-120"/>
              </a:rPr>
              <a:t>How fast does the mouth move?</a:t>
            </a:r>
            <a:endParaRPr lang="en-US" sz="1550" dirty="0"/>
          </a:p>
        </p:txBody>
      </p:sp>
      <p:sp>
        <p:nvSpPr>
          <p:cNvPr id="22" name="Text 20"/>
          <p:cNvSpPr txBox="1"/>
          <p:nvPr/>
        </p:nvSpPr>
        <p:spPr>
          <a:xfrm>
            <a:off x="5486400" y="5321808"/>
            <a:ext cx="2651760" cy="841248"/>
          </a:xfrm>
          <a:prstGeom prst="rect">
            <a:avLst/>
          </a:prstGeom>
          <a:noFill/>
          <a:ln/>
        </p:spPr>
        <p:txBody>
          <a:bodyPr wrap="square" lIns="0" tIns="0" rIns="0" bIns="0" rtlCol="0" anchor="ctr"/>
          <a:lstStyle/>
          <a:p>
            <a:pPr marL="0" indent="0" algn="l">
              <a:buNone/>
            </a:pPr>
            <a:r>
              <a:rPr lang="en-US" sz="1550" b="1" dirty="0">
                <a:solidFill>
                  <a:srgbClr val="028090"/>
                </a:solidFill>
                <a:latin typeface="Cambria" pitchFamily="34" charset="0"/>
                <a:ea typeface="Cambria" pitchFamily="34" charset="-122"/>
                <a:cs typeface="Cambria" pitchFamily="34" charset="-120"/>
              </a:rPr>
              <a:t>spectrum (MFCC)</a:t>
            </a:r>
            <a:endParaRPr lang="en-US" sz="1550" dirty="0"/>
          </a:p>
        </p:txBody>
      </p:sp>
      <p:sp>
        <p:nvSpPr>
          <p:cNvPr id="23" name="Text 21"/>
          <p:cNvSpPr txBox="1"/>
          <p:nvPr/>
        </p:nvSpPr>
        <p:spPr>
          <a:xfrm>
            <a:off x="8229600" y="5321808"/>
            <a:ext cx="3017520" cy="841248"/>
          </a:xfrm>
          <a:prstGeom prst="rect">
            <a:avLst/>
          </a:prstGeom>
          <a:noFill/>
          <a:ln/>
        </p:spPr>
        <p:txBody>
          <a:bodyPr wrap="square" lIns="0" tIns="0" rIns="0" bIns="0" rtlCol="0" anchor="ctr"/>
          <a:lstStyle/>
          <a:p>
            <a:pPr marL="0" indent="0" algn="l">
              <a:buNone/>
            </a:pPr>
            <a:r>
              <a:rPr lang="en-US" sz="1250" i="1" dirty="0">
                <a:solidFill>
                  <a:srgbClr val="5B7286"/>
                </a:solidFill>
                <a:latin typeface="Calibri" pitchFamily="34" charset="0"/>
                <a:ea typeface="Calibri" pitchFamily="34" charset="-122"/>
                <a:cs typeface="Calibri" pitchFamily="34" charset="-120"/>
              </a:rPr>
              <a:t>slow, small movements blur the letters</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20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216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nodeType="withEffect">
                                  <p:stCondLst>
                                    <p:cond delay="228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240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240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240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marL="0" indent="0" algn="l">
              <a:buNone/>
            </a:pPr>
            <a:r>
              <a:rPr lang="en-US" sz="3000" b="1" dirty="0">
                <a:solidFill>
                  <a:srgbClr val="16324A"/>
                </a:solidFill>
                <a:latin typeface="Cambria" pitchFamily="34" charset="0"/>
                <a:ea typeface="Cambria" pitchFamily="34" charset="-122"/>
                <a:cs typeface="Cambria" pitchFamily="34" charset="-120"/>
              </a:rPr>
              <a:t>How sound becomes numbers</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marL="0" indent="0" algn="r">
              <a:buNone/>
            </a:pPr>
            <a:r>
              <a:rPr lang="en-US" sz="1000" dirty="0">
                <a:solidFill>
                  <a:srgbClr val="5B7286"/>
                </a:solidFill>
                <a:latin typeface="Calibri" pitchFamily="34" charset="0"/>
                <a:ea typeface="Calibri" pitchFamily="34" charset="-122"/>
                <a:cs typeface="Calibri" pitchFamily="34" charset="-120"/>
              </a:rPr>
              <a:t>6</a:t>
            </a:r>
            <a:endParaRPr lang="en-US" sz="1000" dirty="0"/>
          </a:p>
        </p:txBody>
      </p:sp>
      <p:sp>
        <p:nvSpPr>
          <p:cNvPr id="4" name="Shape 2"/>
          <p:cNvSpPr/>
          <p:nvPr/>
        </p:nvSpPr>
        <p:spPr>
          <a:xfrm>
            <a:off x="676656" y="1371600"/>
            <a:ext cx="3063240" cy="1600200"/>
          </a:xfrm>
          <a:prstGeom prst="roundRect">
            <a:avLst>
              <a:gd name="adj" fmla="val 5714"/>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5" name="Shape 3"/>
          <p:cNvSpPr/>
          <p:nvPr/>
        </p:nvSpPr>
        <p:spPr>
          <a:xfrm>
            <a:off x="877824" y="1851660"/>
            <a:ext cx="640080" cy="640080"/>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6" name="Image 0" descr="C:\Users\MShaheen\Documents\parkinsons_voice_project\report\defence\figs\t_mic.png"/>
          <p:cNvPicPr>
            <a:picLocks noChangeAspect="1"/>
          </p:cNvPicPr>
          <p:nvPr/>
        </p:nvPicPr>
        <p:blipFill>
          <a:blip r:embed="rId4"/>
          <a:stretch>
            <a:fillRect/>
          </a:stretch>
        </p:blipFill>
        <p:spPr>
          <a:xfrm>
            <a:off x="1044245" y="2018081"/>
            <a:ext cx="307238" cy="307238"/>
          </a:xfrm>
          <a:prstGeom prst="rect">
            <a:avLst/>
          </a:prstGeom>
        </p:spPr>
      </p:pic>
      <p:sp>
        <p:nvSpPr>
          <p:cNvPr id="7" name="Text 4"/>
          <p:cNvSpPr txBox="1"/>
          <p:nvPr/>
        </p:nvSpPr>
        <p:spPr>
          <a:xfrm>
            <a:off x="1636776" y="1572768"/>
            <a:ext cx="1965960" cy="457200"/>
          </a:xfrm>
          <a:prstGeom prst="rect">
            <a:avLst/>
          </a:prstGeom>
          <a:noFill/>
          <a:ln/>
        </p:spPr>
        <p:txBody>
          <a:bodyPr wrap="square" lIns="0" tIns="0" rIns="0" bIns="0" rtlCol="0" anchor="ctr"/>
          <a:lstStyle/>
          <a:p>
            <a:pPr marL="0" indent="0">
              <a:buNone/>
            </a:pPr>
            <a:r>
              <a:rPr lang="en-US" sz="1800" b="1" dirty="0">
                <a:solidFill>
                  <a:srgbClr val="16324A"/>
                </a:solidFill>
                <a:latin typeface="Cambria" pitchFamily="34" charset="0"/>
                <a:ea typeface="Cambria" pitchFamily="34" charset="-122"/>
                <a:cs typeface="Cambria" pitchFamily="34" charset="-120"/>
              </a:rPr>
              <a:t>microphone</a:t>
            </a:r>
            <a:endParaRPr lang="en-US" sz="1800" dirty="0"/>
          </a:p>
        </p:txBody>
      </p:sp>
      <p:sp>
        <p:nvSpPr>
          <p:cNvPr id="8" name="Text 5"/>
          <p:cNvSpPr txBox="1"/>
          <p:nvPr/>
        </p:nvSpPr>
        <p:spPr>
          <a:xfrm>
            <a:off x="1636776" y="2057400"/>
            <a:ext cx="1965960" cy="777240"/>
          </a:xfrm>
          <a:prstGeom prst="rect">
            <a:avLst/>
          </a:prstGeom>
          <a:noFill/>
          <a:ln/>
        </p:spPr>
        <p:txBody>
          <a:bodyPr wrap="square" lIns="0" tIns="0" rIns="0" bIns="0" rtlCol="0" anchor="ctr"/>
          <a:lstStyle/>
          <a:p>
            <a:pPr marL="0" indent="0">
              <a:buNone/>
            </a:pPr>
            <a:r>
              <a:rPr lang="en-US" sz="1250" dirty="0">
                <a:solidFill>
                  <a:srgbClr val="5B7286"/>
                </a:solidFill>
                <a:latin typeface="Calibri" pitchFamily="34" charset="0"/>
                <a:ea typeface="Calibri" pitchFamily="34" charset="-122"/>
                <a:cs typeface="Calibri" pitchFamily="34" charset="-120"/>
              </a:rPr>
              <a:t>sound wave hits it</a:t>
            </a:r>
            <a:endParaRPr lang="en-US" sz="1250" dirty="0"/>
          </a:p>
        </p:txBody>
      </p:sp>
      <p:sp>
        <p:nvSpPr>
          <p:cNvPr id="9" name="Shape 6"/>
          <p:cNvSpPr/>
          <p:nvPr/>
        </p:nvSpPr>
        <p:spPr>
          <a:xfrm>
            <a:off x="3886200" y="2061972"/>
            <a:ext cx="457200" cy="219456"/>
          </a:xfrm>
          <a:prstGeom prst="rightArrow">
            <a:avLst/>
          </a:prstGeom>
          <a:solidFill>
            <a:srgbClr val="5B7286">
              <a:alpha val="55000"/>
            </a:srgbClr>
          </a:solidFill>
          <a:ln/>
        </p:spPr>
      </p:sp>
      <p:sp>
        <p:nvSpPr>
          <p:cNvPr id="10" name="Shape 7"/>
          <p:cNvSpPr/>
          <p:nvPr/>
        </p:nvSpPr>
        <p:spPr>
          <a:xfrm>
            <a:off x="4562856" y="1371600"/>
            <a:ext cx="3063240" cy="1600200"/>
          </a:xfrm>
          <a:prstGeom prst="roundRect">
            <a:avLst>
              <a:gd name="adj" fmla="val 5714"/>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1" name="Shape 8"/>
          <p:cNvSpPr/>
          <p:nvPr/>
        </p:nvSpPr>
        <p:spPr>
          <a:xfrm>
            <a:off x="4764024" y="1851660"/>
            <a:ext cx="640080" cy="640080"/>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12" name="Image 1" descr="C:\Users\MShaheen\Documents\parkinsons_voice_project\report\defence\figs\t_bolt.png"/>
          <p:cNvPicPr>
            <a:picLocks noChangeAspect="1"/>
          </p:cNvPicPr>
          <p:nvPr/>
        </p:nvPicPr>
        <p:blipFill>
          <a:blip r:embed="rId5"/>
          <a:stretch>
            <a:fillRect/>
          </a:stretch>
        </p:blipFill>
        <p:spPr>
          <a:xfrm>
            <a:off x="4930445" y="2018081"/>
            <a:ext cx="307238" cy="307238"/>
          </a:xfrm>
          <a:prstGeom prst="rect">
            <a:avLst/>
          </a:prstGeom>
        </p:spPr>
      </p:pic>
      <p:sp>
        <p:nvSpPr>
          <p:cNvPr id="13" name="Text 9"/>
          <p:cNvSpPr txBox="1"/>
          <p:nvPr/>
        </p:nvSpPr>
        <p:spPr>
          <a:xfrm>
            <a:off x="5522976" y="1572768"/>
            <a:ext cx="1965960" cy="457200"/>
          </a:xfrm>
          <a:prstGeom prst="rect">
            <a:avLst/>
          </a:prstGeom>
          <a:noFill/>
          <a:ln/>
        </p:spPr>
        <p:txBody>
          <a:bodyPr wrap="square" lIns="0" tIns="0" rIns="0" bIns="0" rtlCol="0" anchor="ctr"/>
          <a:lstStyle/>
          <a:p>
            <a:pPr marL="0" indent="0">
              <a:buNone/>
            </a:pPr>
            <a:r>
              <a:rPr lang="en-US" sz="1800" b="1" dirty="0">
                <a:solidFill>
                  <a:srgbClr val="16324A"/>
                </a:solidFill>
                <a:latin typeface="Cambria" pitchFamily="34" charset="0"/>
                <a:ea typeface="Cambria" pitchFamily="34" charset="-122"/>
                <a:cs typeface="Cambria" pitchFamily="34" charset="-120"/>
              </a:rPr>
              <a:t>electricity</a:t>
            </a:r>
            <a:endParaRPr lang="en-US" sz="1800" dirty="0"/>
          </a:p>
        </p:txBody>
      </p:sp>
      <p:sp>
        <p:nvSpPr>
          <p:cNvPr id="14" name="Text 10"/>
          <p:cNvSpPr txBox="1"/>
          <p:nvPr/>
        </p:nvSpPr>
        <p:spPr>
          <a:xfrm>
            <a:off x="5522976" y="2057400"/>
            <a:ext cx="1965960" cy="777240"/>
          </a:xfrm>
          <a:prstGeom prst="rect">
            <a:avLst/>
          </a:prstGeom>
          <a:noFill/>
          <a:ln/>
        </p:spPr>
        <p:txBody>
          <a:bodyPr wrap="square" lIns="0" tIns="0" rIns="0" bIns="0" rtlCol="0" anchor="ctr"/>
          <a:lstStyle/>
          <a:p>
            <a:pPr marL="0" indent="0">
              <a:buNone/>
            </a:pPr>
            <a:r>
              <a:rPr lang="en-US" sz="1250" dirty="0">
                <a:solidFill>
                  <a:srgbClr val="5B7286"/>
                </a:solidFill>
                <a:latin typeface="Calibri" pitchFamily="34" charset="0"/>
                <a:ea typeface="Calibri" pitchFamily="34" charset="-122"/>
                <a:cs typeface="Calibri" pitchFamily="34" charset="-120"/>
              </a:rPr>
              <a:t>the wave becomes a signal</a:t>
            </a:r>
            <a:endParaRPr lang="en-US" sz="1250" dirty="0"/>
          </a:p>
        </p:txBody>
      </p:sp>
      <p:sp>
        <p:nvSpPr>
          <p:cNvPr id="15" name="Shape 11"/>
          <p:cNvSpPr/>
          <p:nvPr/>
        </p:nvSpPr>
        <p:spPr>
          <a:xfrm>
            <a:off x="7772400" y="2061972"/>
            <a:ext cx="457200" cy="219456"/>
          </a:xfrm>
          <a:prstGeom prst="rightArrow">
            <a:avLst/>
          </a:prstGeom>
          <a:solidFill>
            <a:srgbClr val="5B7286">
              <a:alpha val="55000"/>
            </a:srgbClr>
          </a:solidFill>
          <a:ln/>
        </p:spPr>
      </p:sp>
      <p:sp>
        <p:nvSpPr>
          <p:cNvPr id="16" name="Shape 12"/>
          <p:cNvSpPr/>
          <p:nvPr/>
        </p:nvSpPr>
        <p:spPr>
          <a:xfrm>
            <a:off x="8449056" y="1371600"/>
            <a:ext cx="3063240" cy="1600200"/>
          </a:xfrm>
          <a:prstGeom prst="roundRect">
            <a:avLst>
              <a:gd name="adj" fmla="val 5714"/>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7" name="Shape 13"/>
          <p:cNvSpPr/>
          <p:nvPr/>
        </p:nvSpPr>
        <p:spPr>
          <a:xfrm>
            <a:off x="8650224" y="1851660"/>
            <a:ext cx="640080" cy="640080"/>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18" name="Image 2" descr="C:\Users\MShaheen\Documents\parkinsons_voice_project\report\defence\figs\t_grid.png"/>
          <p:cNvPicPr>
            <a:picLocks noChangeAspect="1"/>
          </p:cNvPicPr>
          <p:nvPr/>
        </p:nvPicPr>
        <p:blipFill>
          <a:blip r:embed="rId6"/>
          <a:stretch>
            <a:fillRect/>
          </a:stretch>
        </p:blipFill>
        <p:spPr>
          <a:xfrm>
            <a:off x="8816645" y="2018081"/>
            <a:ext cx="307238" cy="307238"/>
          </a:xfrm>
          <a:prstGeom prst="rect">
            <a:avLst/>
          </a:prstGeom>
        </p:spPr>
      </p:pic>
      <p:sp>
        <p:nvSpPr>
          <p:cNvPr id="19" name="Text 14"/>
          <p:cNvSpPr txBox="1"/>
          <p:nvPr/>
        </p:nvSpPr>
        <p:spPr>
          <a:xfrm>
            <a:off x="9409176" y="1572768"/>
            <a:ext cx="1965960" cy="457200"/>
          </a:xfrm>
          <a:prstGeom prst="rect">
            <a:avLst/>
          </a:prstGeom>
          <a:noFill/>
          <a:ln/>
        </p:spPr>
        <p:txBody>
          <a:bodyPr wrap="square" lIns="0" tIns="0" rIns="0" bIns="0" rtlCol="0" anchor="ctr"/>
          <a:lstStyle/>
          <a:p>
            <a:pPr marL="0" indent="0">
              <a:buNone/>
            </a:pPr>
            <a:r>
              <a:rPr lang="en-US" sz="1800" b="1" dirty="0">
                <a:solidFill>
                  <a:srgbClr val="16324A"/>
                </a:solidFill>
                <a:latin typeface="Cambria" pitchFamily="34" charset="0"/>
                <a:ea typeface="Cambria" pitchFamily="34" charset="-122"/>
                <a:cs typeface="Cambria" pitchFamily="34" charset="-120"/>
              </a:rPr>
              <a:t>ADC</a:t>
            </a:r>
            <a:endParaRPr lang="en-US" sz="1800" dirty="0"/>
          </a:p>
        </p:txBody>
      </p:sp>
      <p:sp>
        <p:nvSpPr>
          <p:cNvPr id="20" name="Text 15"/>
          <p:cNvSpPr txBox="1"/>
          <p:nvPr/>
        </p:nvSpPr>
        <p:spPr>
          <a:xfrm>
            <a:off x="9409176" y="2057400"/>
            <a:ext cx="1965960" cy="777240"/>
          </a:xfrm>
          <a:prstGeom prst="rect">
            <a:avLst/>
          </a:prstGeom>
          <a:noFill/>
          <a:ln/>
        </p:spPr>
        <p:txBody>
          <a:bodyPr wrap="square" lIns="0" tIns="0" rIns="0" bIns="0" rtlCol="0" anchor="ctr"/>
          <a:lstStyle/>
          <a:p>
            <a:pPr marL="0" indent="0">
              <a:buNone/>
            </a:pPr>
            <a:r>
              <a:rPr lang="en-US" sz="1250" dirty="0">
                <a:solidFill>
                  <a:srgbClr val="5B7286"/>
                </a:solidFill>
                <a:latin typeface="Calibri" pitchFamily="34" charset="0"/>
                <a:ea typeface="Calibri" pitchFamily="34" charset="-122"/>
                <a:cs typeface="Calibri" pitchFamily="34" charset="-120"/>
              </a:rPr>
              <a:t>measures it 44,100 times</a:t>
            </a:r>
            <a:endParaRPr lang="en-US" sz="1250" dirty="0"/>
          </a:p>
          <a:p>
            <a:pPr marL="0" indent="0">
              <a:buNone/>
            </a:pPr>
            <a:r>
              <a:rPr lang="en-US" sz="1250" dirty="0">
                <a:solidFill>
                  <a:srgbClr val="5B7286"/>
                </a:solidFill>
                <a:latin typeface="Calibri" pitchFamily="34" charset="0"/>
                <a:ea typeface="Calibri" pitchFamily="34" charset="-122"/>
                <a:cs typeface="Calibri" pitchFamily="34" charset="-120"/>
              </a:rPr>
              <a:t>every second</a:t>
            </a:r>
            <a:endParaRPr lang="en-US" sz="1250" dirty="0"/>
          </a:p>
        </p:txBody>
      </p:sp>
      <p:pic>
        <p:nvPicPr>
          <p:cNvPr id="21" name="Image 3" descr="C:\Users\MShaheen\Documents\parkinsons_voice_project\report\defence\figs\adc_wave.png"/>
          <p:cNvPicPr>
            <a:picLocks noChangeAspect="1"/>
          </p:cNvPicPr>
          <p:nvPr/>
        </p:nvPicPr>
        <p:blipFill>
          <a:blip r:embed="rId7"/>
          <a:stretch>
            <a:fillRect/>
          </a:stretch>
        </p:blipFill>
        <p:spPr>
          <a:xfrm>
            <a:off x="2011680" y="3291840"/>
            <a:ext cx="8138160" cy="2441448"/>
          </a:xfrm>
          <a:prstGeom prst="rect">
            <a:avLst/>
          </a:prstGeom>
        </p:spPr>
      </p:pic>
      <p:sp>
        <p:nvSpPr>
          <p:cNvPr id="22" name="Text 16"/>
          <p:cNvSpPr txBox="1"/>
          <p:nvPr/>
        </p:nvSpPr>
        <p:spPr>
          <a:xfrm>
            <a:off x="822960" y="5897880"/>
            <a:ext cx="10543032" cy="411480"/>
          </a:xfrm>
          <a:prstGeom prst="rect">
            <a:avLst/>
          </a:prstGeom>
          <a:noFill/>
          <a:ln/>
        </p:spPr>
        <p:txBody>
          <a:bodyPr wrap="square" lIns="0" tIns="0" rIns="0" bIns="0" rtlCol="0" anchor="ctr"/>
          <a:lstStyle/>
          <a:p>
            <a:pPr marL="0" indent="0" algn="ctr">
              <a:buNone/>
            </a:pPr>
            <a:r>
              <a:rPr lang="en-US" sz="1500" b="1" dirty="0">
                <a:solidFill>
                  <a:srgbClr val="028090"/>
                </a:solidFill>
                <a:latin typeface="Calibri" pitchFamily="34" charset="0"/>
                <a:ea typeface="Calibri" pitchFamily="34" charset="-122"/>
                <a:cs typeface="Calibri" pitchFamily="34" charset="-120"/>
              </a:rPr>
              <a:t>analog wave</a:t>
            </a:r>
            <a:r>
              <a:rPr lang="en-US" sz="1500" dirty="0">
                <a:solidFill>
                  <a:srgbClr val="5B7286"/>
                </a:solidFill>
                <a:latin typeface="Calibri" pitchFamily="34" charset="0"/>
                <a:ea typeface="Calibri" pitchFamily="34" charset="-122"/>
                <a:cs typeface="Calibri" pitchFamily="34" charset="-120"/>
              </a:rPr>
              <a:t>        →        </a:t>
            </a:r>
            <a:r>
              <a:rPr lang="en-US" sz="1500" b="1" dirty="0">
                <a:solidFill>
                  <a:srgbClr val="E85A5A"/>
                </a:solidFill>
                <a:latin typeface="Calibri" pitchFamily="34" charset="0"/>
                <a:ea typeface="Calibri" pitchFamily="34" charset="-122"/>
                <a:cs typeface="Calibri" pitchFamily="34" charset="-120"/>
              </a:rPr>
              <a:t>samples: one number each</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nodeType="withEffect">
                                  <p:stCondLst>
                                    <p:cond delay="20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216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228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nodeType="withEffect">
                                  <p:stCondLst>
                                    <p:cond delay="240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240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13" grpId="0" animBg="1"/>
      <p:bldP spid="14" grpId="0" animBg="1"/>
      <p:bldP spid="19" grpId="0" animBg="1"/>
      <p:bldP spid="20" grpId="0" animBg="1"/>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marL="0" indent="0" algn="l">
              <a:buNone/>
            </a:pPr>
            <a:r>
              <a:rPr lang="en-US" sz="3000" b="1" dirty="0">
                <a:solidFill>
                  <a:srgbClr val="16324A"/>
                </a:solidFill>
                <a:latin typeface="Cambria" pitchFamily="34" charset="0"/>
                <a:ea typeface="Cambria" pitchFamily="34" charset="-122"/>
                <a:cs typeface="Cambria" pitchFamily="34" charset="-120"/>
              </a:rPr>
              <a:t>One channel, no compression</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marL="0" indent="0" algn="r">
              <a:buNone/>
            </a:pPr>
            <a:r>
              <a:rPr lang="en-US" sz="1000" dirty="0">
                <a:solidFill>
                  <a:srgbClr val="5B7286"/>
                </a:solidFill>
                <a:latin typeface="Calibri" pitchFamily="34" charset="0"/>
                <a:ea typeface="Calibri" pitchFamily="34" charset="-122"/>
                <a:cs typeface="Calibri" pitchFamily="34" charset="-120"/>
              </a:rPr>
              <a:t>7</a:t>
            </a:r>
            <a:endParaRPr lang="en-US" sz="1000" dirty="0"/>
          </a:p>
        </p:txBody>
      </p:sp>
      <p:sp>
        <p:nvSpPr>
          <p:cNvPr id="4" name="Shape 2"/>
          <p:cNvSpPr/>
          <p:nvPr/>
        </p:nvSpPr>
        <p:spPr>
          <a:xfrm>
            <a:off x="699516" y="1737360"/>
            <a:ext cx="5074920" cy="2377440"/>
          </a:xfrm>
          <a:prstGeom prst="roundRect">
            <a:avLst>
              <a:gd name="adj" fmla="val 3846"/>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5" name="Shape 3"/>
          <p:cNvSpPr/>
          <p:nvPr/>
        </p:nvSpPr>
        <p:spPr>
          <a:xfrm>
            <a:off x="2852928" y="1353312"/>
            <a:ext cx="768096" cy="768096"/>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6" name="Image 0" descr="C:\Users\MShaheen\Documents\parkinsons_voice_project\report\defence\figs\t_volume.png"/>
          <p:cNvPicPr>
            <a:picLocks noChangeAspect="1"/>
          </p:cNvPicPr>
          <p:nvPr/>
        </p:nvPicPr>
        <p:blipFill>
          <a:blip r:embed="rId4"/>
          <a:stretch>
            <a:fillRect/>
          </a:stretch>
        </p:blipFill>
        <p:spPr>
          <a:xfrm>
            <a:off x="3052633" y="1553017"/>
            <a:ext cx="368686" cy="368686"/>
          </a:xfrm>
          <a:prstGeom prst="rect">
            <a:avLst/>
          </a:prstGeom>
        </p:spPr>
      </p:pic>
      <p:sp>
        <p:nvSpPr>
          <p:cNvPr id="7" name="Text 4"/>
          <p:cNvSpPr txBox="1"/>
          <p:nvPr/>
        </p:nvSpPr>
        <p:spPr>
          <a:xfrm>
            <a:off x="699516" y="2286000"/>
            <a:ext cx="5074920" cy="548640"/>
          </a:xfrm>
          <a:prstGeom prst="rect">
            <a:avLst/>
          </a:prstGeom>
          <a:noFill/>
          <a:ln/>
        </p:spPr>
        <p:txBody>
          <a:bodyPr wrap="square" lIns="0" tIns="0" rIns="0" bIns="0" rtlCol="0" anchor="ctr"/>
          <a:lstStyle/>
          <a:p>
            <a:pPr marL="0" indent="0" algn="ctr">
              <a:buNone/>
            </a:pPr>
            <a:r>
              <a:rPr lang="en-US" sz="2600" b="1" dirty="0">
                <a:solidFill>
                  <a:srgbClr val="16324A"/>
                </a:solidFill>
                <a:latin typeface="Cambria" pitchFamily="34" charset="0"/>
                <a:ea typeface="Cambria" pitchFamily="34" charset="-122"/>
                <a:cs typeface="Cambria" pitchFamily="34" charset="-120"/>
              </a:rPr>
              <a:t>Mono</a:t>
            </a:r>
            <a:endParaRPr lang="en-US" sz="2600" dirty="0"/>
          </a:p>
        </p:txBody>
      </p:sp>
      <p:sp>
        <p:nvSpPr>
          <p:cNvPr id="8" name="Text 5"/>
          <p:cNvSpPr txBox="1"/>
          <p:nvPr/>
        </p:nvSpPr>
        <p:spPr>
          <a:xfrm>
            <a:off x="1019556" y="2971800"/>
            <a:ext cx="4434840" cy="914400"/>
          </a:xfrm>
          <a:prstGeom prst="rect">
            <a:avLst/>
          </a:prstGeom>
          <a:noFill/>
          <a:ln/>
        </p:spPr>
        <p:txBody>
          <a:bodyPr wrap="square" lIns="0" tIns="0" rIns="0" bIns="0" rtlCol="0" anchor="ctr"/>
          <a:lstStyle/>
          <a:p>
            <a:pPr marL="0" indent="0" algn="ctr">
              <a:buNone/>
            </a:pPr>
            <a:r>
              <a:rPr lang="en-US" sz="1450" dirty="0">
                <a:solidFill>
                  <a:srgbClr val="5B7286"/>
                </a:solidFill>
                <a:latin typeface="Calibri" pitchFamily="34" charset="0"/>
                <a:ea typeface="Calibri" pitchFamily="34" charset="-122"/>
                <a:cs typeface="Calibri" pitchFamily="34" charset="-120"/>
              </a:rPr>
              <a:t>one channel = one list of numbers.</a:t>
            </a:r>
            <a:endParaRPr lang="en-US" sz="1450" dirty="0"/>
          </a:p>
          <a:p>
            <a:pPr marL="0" indent="0" algn="ctr">
              <a:buNone/>
            </a:pPr>
            <a:r>
              <a:rPr lang="en-US" sz="1450" dirty="0">
                <a:solidFill>
                  <a:srgbClr val="5B7286"/>
                </a:solidFill>
                <a:latin typeface="Calibri" pitchFamily="34" charset="0"/>
                <a:ea typeface="Calibri" pitchFamily="34" charset="-122"/>
                <a:cs typeface="Calibri" pitchFamily="34" charset="-120"/>
              </a:rPr>
              <a:t>We study one voice, so one list is enough.</a:t>
            </a:r>
            <a:endParaRPr lang="en-US" sz="1450" dirty="0"/>
          </a:p>
        </p:txBody>
      </p:sp>
      <p:sp>
        <p:nvSpPr>
          <p:cNvPr id="9" name="Shape 6"/>
          <p:cNvSpPr/>
          <p:nvPr/>
        </p:nvSpPr>
        <p:spPr>
          <a:xfrm>
            <a:off x="6414516" y="1737360"/>
            <a:ext cx="5074920" cy="2377440"/>
          </a:xfrm>
          <a:prstGeom prst="roundRect">
            <a:avLst>
              <a:gd name="adj" fmla="val 3846"/>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0" name="Shape 7"/>
          <p:cNvSpPr/>
          <p:nvPr/>
        </p:nvSpPr>
        <p:spPr>
          <a:xfrm>
            <a:off x="8567928" y="1353312"/>
            <a:ext cx="768096" cy="768096"/>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11" name="Image 1" descr="C:\Users\MShaheen\Documents\parkinsons_voice_project\report\defence\figs\t_wavfile.png"/>
          <p:cNvPicPr>
            <a:picLocks noChangeAspect="1"/>
          </p:cNvPicPr>
          <p:nvPr/>
        </p:nvPicPr>
        <p:blipFill>
          <a:blip r:embed="rId5"/>
          <a:stretch>
            <a:fillRect/>
          </a:stretch>
        </p:blipFill>
        <p:spPr>
          <a:xfrm>
            <a:off x="8767633" y="1553017"/>
            <a:ext cx="368686" cy="368686"/>
          </a:xfrm>
          <a:prstGeom prst="rect">
            <a:avLst/>
          </a:prstGeom>
        </p:spPr>
      </p:pic>
      <p:sp>
        <p:nvSpPr>
          <p:cNvPr id="12" name="Text 8"/>
          <p:cNvSpPr txBox="1"/>
          <p:nvPr/>
        </p:nvSpPr>
        <p:spPr>
          <a:xfrm>
            <a:off x="6414516" y="2286000"/>
            <a:ext cx="5074920" cy="548640"/>
          </a:xfrm>
          <a:prstGeom prst="rect">
            <a:avLst/>
          </a:prstGeom>
          <a:noFill/>
          <a:ln/>
        </p:spPr>
        <p:txBody>
          <a:bodyPr wrap="square" lIns="0" tIns="0" rIns="0" bIns="0" rtlCol="0" anchor="ctr"/>
          <a:lstStyle/>
          <a:p>
            <a:pPr marL="0" indent="0" algn="ctr">
              <a:buNone/>
            </a:pPr>
            <a:r>
              <a:rPr lang="en-US" sz="2600" b="1" dirty="0">
                <a:solidFill>
                  <a:srgbClr val="16324A"/>
                </a:solidFill>
                <a:latin typeface="Cambria" pitchFamily="34" charset="0"/>
                <a:ea typeface="Cambria" pitchFamily="34" charset="-122"/>
                <a:cs typeface="Cambria" pitchFamily="34" charset="-120"/>
              </a:rPr>
              <a:t>WAV file</a:t>
            </a:r>
            <a:endParaRPr lang="en-US" sz="2600" dirty="0"/>
          </a:p>
        </p:txBody>
      </p:sp>
      <p:sp>
        <p:nvSpPr>
          <p:cNvPr id="13" name="Text 9"/>
          <p:cNvSpPr txBox="1"/>
          <p:nvPr/>
        </p:nvSpPr>
        <p:spPr>
          <a:xfrm>
            <a:off x="6734556" y="2971800"/>
            <a:ext cx="4434840" cy="914400"/>
          </a:xfrm>
          <a:prstGeom prst="rect">
            <a:avLst/>
          </a:prstGeom>
          <a:noFill/>
          <a:ln/>
        </p:spPr>
        <p:txBody>
          <a:bodyPr wrap="square" lIns="0" tIns="0" rIns="0" bIns="0" rtlCol="0" anchor="ctr"/>
          <a:lstStyle/>
          <a:p>
            <a:pPr marL="0" indent="0" algn="ctr">
              <a:buNone/>
            </a:pPr>
            <a:r>
              <a:rPr lang="en-US" sz="1450" dirty="0">
                <a:solidFill>
                  <a:srgbClr val="5B7286"/>
                </a:solidFill>
                <a:latin typeface="Calibri" pitchFamily="34" charset="0"/>
                <a:ea typeface="Calibri" pitchFamily="34" charset="-122"/>
                <a:cs typeface="Calibri" pitchFamily="34" charset="-120"/>
              </a:rPr>
              <a:t>keeps every number exactly as recorded.</a:t>
            </a:r>
            <a:endParaRPr lang="en-US" sz="1450" dirty="0"/>
          </a:p>
          <a:p>
            <a:pPr marL="0" indent="0" algn="ctr">
              <a:buNone/>
            </a:pPr>
            <a:r>
              <a:rPr lang="en-US" sz="1450" dirty="0">
                <a:solidFill>
                  <a:srgbClr val="5B7286"/>
                </a:solidFill>
                <a:latin typeface="Calibri" pitchFamily="34" charset="0"/>
                <a:ea typeface="Calibri" pitchFamily="34" charset="-122"/>
                <a:cs typeface="Calibri" pitchFamily="34" charset="-120"/>
              </a:rPr>
              <a:t>Nothing is deleted, nothing is lost.</a:t>
            </a:r>
            <a:endParaRPr lang="en-US" sz="1450" dirty="0"/>
          </a:p>
        </p:txBody>
      </p:sp>
      <p:sp>
        <p:nvSpPr>
          <p:cNvPr id="14" name="Shape 10"/>
          <p:cNvSpPr/>
          <p:nvPr/>
        </p:nvSpPr>
        <p:spPr>
          <a:xfrm>
            <a:off x="1828800" y="4572000"/>
            <a:ext cx="8531352" cy="914400"/>
          </a:xfrm>
          <a:prstGeom prst="roundRect">
            <a:avLst>
              <a:gd name="adj" fmla="val 10000"/>
            </a:avLst>
          </a:prstGeom>
          <a:solidFill>
            <a:srgbClr val="EAF4F5"/>
          </a:solidFill>
          <a:ln w="12700">
            <a:solidFill>
              <a:srgbClr val="D9E5EE"/>
            </a:solidFill>
            <a:prstDash val="solid"/>
          </a:ln>
          <a:effectLst>
            <a:outerShdw blurRad="114300" dist="38100" dir="5400000" algn="bl" rotWithShape="0">
              <a:srgbClr val="9FB4C4">
                <a:alpha val="35000"/>
              </a:srgbClr>
            </a:outerShdw>
          </a:effectLst>
        </p:spPr>
      </p:sp>
      <p:sp>
        <p:nvSpPr>
          <p:cNvPr id="15" name="Text 11"/>
          <p:cNvSpPr txBox="1"/>
          <p:nvPr/>
        </p:nvSpPr>
        <p:spPr>
          <a:xfrm>
            <a:off x="1828800" y="4572000"/>
            <a:ext cx="8531352" cy="914400"/>
          </a:xfrm>
          <a:prstGeom prst="rect">
            <a:avLst/>
          </a:prstGeom>
          <a:noFill/>
          <a:ln/>
        </p:spPr>
        <p:txBody>
          <a:bodyPr wrap="square" lIns="1905" tIns="1905" rIns="1905" bIns="1905" rtlCol="0" anchor="ctr"/>
          <a:lstStyle/>
          <a:p>
            <a:pPr marL="0" indent="0" algn="ctr">
              <a:buNone/>
            </a:pPr>
            <a:r>
              <a:rPr lang="en-US" sz="1600" dirty="0">
                <a:solidFill>
                  <a:srgbClr val="16324A"/>
                </a:solidFill>
                <a:latin typeface="Calibri" pitchFamily="34" charset="0"/>
                <a:ea typeface="Calibri" pitchFamily="34" charset="-122"/>
                <a:cs typeface="Calibri" pitchFamily="34" charset="-120"/>
              </a:rPr>
              <a:t>MP3 deletes small details to save space — and small details are </a:t>
            </a:r>
            <a:r>
              <a:rPr lang="en-US" sz="1600" b="1" dirty="0">
                <a:solidFill>
                  <a:srgbClr val="026873"/>
                </a:solidFill>
                <a:latin typeface="Calibri" pitchFamily="34" charset="0"/>
                <a:ea typeface="Calibri" pitchFamily="34" charset="-122"/>
                <a:cs typeface="Calibri" pitchFamily="34" charset="-120"/>
              </a:rPr>
              <a:t>exactly what we measure.</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12" grpId="0" animBg="1"/>
      <p:bldP spid="13"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marL="0" indent="0" algn="l">
              <a:buNone/>
            </a:pPr>
            <a:r>
              <a:rPr lang="en-US" sz="3000" b="1" dirty="0">
                <a:solidFill>
                  <a:srgbClr val="16324A"/>
                </a:solidFill>
                <a:latin typeface="Cambria" pitchFamily="34" charset="0"/>
                <a:ea typeface="Cambria" pitchFamily="34" charset="-122"/>
                <a:cs typeface="Cambria" pitchFamily="34" charset="-120"/>
              </a:rPr>
              <a:t>The data: real voices, checked first</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marL="0" indent="0" algn="r">
              <a:buNone/>
            </a:pPr>
            <a:r>
              <a:rPr lang="en-US" sz="1000" dirty="0">
                <a:solidFill>
                  <a:srgbClr val="5B7286"/>
                </a:solidFill>
                <a:latin typeface="Calibri" pitchFamily="34" charset="0"/>
                <a:ea typeface="Calibri" pitchFamily="34" charset="-122"/>
                <a:cs typeface="Calibri" pitchFamily="34" charset="-120"/>
              </a:rPr>
              <a:t>8</a:t>
            </a:r>
            <a:endParaRPr lang="en-US" sz="1000" dirty="0"/>
          </a:p>
        </p:txBody>
      </p:sp>
      <p:sp>
        <p:nvSpPr>
          <p:cNvPr id="4" name="Shape 2"/>
          <p:cNvSpPr/>
          <p:nvPr/>
        </p:nvSpPr>
        <p:spPr>
          <a:xfrm>
            <a:off x="310896" y="1645920"/>
            <a:ext cx="2514600" cy="1554480"/>
          </a:xfrm>
          <a:prstGeom prst="roundRect">
            <a:avLst>
              <a:gd name="adj" fmla="val 5882"/>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5" name="Text 3"/>
          <p:cNvSpPr txBox="1"/>
          <p:nvPr/>
        </p:nvSpPr>
        <p:spPr>
          <a:xfrm>
            <a:off x="310896" y="1828800"/>
            <a:ext cx="2514600" cy="731520"/>
          </a:xfrm>
          <a:prstGeom prst="rect">
            <a:avLst/>
          </a:prstGeom>
          <a:noFill/>
          <a:ln/>
        </p:spPr>
        <p:txBody>
          <a:bodyPr wrap="square" lIns="0" tIns="0" rIns="0" bIns="0" rtlCol="0" anchor="ctr"/>
          <a:lstStyle/>
          <a:p>
            <a:pPr marL="0" indent="0" algn="ctr">
              <a:buNone/>
            </a:pPr>
            <a:r>
              <a:rPr lang="en-US" sz="3400" b="1" dirty="0">
                <a:solidFill>
                  <a:srgbClr val="028090"/>
                </a:solidFill>
                <a:latin typeface="Cambria" pitchFamily="34" charset="0"/>
                <a:ea typeface="Cambria" pitchFamily="34" charset="-122"/>
                <a:cs typeface="Cambria" pitchFamily="34" charset="-120"/>
              </a:rPr>
              <a:t>37</a:t>
            </a:r>
            <a:endParaRPr lang="en-US" sz="3400" dirty="0"/>
          </a:p>
        </p:txBody>
      </p:sp>
      <p:sp>
        <p:nvSpPr>
          <p:cNvPr id="6" name="Text 4"/>
          <p:cNvSpPr txBox="1"/>
          <p:nvPr/>
        </p:nvSpPr>
        <p:spPr>
          <a:xfrm>
            <a:off x="310896" y="2606040"/>
            <a:ext cx="2514600" cy="411480"/>
          </a:xfrm>
          <a:prstGeom prst="rect">
            <a:avLst/>
          </a:prstGeom>
          <a:noFill/>
          <a:ln/>
        </p:spPr>
        <p:txBody>
          <a:bodyPr wrap="square" lIns="0" tIns="0" rIns="0" bIns="0" rtlCol="0" anchor="ctr"/>
          <a:lstStyle/>
          <a:p>
            <a:pPr marL="0" indent="0" algn="ctr">
              <a:buNone/>
            </a:pPr>
            <a:r>
              <a:rPr lang="en-US" sz="1350" dirty="0">
                <a:solidFill>
                  <a:srgbClr val="5B7286"/>
                </a:solidFill>
                <a:latin typeface="Calibri" pitchFamily="34" charset="0"/>
                <a:ea typeface="Calibri" pitchFamily="34" charset="-122"/>
                <a:cs typeface="Calibri" pitchFamily="34" charset="-120"/>
              </a:rPr>
              <a:t>people</a:t>
            </a:r>
            <a:endParaRPr lang="en-US" sz="1350" dirty="0"/>
          </a:p>
        </p:txBody>
      </p:sp>
      <p:sp>
        <p:nvSpPr>
          <p:cNvPr id="7" name="Shape 5"/>
          <p:cNvSpPr/>
          <p:nvPr/>
        </p:nvSpPr>
        <p:spPr>
          <a:xfrm>
            <a:off x="3328416" y="1645920"/>
            <a:ext cx="2514600" cy="1554480"/>
          </a:xfrm>
          <a:prstGeom prst="roundRect">
            <a:avLst>
              <a:gd name="adj" fmla="val 5882"/>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8" name="Text 6"/>
          <p:cNvSpPr txBox="1"/>
          <p:nvPr/>
        </p:nvSpPr>
        <p:spPr>
          <a:xfrm>
            <a:off x="3328416" y="1828800"/>
            <a:ext cx="2514600" cy="731520"/>
          </a:xfrm>
          <a:prstGeom prst="rect">
            <a:avLst/>
          </a:prstGeom>
          <a:noFill/>
          <a:ln/>
        </p:spPr>
        <p:txBody>
          <a:bodyPr wrap="square" lIns="0" tIns="0" rIns="0" bIns="0" rtlCol="0" anchor="ctr"/>
          <a:lstStyle/>
          <a:p>
            <a:pPr marL="0" indent="0" algn="ctr">
              <a:buNone/>
            </a:pPr>
            <a:r>
              <a:rPr lang="en-US" sz="3400" b="1" dirty="0">
                <a:solidFill>
                  <a:srgbClr val="028090"/>
                </a:solidFill>
                <a:latin typeface="Cambria" pitchFamily="34" charset="0"/>
                <a:ea typeface="Cambria" pitchFamily="34" charset="-122"/>
                <a:cs typeface="Cambria" pitchFamily="34" charset="-120"/>
              </a:rPr>
              <a:t>21 / 16</a:t>
            </a:r>
            <a:endParaRPr lang="en-US" sz="3400" dirty="0"/>
          </a:p>
        </p:txBody>
      </p:sp>
      <p:sp>
        <p:nvSpPr>
          <p:cNvPr id="9" name="Text 7"/>
          <p:cNvSpPr txBox="1"/>
          <p:nvPr/>
        </p:nvSpPr>
        <p:spPr>
          <a:xfrm>
            <a:off x="3328416" y="2606040"/>
            <a:ext cx="2514600" cy="411480"/>
          </a:xfrm>
          <a:prstGeom prst="rect">
            <a:avLst/>
          </a:prstGeom>
          <a:noFill/>
          <a:ln/>
        </p:spPr>
        <p:txBody>
          <a:bodyPr wrap="square" lIns="0" tIns="0" rIns="0" bIns="0" rtlCol="0" anchor="ctr"/>
          <a:lstStyle/>
          <a:p>
            <a:pPr marL="0" indent="0" algn="ctr">
              <a:buNone/>
            </a:pPr>
            <a:r>
              <a:rPr lang="en-US" sz="1350" dirty="0">
                <a:solidFill>
                  <a:srgbClr val="5B7286"/>
                </a:solidFill>
                <a:latin typeface="Calibri" pitchFamily="34" charset="0"/>
                <a:ea typeface="Calibri" pitchFamily="34" charset="-122"/>
                <a:cs typeface="Calibri" pitchFamily="34" charset="-120"/>
              </a:rPr>
              <a:t>healthy / Parkinson's</a:t>
            </a:r>
            <a:endParaRPr lang="en-US" sz="1350" dirty="0"/>
          </a:p>
        </p:txBody>
      </p:sp>
      <p:sp>
        <p:nvSpPr>
          <p:cNvPr id="10" name="Shape 8"/>
          <p:cNvSpPr/>
          <p:nvPr/>
        </p:nvSpPr>
        <p:spPr>
          <a:xfrm>
            <a:off x="6345936" y="1645920"/>
            <a:ext cx="2514600" cy="1554480"/>
          </a:xfrm>
          <a:prstGeom prst="roundRect">
            <a:avLst>
              <a:gd name="adj" fmla="val 5882"/>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1" name="Text 9"/>
          <p:cNvSpPr txBox="1"/>
          <p:nvPr/>
        </p:nvSpPr>
        <p:spPr>
          <a:xfrm>
            <a:off x="6345936" y="1828800"/>
            <a:ext cx="2514600" cy="731520"/>
          </a:xfrm>
          <a:prstGeom prst="rect">
            <a:avLst/>
          </a:prstGeom>
          <a:noFill/>
          <a:ln/>
        </p:spPr>
        <p:txBody>
          <a:bodyPr wrap="square" lIns="0" tIns="0" rIns="0" bIns="0" rtlCol="0" anchor="ctr"/>
          <a:lstStyle/>
          <a:p>
            <a:pPr marL="0" indent="0" algn="ctr">
              <a:buNone/>
            </a:pPr>
            <a:r>
              <a:rPr lang="en-US" sz="3400" b="1" dirty="0">
                <a:solidFill>
                  <a:srgbClr val="028090"/>
                </a:solidFill>
                <a:latin typeface="Cambria" pitchFamily="34" charset="0"/>
                <a:ea typeface="Cambria" pitchFamily="34" charset="-122"/>
                <a:cs typeface="Cambria" pitchFamily="34" charset="-120"/>
              </a:rPr>
              <a:t>73</a:t>
            </a:r>
            <a:endParaRPr lang="en-US" sz="3400" dirty="0"/>
          </a:p>
        </p:txBody>
      </p:sp>
      <p:sp>
        <p:nvSpPr>
          <p:cNvPr id="12" name="Text 10"/>
          <p:cNvSpPr txBox="1"/>
          <p:nvPr/>
        </p:nvSpPr>
        <p:spPr>
          <a:xfrm>
            <a:off x="6345936" y="2606040"/>
            <a:ext cx="2514600" cy="411480"/>
          </a:xfrm>
          <a:prstGeom prst="rect">
            <a:avLst/>
          </a:prstGeom>
          <a:noFill/>
          <a:ln/>
        </p:spPr>
        <p:txBody>
          <a:bodyPr wrap="square" lIns="0" tIns="0" rIns="0" bIns="0" rtlCol="0" anchor="ctr"/>
          <a:lstStyle/>
          <a:p>
            <a:pPr marL="0" indent="0" algn="ctr">
              <a:buNone/>
            </a:pPr>
            <a:r>
              <a:rPr lang="en-US" sz="1350" dirty="0">
                <a:solidFill>
                  <a:srgbClr val="5B7286"/>
                </a:solidFill>
                <a:latin typeface="Calibri" pitchFamily="34" charset="0"/>
                <a:ea typeface="Calibri" pitchFamily="34" charset="-122"/>
                <a:cs typeface="Calibri" pitchFamily="34" charset="-120"/>
              </a:rPr>
              <a:t>recordings</a:t>
            </a:r>
            <a:endParaRPr lang="en-US" sz="1350" dirty="0"/>
          </a:p>
        </p:txBody>
      </p:sp>
      <p:sp>
        <p:nvSpPr>
          <p:cNvPr id="13" name="Shape 11"/>
          <p:cNvSpPr/>
          <p:nvPr/>
        </p:nvSpPr>
        <p:spPr>
          <a:xfrm>
            <a:off x="9363456" y="1645920"/>
            <a:ext cx="2514600" cy="1554480"/>
          </a:xfrm>
          <a:prstGeom prst="roundRect">
            <a:avLst>
              <a:gd name="adj" fmla="val 5882"/>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4" name="Text 12"/>
          <p:cNvSpPr txBox="1"/>
          <p:nvPr/>
        </p:nvSpPr>
        <p:spPr>
          <a:xfrm>
            <a:off x="9363456" y="1828800"/>
            <a:ext cx="2514600" cy="731520"/>
          </a:xfrm>
          <a:prstGeom prst="rect">
            <a:avLst/>
          </a:prstGeom>
          <a:noFill/>
          <a:ln/>
        </p:spPr>
        <p:txBody>
          <a:bodyPr wrap="square" lIns="0" tIns="0" rIns="0" bIns="0" rtlCol="0" anchor="ctr"/>
          <a:lstStyle/>
          <a:p>
            <a:pPr marL="0" indent="0" algn="ctr">
              <a:buNone/>
            </a:pPr>
            <a:r>
              <a:rPr lang="en-US" sz="3400" b="1" dirty="0">
                <a:solidFill>
                  <a:srgbClr val="028090"/>
                </a:solidFill>
                <a:latin typeface="Cambria" pitchFamily="34" charset="0"/>
                <a:ea typeface="Cambria" pitchFamily="34" charset="-122"/>
                <a:cs typeface="Cambria" pitchFamily="34" charset="-120"/>
              </a:rPr>
              <a:t>~2 min</a:t>
            </a:r>
            <a:endParaRPr lang="en-US" sz="3400" dirty="0"/>
          </a:p>
        </p:txBody>
      </p:sp>
      <p:sp>
        <p:nvSpPr>
          <p:cNvPr id="15" name="Text 13"/>
          <p:cNvSpPr txBox="1"/>
          <p:nvPr/>
        </p:nvSpPr>
        <p:spPr>
          <a:xfrm>
            <a:off x="9363456" y="2606040"/>
            <a:ext cx="2514600" cy="411480"/>
          </a:xfrm>
          <a:prstGeom prst="rect">
            <a:avLst/>
          </a:prstGeom>
          <a:noFill/>
          <a:ln/>
        </p:spPr>
        <p:txBody>
          <a:bodyPr wrap="square" lIns="0" tIns="0" rIns="0" bIns="0" rtlCol="0" anchor="ctr"/>
          <a:lstStyle/>
          <a:p>
            <a:pPr marL="0" indent="0" algn="ctr">
              <a:buNone/>
            </a:pPr>
            <a:r>
              <a:rPr lang="en-US" sz="1350" dirty="0">
                <a:solidFill>
                  <a:srgbClr val="5B7286"/>
                </a:solidFill>
                <a:latin typeface="Calibri" pitchFamily="34" charset="0"/>
                <a:ea typeface="Calibri" pitchFamily="34" charset="-122"/>
                <a:cs typeface="Calibri" pitchFamily="34" charset="-120"/>
              </a:rPr>
              <a:t>each, on a phone</a:t>
            </a:r>
            <a:endParaRPr lang="en-US" sz="1350" dirty="0"/>
          </a:p>
        </p:txBody>
      </p:sp>
      <p:sp>
        <p:nvSpPr>
          <p:cNvPr id="16" name="Shape 14"/>
          <p:cNvSpPr/>
          <p:nvPr/>
        </p:nvSpPr>
        <p:spPr>
          <a:xfrm>
            <a:off x="1234440" y="3886200"/>
            <a:ext cx="640080" cy="640080"/>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17" name="Image 0" descr="C:\Users\MShaheen\Documents\parkinsons_voice_project\report\defence\figs\t_db.png"/>
          <p:cNvPicPr>
            <a:picLocks noChangeAspect="1"/>
          </p:cNvPicPr>
          <p:nvPr/>
        </p:nvPicPr>
        <p:blipFill>
          <a:blip r:embed="rId4"/>
          <a:stretch>
            <a:fillRect/>
          </a:stretch>
        </p:blipFill>
        <p:spPr>
          <a:xfrm>
            <a:off x="1400861" y="4052621"/>
            <a:ext cx="307238" cy="307238"/>
          </a:xfrm>
          <a:prstGeom prst="rect">
            <a:avLst/>
          </a:prstGeom>
        </p:spPr>
      </p:pic>
      <p:sp>
        <p:nvSpPr>
          <p:cNvPr id="18" name="Text 15"/>
          <p:cNvSpPr txBox="1"/>
          <p:nvPr/>
        </p:nvSpPr>
        <p:spPr>
          <a:xfrm>
            <a:off x="2103120" y="3794760"/>
            <a:ext cx="9079992" cy="914400"/>
          </a:xfrm>
          <a:prstGeom prst="rect">
            <a:avLst/>
          </a:prstGeom>
          <a:noFill/>
          <a:ln/>
        </p:spPr>
        <p:txBody>
          <a:bodyPr wrap="square" lIns="0" tIns="0" rIns="0" bIns="0" rtlCol="0" anchor="ctr"/>
          <a:lstStyle/>
          <a:p>
            <a:pPr marL="0" indent="0" algn="l">
              <a:buNone/>
            </a:pPr>
            <a:r>
              <a:rPr lang="en-US" sz="1500" b="1" dirty="0">
                <a:solidFill>
                  <a:srgbClr val="16324A"/>
                </a:solidFill>
                <a:latin typeface="Calibri" pitchFamily="34" charset="0"/>
                <a:ea typeface="Calibri" pitchFamily="34" charset="-122"/>
                <a:cs typeface="Calibri" pitchFamily="34" charset="-120"/>
              </a:rPr>
              <a:t>MDVR-KCL</a:t>
            </a:r>
            <a:r>
              <a:rPr lang="en-US" sz="1500" dirty="0">
                <a:solidFill>
                  <a:srgbClr val="5B7286"/>
                </a:solidFill>
                <a:latin typeface="Calibri" pitchFamily="34" charset="0"/>
                <a:ea typeface="Calibri" pitchFamily="34" charset="-122"/>
                <a:cs typeface="Calibri" pitchFamily="34" charset="-120"/>
              </a:rPr>
              <a:t> — a public research dataset recorded at King's College London.</a:t>
            </a:r>
            <a:endParaRPr lang="en-US" sz="1500" dirty="0"/>
          </a:p>
          <a:p>
            <a:pPr marL="0" indent="0" algn="l">
              <a:buNone/>
            </a:pPr>
            <a:r>
              <a:rPr lang="en-US" sz="1500" dirty="0">
                <a:solidFill>
                  <a:srgbClr val="5B7286"/>
                </a:solidFill>
                <a:latin typeface="Calibri" pitchFamily="34" charset="0"/>
                <a:ea typeface="Calibri" pitchFamily="34" charset="-122"/>
                <a:cs typeface="Calibri" pitchFamily="34" charset="-120"/>
              </a:rPr>
              <a:t>Every file was checked before training: labels, speaker identity, no duplicates, no damage.</a:t>
            </a:r>
            <a:endParaRPr lang="en-US" sz="1500" dirty="0"/>
          </a:p>
        </p:txBody>
      </p:sp>
      <p:sp>
        <p:nvSpPr>
          <p:cNvPr id="19" name="Shape 16"/>
          <p:cNvSpPr/>
          <p:nvPr/>
        </p:nvSpPr>
        <p:spPr>
          <a:xfrm>
            <a:off x="1828800" y="5074920"/>
            <a:ext cx="8531352" cy="868680"/>
          </a:xfrm>
          <a:prstGeom prst="roundRect">
            <a:avLst>
              <a:gd name="adj" fmla="val 10526"/>
            </a:avLst>
          </a:prstGeom>
          <a:solidFill>
            <a:srgbClr val="EAF4F5"/>
          </a:solidFill>
          <a:ln w="12700">
            <a:solidFill>
              <a:srgbClr val="D9E5EE"/>
            </a:solidFill>
            <a:prstDash val="solid"/>
          </a:ln>
          <a:effectLst>
            <a:outerShdw blurRad="114300" dist="38100" dir="5400000" algn="bl" rotWithShape="0">
              <a:srgbClr val="9FB4C4">
                <a:alpha val="35000"/>
              </a:srgbClr>
            </a:outerShdw>
          </a:effectLst>
        </p:spPr>
      </p:sp>
      <p:sp>
        <p:nvSpPr>
          <p:cNvPr id="20" name="Text 17"/>
          <p:cNvSpPr txBox="1"/>
          <p:nvPr/>
        </p:nvSpPr>
        <p:spPr>
          <a:xfrm>
            <a:off x="1828800" y="5074920"/>
            <a:ext cx="8531352" cy="868680"/>
          </a:xfrm>
          <a:prstGeom prst="rect">
            <a:avLst/>
          </a:prstGeom>
          <a:noFill/>
          <a:ln/>
        </p:spPr>
        <p:txBody>
          <a:bodyPr wrap="square" lIns="1905" tIns="1905" rIns="1905" bIns="1905" rtlCol="0" anchor="ctr"/>
          <a:lstStyle/>
          <a:p>
            <a:pPr marL="0" indent="0" algn="ctr">
              <a:buNone/>
            </a:pPr>
            <a:r>
              <a:rPr lang="en-US" sz="1500" i="1" dirty="0">
                <a:solidFill>
                  <a:srgbClr val="026873"/>
                </a:solidFill>
                <a:latin typeface="Calibri" pitchFamily="34" charset="0"/>
                <a:ea typeface="Calibri" pitchFamily="34" charset="-122"/>
                <a:cs typeface="Calibri" pitchFamily="34" charset="-120"/>
              </a:rPr>
              <a:t>Each person reads a text and has a free conversation — normal speech, not sounds.</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20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nodeType="withEffect">
                                  <p:stCondLst>
                                    <p:cond delay="216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228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animBg="1"/>
      <p:bldP spid="9" grpId="0" animBg="1"/>
      <p:bldP spid="11" grpId="0" animBg="1"/>
      <p:bldP spid="12" grpId="0" animBg="1"/>
      <p:bldP spid="14" grpId="0" animBg="1"/>
      <p:bldP spid="15" grpId="0" animBg="1"/>
      <p:bldP spid="18"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marL="0" indent="0" algn="l">
              <a:buNone/>
            </a:pPr>
            <a:r>
              <a:rPr lang="en-US" sz="3000" b="1" dirty="0">
                <a:solidFill>
                  <a:srgbClr val="16324A"/>
                </a:solidFill>
                <a:latin typeface="Cambria" pitchFamily="34" charset="0"/>
                <a:ea typeface="Cambria" pitchFamily="34" charset="-122"/>
                <a:cs typeface="Cambria" pitchFamily="34" charset="-120"/>
              </a:rPr>
              <a:t>Cleaning up — five careful steps</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marL="0" indent="0" algn="r">
              <a:buNone/>
            </a:pPr>
            <a:r>
              <a:rPr lang="en-US" sz="1000" dirty="0">
                <a:solidFill>
                  <a:srgbClr val="5B7286"/>
                </a:solidFill>
                <a:latin typeface="Calibri" pitchFamily="34" charset="0"/>
                <a:ea typeface="Calibri" pitchFamily="34" charset="-122"/>
                <a:cs typeface="Calibri" pitchFamily="34" charset="-120"/>
              </a:rPr>
              <a:t>9</a:t>
            </a:r>
            <a:endParaRPr lang="en-US" sz="1000" dirty="0"/>
          </a:p>
        </p:txBody>
      </p:sp>
      <p:sp>
        <p:nvSpPr>
          <p:cNvPr id="4" name="Shape 2"/>
          <p:cNvSpPr/>
          <p:nvPr/>
        </p:nvSpPr>
        <p:spPr>
          <a:xfrm>
            <a:off x="425196" y="1600200"/>
            <a:ext cx="2011680" cy="1874520"/>
          </a:xfrm>
          <a:prstGeom prst="roundRect">
            <a:avLst>
              <a:gd name="adj" fmla="val 4878"/>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5" name="Shape 3"/>
          <p:cNvSpPr/>
          <p:nvPr/>
        </p:nvSpPr>
        <p:spPr>
          <a:xfrm>
            <a:off x="1129284" y="1298448"/>
            <a:ext cx="603504" cy="603504"/>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6" name="Image 0" descr="C:\Users\MShaheen\Documents\parkinsons_voice_project\report\defence\figs\t_volume.png"/>
          <p:cNvPicPr>
            <a:picLocks noChangeAspect="1"/>
          </p:cNvPicPr>
          <p:nvPr/>
        </p:nvPicPr>
        <p:blipFill>
          <a:blip r:embed="rId4"/>
          <a:stretch>
            <a:fillRect/>
          </a:stretch>
        </p:blipFill>
        <p:spPr>
          <a:xfrm>
            <a:off x="1286195" y="1455359"/>
            <a:ext cx="289682" cy="289682"/>
          </a:xfrm>
          <a:prstGeom prst="rect">
            <a:avLst/>
          </a:prstGeom>
        </p:spPr>
      </p:pic>
      <p:sp>
        <p:nvSpPr>
          <p:cNvPr id="7" name="Text 4"/>
          <p:cNvSpPr txBox="1"/>
          <p:nvPr/>
        </p:nvSpPr>
        <p:spPr>
          <a:xfrm>
            <a:off x="425196" y="2057400"/>
            <a:ext cx="2011680" cy="457200"/>
          </a:xfrm>
          <a:prstGeom prst="rect">
            <a:avLst/>
          </a:prstGeom>
          <a:noFill/>
          <a:ln/>
        </p:spPr>
        <p:txBody>
          <a:bodyPr wrap="square" lIns="0" tIns="0" rIns="0" bIns="0" rtlCol="0" anchor="ctr"/>
          <a:lstStyle/>
          <a:p>
            <a:pPr marL="0" indent="0" algn="ctr">
              <a:buNone/>
            </a:pPr>
            <a:r>
              <a:rPr lang="en-US" sz="1650" b="1" dirty="0">
                <a:solidFill>
                  <a:srgbClr val="16324A"/>
                </a:solidFill>
                <a:latin typeface="Cambria" pitchFamily="34" charset="0"/>
                <a:ea typeface="Cambria" pitchFamily="34" charset="-122"/>
                <a:cs typeface="Cambria" pitchFamily="34" charset="-120"/>
              </a:rPr>
              <a:t>mono</a:t>
            </a:r>
            <a:endParaRPr lang="en-US" sz="1650" dirty="0"/>
          </a:p>
        </p:txBody>
      </p:sp>
      <p:sp>
        <p:nvSpPr>
          <p:cNvPr id="8" name="Text 5"/>
          <p:cNvSpPr txBox="1"/>
          <p:nvPr/>
        </p:nvSpPr>
        <p:spPr>
          <a:xfrm>
            <a:off x="516636" y="2560320"/>
            <a:ext cx="1828800" cy="731520"/>
          </a:xfrm>
          <a:prstGeom prst="rect">
            <a:avLst/>
          </a:prstGeom>
          <a:noFill/>
          <a:ln/>
        </p:spPr>
        <p:txBody>
          <a:bodyPr wrap="square" lIns="0" tIns="0" rIns="0" bIns="0" rtlCol="0" anchor="ctr"/>
          <a:lstStyle/>
          <a:p>
            <a:pPr marL="0" indent="0" algn="ctr">
              <a:buNone/>
            </a:pPr>
            <a:r>
              <a:rPr lang="en-US" sz="1200" dirty="0">
                <a:solidFill>
                  <a:srgbClr val="5B7286"/>
                </a:solidFill>
                <a:latin typeface="Calibri" pitchFamily="34" charset="0"/>
                <a:ea typeface="Calibri" pitchFamily="34" charset="-122"/>
                <a:cs typeface="Calibri" pitchFamily="34" charset="-120"/>
              </a:rPr>
              <a:t>one channel</a:t>
            </a:r>
            <a:endParaRPr lang="en-US" sz="1200" dirty="0"/>
          </a:p>
        </p:txBody>
      </p:sp>
      <p:sp>
        <p:nvSpPr>
          <p:cNvPr id="9" name="Shape 6"/>
          <p:cNvSpPr/>
          <p:nvPr/>
        </p:nvSpPr>
        <p:spPr>
          <a:xfrm>
            <a:off x="2756916" y="1600200"/>
            <a:ext cx="2011680" cy="1874520"/>
          </a:xfrm>
          <a:prstGeom prst="roundRect">
            <a:avLst>
              <a:gd name="adj" fmla="val 4878"/>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0" name="Shape 7"/>
          <p:cNvSpPr/>
          <p:nvPr/>
        </p:nvSpPr>
        <p:spPr>
          <a:xfrm>
            <a:off x="3461004" y="1298448"/>
            <a:ext cx="603504" cy="603504"/>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11" name="Image 1" descr="C:\Users\MShaheen\Documents\parkinsons_voice_project\report\defence\figs\t_resample.png"/>
          <p:cNvPicPr>
            <a:picLocks noChangeAspect="1"/>
          </p:cNvPicPr>
          <p:nvPr/>
        </p:nvPicPr>
        <p:blipFill>
          <a:blip r:embed="rId5"/>
          <a:stretch>
            <a:fillRect/>
          </a:stretch>
        </p:blipFill>
        <p:spPr>
          <a:xfrm>
            <a:off x="3617915" y="1455359"/>
            <a:ext cx="289682" cy="289682"/>
          </a:xfrm>
          <a:prstGeom prst="rect">
            <a:avLst/>
          </a:prstGeom>
        </p:spPr>
      </p:pic>
      <p:sp>
        <p:nvSpPr>
          <p:cNvPr id="12" name="Text 8"/>
          <p:cNvSpPr txBox="1"/>
          <p:nvPr/>
        </p:nvSpPr>
        <p:spPr>
          <a:xfrm>
            <a:off x="2756916" y="2057400"/>
            <a:ext cx="2011680" cy="457200"/>
          </a:xfrm>
          <a:prstGeom prst="rect">
            <a:avLst/>
          </a:prstGeom>
          <a:noFill/>
          <a:ln/>
        </p:spPr>
        <p:txBody>
          <a:bodyPr wrap="square" lIns="0" tIns="0" rIns="0" bIns="0" rtlCol="0" anchor="ctr"/>
          <a:lstStyle/>
          <a:p>
            <a:pPr marL="0" indent="0" algn="ctr">
              <a:buNone/>
            </a:pPr>
            <a:r>
              <a:rPr lang="en-US" sz="1650" b="1" dirty="0">
                <a:solidFill>
                  <a:srgbClr val="16324A"/>
                </a:solidFill>
                <a:latin typeface="Cambria" pitchFamily="34" charset="0"/>
                <a:ea typeface="Cambria" pitchFamily="34" charset="-122"/>
                <a:cs typeface="Cambria" pitchFamily="34" charset="-120"/>
              </a:rPr>
              <a:t>44.1 kHz</a:t>
            </a:r>
            <a:endParaRPr lang="en-US" sz="1650" dirty="0"/>
          </a:p>
        </p:txBody>
      </p:sp>
      <p:sp>
        <p:nvSpPr>
          <p:cNvPr id="13" name="Text 9"/>
          <p:cNvSpPr txBox="1"/>
          <p:nvPr/>
        </p:nvSpPr>
        <p:spPr>
          <a:xfrm>
            <a:off x="2848356" y="2560320"/>
            <a:ext cx="1828800" cy="731520"/>
          </a:xfrm>
          <a:prstGeom prst="rect">
            <a:avLst/>
          </a:prstGeom>
          <a:noFill/>
          <a:ln/>
        </p:spPr>
        <p:txBody>
          <a:bodyPr wrap="square" lIns="0" tIns="0" rIns="0" bIns="0" rtlCol="0" anchor="ctr"/>
          <a:lstStyle/>
          <a:p>
            <a:pPr marL="0" indent="0" algn="ctr">
              <a:buNone/>
            </a:pPr>
            <a:r>
              <a:rPr lang="en-US" sz="1200" dirty="0">
                <a:solidFill>
                  <a:srgbClr val="5B7286"/>
                </a:solidFill>
                <a:latin typeface="Calibri" pitchFamily="34" charset="0"/>
                <a:ea typeface="Calibri" pitchFamily="34" charset="-122"/>
                <a:cs typeface="Calibri" pitchFamily="34" charset="-120"/>
              </a:rPr>
              <a:t>same clock</a:t>
            </a:r>
            <a:endParaRPr lang="en-US" sz="1200" dirty="0"/>
          </a:p>
          <a:p>
            <a:pPr marL="0" indent="0" algn="ctr">
              <a:buNone/>
            </a:pPr>
            <a:r>
              <a:rPr lang="en-US" sz="1200" dirty="0">
                <a:solidFill>
                  <a:srgbClr val="5B7286"/>
                </a:solidFill>
                <a:latin typeface="Calibri" pitchFamily="34" charset="0"/>
                <a:ea typeface="Calibri" pitchFamily="34" charset="-122"/>
                <a:cs typeface="Calibri" pitchFamily="34" charset="-120"/>
              </a:rPr>
              <a:t>for all</a:t>
            </a:r>
            <a:endParaRPr lang="en-US" sz="1200" dirty="0"/>
          </a:p>
        </p:txBody>
      </p:sp>
      <p:sp>
        <p:nvSpPr>
          <p:cNvPr id="14" name="Shape 10"/>
          <p:cNvSpPr/>
          <p:nvPr/>
        </p:nvSpPr>
        <p:spPr>
          <a:xfrm>
            <a:off x="5088636" y="1600200"/>
            <a:ext cx="2011680" cy="1874520"/>
          </a:xfrm>
          <a:prstGeom prst="roundRect">
            <a:avLst>
              <a:gd name="adj" fmla="val 4878"/>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5" name="Shape 11"/>
          <p:cNvSpPr/>
          <p:nvPr/>
        </p:nvSpPr>
        <p:spPr>
          <a:xfrm>
            <a:off x="5792724" y="1298448"/>
            <a:ext cx="603504" cy="603504"/>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16" name="Image 2" descr="C:\Users\MShaheen\Documents\parkinsons_voice_project\report\defence\figs\t_broom.png"/>
          <p:cNvPicPr>
            <a:picLocks noChangeAspect="1"/>
          </p:cNvPicPr>
          <p:nvPr/>
        </p:nvPicPr>
        <p:blipFill>
          <a:blip r:embed="rId6"/>
          <a:stretch>
            <a:fillRect/>
          </a:stretch>
        </p:blipFill>
        <p:spPr>
          <a:xfrm>
            <a:off x="5949635" y="1455359"/>
            <a:ext cx="289682" cy="289682"/>
          </a:xfrm>
          <a:prstGeom prst="rect">
            <a:avLst/>
          </a:prstGeom>
        </p:spPr>
      </p:pic>
      <p:sp>
        <p:nvSpPr>
          <p:cNvPr id="17" name="Text 12"/>
          <p:cNvSpPr txBox="1"/>
          <p:nvPr/>
        </p:nvSpPr>
        <p:spPr>
          <a:xfrm>
            <a:off x="5088636" y="2057400"/>
            <a:ext cx="2011680" cy="457200"/>
          </a:xfrm>
          <a:prstGeom prst="rect">
            <a:avLst/>
          </a:prstGeom>
          <a:noFill/>
          <a:ln/>
        </p:spPr>
        <p:txBody>
          <a:bodyPr wrap="square" lIns="0" tIns="0" rIns="0" bIns="0" rtlCol="0" anchor="ctr"/>
          <a:lstStyle/>
          <a:p>
            <a:pPr marL="0" indent="0" algn="ctr">
              <a:buNone/>
            </a:pPr>
            <a:r>
              <a:rPr lang="en-US" sz="1650" b="1" dirty="0">
                <a:solidFill>
                  <a:srgbClr val="16324A"/>
                </a:solidFill>
                <a:latin typeface="Cambria" pitchFamily="34" charset="0"/>
                <a:ea typeface="Cambria" pitchFamily="34" charset="-122"/>
                <a:cs typeface="Cambria" pitchFamily="34" charset="-120"/>
              </a:rPr>
              <a:t>remove offset</a:t>
            </a:r>
            <a:endParaRPr lang="en-US" sz="1650" dirty="0"/>
          </a:p>
        </p:txBody>
      </p:sp>
      <p:sp>
        <p:nvSpPr>
          <p:cNvPr id="18" name="Text 13"/>
          <p:cNvSpPr txBox="1"/>
          <p:nvPr/>
        </p:nvSpPr>
        <p:spPr>
          <a:xfrm>
            <a:off x="5180076" y="2560320"/>
            <a:ext cx="1828800" cy="731520"/>
          </a:xfrm>
          <a:prstGeom prst="rect">
            <a:avLst/>
          </a:prstGeom>
          <a:noFill/>
          <a:ln/>
        </p:spPr>
        <p:txBody>
          <a:bodyPr wrap="square" lIns="0" tIns="0" rIns="0" bIns="0" rtlCol="0" anchor="ctr"/>
          <a:lstStyle/>
          <a:p>
            <a:pPr marL="0" indent="0" algn="ctr">
              <a:buNone/>
            </a:pPr>
            <a:r>
              <a:rPr lang="en-US" sz="1200" dirty="0">
                <a:solidFill>
                  <a:srgbClr val="5B7286"/>
                </a:solidFill>
                <a:latin typeface="Calibri" pitchFamily="34" charset="0"/>
                <a:ea typeface="Calibri" pitchFamily="34" charset="-122"/>
                <a:cs typeface="Calibri" pitchFamily="34" charset="-120"/>
              </a:rPr>
              <a:t>center the wave</a:t>
            </a:r>
            <a:endParaRPr lang="en-US" sz="1200" dirty="0"/>
          </a:p>
        </p:txBody>
      </p:sp>
      <p:sp>
        <p:nvSpPr>
          <p:cNvPr id="19" name="Shape 14"/>
          <p:cNvSpPr/>
          <p:nvPr/>
        </p:nvSpPr>
        <p:spPr>
          <a:xfrm>
            <a:off x="7420356" y="1600200"/>
            <a:ext cx="2011680" cy="1874520"/>
          </a:xfrm>
          <a:prstGeom prst="roundRect">
            <a:avLst>
              <a:gd name="adj" fmla="val 4878"/>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20" name="Shape 15"/>
          <p:cNvSpPr/>
          <p:nvPr/>
        </p:nvSpPr>
        <p:spPr>
          <a:xfrm>
            <a:off x="8124444" y="1298448"/>
            <a:ext cx="603504" cy="603504"/>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21" name="Image 3" descr="C:\Users\MShaheen\Documents\parkinsons_voice_project\report\defence\figs\t_trim.png"/>
          <p:cNvPicPr>
            <a:picLocks noChangeAspect="1"/>
          </p:cNvPicPr>
          <p:nvPr/>
        </p:nvPicPr>
        <p:blipFill>
          <a:blip r:embed="rId7"/>
          <a:stretch>
            <a:fillRect/>
          </a:stretch>
        </p:blipFill>
        <p:spPr>
          <a:xfrm>
            <a:off x="8281355" y="1455359"/>
            <a:ext cx="289682" cy="289682"/>
          </a:xfrm>
          <a:prstGeom prst="rect">
            <a:avLst/>
          </a:prstGeom>
        </p:spPr>
      </p:pic>
      <p:sp>
        <p:nvSpPr>
          <p:cNvPr id="22" name="Text 16"/>
          <p:cNvSpPr txBox="1"/>
          <p:nvPr/>
        </p:nvSpPr>
        <p:spPr>
          <a:xfrm>
            <a:off x="7420356" y="2057400"/>
            <a:ext cx="2011680" cy="457200"/>
          </a:xfrm>
          <a:prstGeom prst="rect">
            <a:avLst/>
          </a:prstGeom>
          <a:noFill/>
          <a:ln/>
        </p:spPr>
        <p:txBody>
          <a:bodyPr wrap="square" lIns="0" tIns="0" rIns="0" bIns="0" rtlCol="0" anchor="ctr"/>
          <a:lstStyle/>
          <a:p>
            <a:pPr marL="0" indent="0" algn="ctr">
              <a:buNone/>
            </a:pPr>
            <a:r>
              <a:rPr lang="en-US" sz="1650" b="1" dirty="0">
                <a:solidFill>
                  <a:srgbClr val="16324A"/>
                </a:solidFill>
                <a:latin typeface="Cambria" pitchFamily="34" charset="0"/>
                <a:ea typeface="Cambria" pitchFamily="34" charset="-122"/>
                <a:cs typeface="Cambria" pitchFamily="34" charset="-120"/>
              </a:rPr>
              <a:t>trim silence</a:t>
            </a:r>
            <a:endParaRPr lang="en-US" sz="1650" dirty="0"/>
          </a:p>
        </p:txBody>
      </p:sp>
      <p:sp>
        <p:nvSpPr>
          <p:cNvPr id="23" name="Text 17"/>
          <p:cNvSpPr txBox="1"/>
          <p:nvPr/>
        </p:nvSpPr>
        <p:spPr>
          <a:xfrm>
            <a:off x="7511796" y="2560320"/>
            <a:ext cx="1828800" cy="731520"/>
          </a:xfrm>
          <a:prstGeom prst="rect">
            <a:avLst/>
          </a:prstGeom>
          <a:noFill/>
          <a:ln/>
        </p:spPr>
        <p:txBody>
          <a:bodyPr wrap="square" lIns="0" tIns="0" rIns="0" bIns="0" rtlCol="0" anchor="ctr"/>
          <a:lstStyle/>
          <a:p>
            <a:pPr marL="0" indent="0" algn="ctr">
              <a:buNone/>
            </a:pPr>
            <a:r>
              <a:rPr lang="en-US" sz="1200" dirty="0">
                <a:solidFill>
                  <a:srgbClr val="5B7286"/>
                </a:solidFill>
                <a:latin typeface="Calibri" pitchFamily="34" charset="0"/>
                <a:ea typeface="Calibri" pitchFamily="34" charset="-122"/>
                <a:cs typeface="Calibri" pitchFamily="34" charset="-120"/>
              </a:rPr>
              <a:t>only at the edges</a:t>
            </a:r>
            <a:endParaRPr lang="en-US" sz="1200" dirty="0"/>
          </a:p>
        </p:txBody>
      </p:sp>
      <p:sp>
        <p:nvSpPr>
          <p:cNvPr id="24" name="Shape 18"/>
          <p:cNvSpPr/>
          <p:nvPr/>
        </p:nvSpPr>
        <p:spPr>
          <a:xfrm>
            <a:off x="9752076" y="1600200"/>
            <a:ext cx="2011680" cy="1874520"/>
          </a:xfrm>
          <a:prstGeom prst="roundRect">
            <a:avLst>
              <a:gd name="adj" fmla="val 4878"/>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25" name="Shape 19"/>
          <p:cNvSpPr/>
          <p:nvPr/>
        </p:nvSpPr>
        <p:spPr>
          <a:xfrm>
            <a:off x="10456164" y="1298448"/>
            <a:ext cx="603504" cy="603504"/>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26" name="Image 4" descr="C:\Users\MShaheen\Documents\parkinsons_voice_project\report\defence\figs\t_normalize.png"/>
          <p:cNvPicPr>
            <a:picLocks noChangeAspect="1"/>
          </p:cNvPicPr>
          <p:nvPr/>
        </p:nvPicPr>
        <p:blipFill>
          <a:blip r:embed="rId8"/>
          <a:stretch>
            <a:fillRect/>
          </a:stretch>
        </p:blipFill>
        <p:spPr>
          <a:xfrm>
            <a:off x="10613075" y="1455359"/>
            <a:ext cx="289682" cy="289682"/>
          </a:xfrm>
          <a:prstGeom prst="rect">
            <a:avLst/>
          </a:prstGeom>
        </p:spPr>
      </p:pic>
      <p:sp>
        <p:nvSpPr>
          <p:cNvPr id="27" name="Text 20"/>
          <p:cNvSpPr txBox="1"/>
          <p:nvPr/>
        </p:nvSpPr>
        <p:spPr>
          <a:xfrm>
            <a:off x="9752076" y="2057400"/>
            <a:ext cx="2011680" cy="457200"/>
          </a:xfrm>
          <a:prstGeom prst="rect">
            <a:avLst/>
          </a:prstGeom>
          <a:noFill/>
          <a:ln/>
        </p:spPr>
        <p:txBody>
          <a:bodyPr wrap="square" lIns="0" tIns="0" rIns="0" bIns="0" rtlCol="0" anchor="ctr"/>
          <a:lstStyle/>
          <a:p>
            <a:pPr marL="0" indent="0" algn="ctr">
              <a:buNone/>
            </a:pPr>
            <a:r>
              <a:rPr lang="en-US" sz="1650" b="1" dirty="0">
                <a:solidFill>
                  <a:srgbClr val="16324A"/>
                </a:solidFill>
                <a:latin typeface="Cambria" pitchFamily="34" charset="0"/>
                <a:ea typeface="Cambria" pitchFamily="34" charset="-122"/>
                <a:cs typeface="Cambria" pitchFamily="34" charset="-120"/>
              </a:rPr>
              <a:t>same loudness</a:t>
            </a:r>
            <a:endParaRPr lang="en-US" sz="1650" dirty="0"/>
          </a:p>
        </p:txBody>
      </p:sp>
      <p:sp>
        <p:nvSpPr>
          <p:cNvPr id="28" name="Text 21"/>
          <p:cNvSpPr txBox="1"/>
          <p:nvPr/>
        </p:nvSpPr>
        <p:spPr>
          <a:xfrm>
            <a:off x="9843516" y="2560320"/>
            <a:ext cx="1828800" cy="731520"/>
          </a:xfrm>
          <a:prstGeom prst="rect">
            <a:avLst/>
          </a:prstGeom>
          <a:noFill/>
          <a:ln/>
        </p:spPr>
        <p:txBody>
          <a:bodyPr wrap="square" lIns="0" tIns="0" rIns="0" bIns="0" rtlCol="0" anchor="ctr"/>
          <a:lstStyle/>
          <a:p>
            <a:pPr marL="0" indent="0" algn="ctr">
              <a:buNone/>
            </a:pPr>
            <a:r>
              <a:rPr lang="en-US" sz="1200" dirty="0">
                <a:solidFill>
                  <a:srgbClr val="5B7286"/>
                </a:solidFill>
                <a:latin typeface="Calibri" pitchFamily="34" charset="0"/>
                <a:ea typeface="Calibri" pitchFamily="34" charset="-122"/>
                <a:cs typeface="Calibri" pitchFamily="34" charset="-120"/>
              </a:rPr>
              <a:t>fair comparison</a:t>
            </a:r>
            <a:endParaRPr lang="en-US" sz="1200" dirty="0"/>
          </a:p>
        </p:txBody>
      </p:sp>
      <p:sp>
        <p:nvSpPr>
          <p:cNvPr id="29" name="Shape 22"/>
          <p:cNvSpPr/>
          <p:nvPr/>
        </p:nvSpPr>
        <p:spPr>
          <a:xfrm>
            <a:off x="2148840" y="4160520"/>
            <a:ext cx="731520" cy="731520"/>
          </a:xfrm>
          <a:prstGeom prst="ellipse">
            <a:avLst/>
          </a:prstGeom>
          <a:solidFill>
            <a:srgbClr val="EAF4F5"/>
          </a:solidFill>
          <a:ln w="17780">
            <a:solidFill>
              <a:srgbClr val="E85A5A"/>
            </a:solidFill>
            <a:prstDash val="solid"/>
          </a:ln>
          <a:effectLst>
            <a:outerShdw blurRad="76200" dist="25400" dir="5400000" algn="bl" rotWithShape="0">
              <a:srgbClr val="9FB4C4">
                <a:alpha val="30000"/>
              </a:srgbClr>
            </a:outerShdw>
          </a:effectLst>
        </p:spPr>
      </p:sp>
      <p:pic>
        <p:nvPicPr>
          <p:cNvPr id="30" name="Image 5" descr="C:\Users\MShaheen\Documents\parkinsons_voice_project\report\defence\figs\t_ban.png"/>
          <p:cNvPicPr>
            <a:picLocks noChangeAspect="1"/>
          </p:cNvPicPr>
          <p:nvPr/>
        </p:nvPicPr>
        <p:blipFill>
          <a:blip r:embed="rId9"/>
          <a:stretch>
            <a:fillRect/>
          </a:stretch>
        </p:blipFill>
        <p:spPr>
          <a:xfrm>
            <a:off x="2339035" y="4350715"/>
            <a:ext cx="351130" cy="351130"/>
          </a:xfrm>
          <a:prstGeom prst="rect">
            <a:avLst/>
          </a:prstGeom>
        </p:spPr>
      </p:pic>
      <p:sp>
        <p:nvSpPr>
          <p:cNvPr id="31" name="Shape 23"/>
          <p:cNvSpPr/>
          <p:nvPr/>
        </p:nvSpPr>
        <p:spPr>
          <a:xfrm>
            <a:off x="3108960" y="4160520"/>
            <a:ext cx="7251192" cy="1234440"/>
          </a:xfrm>
          <a:prstGeom prst="roundRect">
            <a:avLst>
              <a:gd name="adj" fmla="val 7407"/>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32" name="Text 24"/>
          <p:cNvSpPr txBox="1"/>
          <p:nvPr/>
        </p:nvSpPr>
        <p:spPr>
          <a:xfrm>
            <a:off x="3108960" y="4160520"/>
            <a:ext cx="7251192" cy="1234440"/>
          </a:xfrm>
          <a:prstGeom prst="rect">
            <a:avLst/>
          </a:prstGeom>
          <a:noFill/>
          <a:ln/>
        </p:spPr>
        <p:txBody>
          <a:bodyPr wrap="square" lIns="1905" tIns="1905" rIns="1905" bIns="1905" rtlCol="0" anchor="ctr"/>
          <a:lstStyle/>
          <a:p>
            <a:pPr marL="0" indent="0" algn="l">
              <a:buNone/>
            </a:pPr>
            <a:r>
              <a:rPr lang="en-US" sz="1700" b="1" dirty="0">
                <a:solidFill>
                  <a:srgbClr val="E85A5A"/>
                </a:solidFill>
                <a:latin typeface="Calibri" pitchFamily="34" charset="0"/>
                <a:ea typeface="Calibri" pitchFamily="34" charset="-122"/>
                <a:cs typeface="Calibri" pitchFamily="34" charset="-120"/>
              </a:rPr>
              <a:t>One thing we did NOT do: remove noise.
</a:t>
            </a:r>
            <a:r>
              <a:rPr lang="en-US" sz="1450" dirty="0">
                <a:solidFill>
                  <a:srgbClr val="16324A"/>
                </a:solidFill>
                <a:latin typeface="Calibri" pitchFamily="34" charset="0"/>
                <a:ea typeface="Calibri" pitchFamily="34" charset="-122"/>
                <a:cs typeface="Calibri" pitchFamily="34" charset="-120"/>
              </a:rPr>
              <a:t>Noise-removal software smooths away irregularities — and the irregularities are the medical evidence.</a:t>
            </a:r>
            <a:endParaRPr lang="en-US" sz="17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20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nodeType="withEffect">
                                  <p:stCondLst>
                                    <p:cond delay="216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nodeType="withEffect">
                                  <p:stCondLst>
                                    <p:cond delay="228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nodeType="withEffect">
                                  <p:stCondLst>
                                    <p:cond delay="240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240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240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nodeType="withEffect">
                                  <p:stCondLst>
                                    <p:cond delay="240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nodeType="withEffect">
                                  <p:stCondLst>
                                    <p:cond delay="240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nodeType="withEffect">
                                  <p:stCondLst>
                                    <p:cond delay="240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par>
                                <p:cTn id="80" presetID="10" presetClass="entr" presetSubtype="0" fill="hold" grpId="0" nodeType="withEffect">
                                  <p:stCondLst>
                                    <p:cond delay="240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par>
                                <p:cTn id="83" presetID="10" presetClass="entr" presetSubtype="0" fill="hold" grpId="0" nodeType="withEffect">
                                  <p:stCondLst>
                                    <p:cond delay="240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childTnLst>
                                </p:cTn>
                              </p:par>
                              <p:par>
                                <p:cTn id="86" presetID="10" presetClass="entr" presetSubtype="0" fill="hold" nodeType="withEffect">
                                  <p:stCondLst>
                                    <p:cond delay="240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nodeType="withEffect">
                                  <p:stCondLst>
                                    <p:cond delay="240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par>
                                <p:cTn id="92" presetID="10" presetClass="entr" presetSubtype="0" fill="hold" nodeType="withEffect">
                                  <p:stCondLst>
                                    <p:cond delay="240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par>
                                <p:cTn id="95" presetID="10" presetClass="entr" presetSubtype="0" fill="hold" grpId="0" nodeType="withEffect">
                                  <p:stCondLst>
                                    <p:cond delay="240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12" grpId="0" animBg="1"/>
      <p:bldP spid="13" grpId="0" animBg="1"/>
      <p:bldP spid="17" grpId="0" animBg="1"/>
      <p:bldP spid="18" grpId="0" animBg="1"/>
      <p:bldP spid="22" grpId="0" animBg="1"/>
      <p:bldP spid="23" grpId="0" animBg="1"/>
      <p:bldP spid="27" grpId="0" animBg="1"/>
      <p:bldP spid="28" grpId="0" animBg="1"/>
      <p:bldP spid="3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marL="0" indent="0" algn="l">
              <a:buNone/>
            </a:pPr>
            <a:r>
              <a:rPr lang="en-US" sz="3000" b="1" dirty="0">
                <a:solidFill>
                  <a:srgbClr val="16324A"/>
                </a:solidFill>
                <a:latin typeface="Cambria" pitchFamily="34" charset="0"/>
                <a:ea typeface="Cambria" pitchFamily="34" charset="-122"/>
                <a:cs typeface="Cambria" pitchFamily="34" charset="-120"/>
              </a:rPr>
              <a:t>How the computer learns</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marL="0" indent="0" algn="r">
              <a:buNone/>
            </a:pPr>
            <a:r>
              <a:rPr lang="en-US" sz="1000" dirty="0">
                <a:solidFill>
                  <a:srgbClr val="5B7286"/>
                </a:solidFill>
                <a:latin typeface="Calibri" pitchFamily="34" charset="0"/>
                <a:ea typeface="Calibri" pitchFamily="34" charset="-122"/>
                <a:cs typeface="Calibri" pitchFamily="34" charset="-120"/>
              </a:rPr>
              <a:t>10</a:t>
            </a:r>
            <a:endParaRPr lang="en-US" sz="1000" dirty="0"/>
          </a:p>
        </p:txBody>
      </p:sp>
      <p:sp>
        <p:nvSpPr>
          <p:cNvPr id="4" name="Shape 2"/>
          <p:cNvSpPr/>
          <p:nvPr/>
        </p:nvSpPr>
        <p:spPr>
          <a:xfrm>
            <a:off x="699516" y="1737360"/>
            <a:ext cx="5074920" cy="2286000"/>
          </a:xfrm>
          <a:prstGeom prst="roundRect">
            <a:avLst>
              <a:gd name="adj" fmla="val 4000"/>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5" name="Text 3"/>
          <p:cNvSpPr txBox="1"/>
          <p:nvPr/>
        </p:nvSpPr>
        <p:spPr>
          <a:xfrm>
            <a:off x="699516" y="1965960"/>
            <a:ext cx="5074920" cy="457200"/>
          </a:xfrm>
          <a:prstGeom prst="rect">
            <a:avLst/>
          </a:prstGeom>
          <a:noFill/>
          <a:ln/>
        </p:spPr>
        <p:txBody>
          <a:bodyPr wrap="square" lIns="0" tIns="0" rIns="0" bIns="0" rtlCol="0" anchor="ctr"/>
          <a:lstStyle/>
          <a:p>
            <a:pPr marL="0" indent="0" algn="ctr">
              <a:buNone/>
            </a:pPr>
            <a:r>
              <a:rPr lang="en-US" sz="2000" b="1" dirty="0">
                <a:solidFill>
                  <a:srgbClr val="028090"/>
                </a:solidFill>
                <a:latin typeface="Cambria" pitchFamily="34" charset="0"/>
                <a:ea typeface="Cambria" pitchFamily="34" charset="-122"/>
                <a:cs typeface="Cambria" pitchFamily="34" charset="-120"/>
              </a:rPr>
              <a:t>TRAINING</a:t>
            </a:r>
            <a:endParaRPr lang="en-US" sz="2000" dirty="0"/>
          </a:p>
        </p:txBody>
      </p:sp>
      <p:sp>
        <p:nvSpPr>
          <p:cNvPr id="6" name="Text 4"/>
          <p:cNvSpPr txBox="1"/>
          <p:nvPr/>
        </p:nvSpPr>
        <p:spPr>
          <a:xfrm>
            <a:off x="973836" y="2560320"/>
            <a:ext cx="4526280" cy="1280160"/>
          </a:xfrm>
          <a:prstGeom prst="rect">
            <a:avLst/>
          </a:prstGeom>
          <a:noFill/>
          <a:ln/>
        </p:spPr>
        <p:txBody>
          <a:bodyPr wrap="square" lIns="0" tIns="0" rIns="0" bIns="0" rtlCol="0" anchor="ctr"/>
          <a:lstStyle/>
          <a:p>
            <a:pPr marL="0" indent="0" algn="ctr">
              <a:buNone/>
            </a:pPr>
            <a:r>
              <a:rPr lang="en-US" sz="1550" dirty="0">
                <a:solidFill>
                  <a:srgbClr val="16324A"/>
                </a:solidFill>
                <a:latin typeface="Calibri" pitchFamily="34" charset="0"/>
                <a:ea typeface="Calibri" pitchFamily="34" charset="-122"/>
                <a:cs typeface="Calibri" pitchFamily="34" charset="-120"/>
              </a:rPr>
              <a:t>show the computer many recordings</a:t>
            </a:r>
            <a:endParaRPr lang="en-US" sz="1550" dirty="0"/>
          </a:p>
          <a:p>
            <a:pPr marL="0" indent="0" algn="ctr">
              <a:buNone/>
            </a:pPr>
            <a:r>
              <a:rPr lang="en-US" sz="1550" dirty="0">
                <a:solidFill>
                  <a:srgbClr val="16324A"/>
                </a:solidFill>
                <a:latin typeface="Calibri" pitchFamily="34" charset="0"/>
                <a:ea typeface="Calibri" pitchFamily="34" charset="-122"/>
                <a:cs typeface="Calibri" pitchFamily="34" charset="-120"/>
              </a:rPr>
              <a:t>WITH the answers</a:t>
            </a:r>
            <a:endParaRPr lang="en-US" sz="1550" dirty="0"/>
          </a:p>
          <a:p>
            <a:pPr marL="0" indent="0" algn="ctr">
              <a:buNone/>
            </a:pPr>
            <a:r>
              <a:rPr lang="en-US" sz="1550" dirty="0">
                <a:solidFill>
                  <a:srgbClr val="16324A"/>
                </a:solidFill>
                <a:latin typeface="Calibri" pitchFamily="34" charset="0"/>
                <a:ea typeface="Calibri" pitchFamily="34" charset="-122"/>
                <a:cs typeface="Calibri" pitchFamily="34" charset="-120"/>
              </a:rPr>
              <a:t>→ it finds the pattern</a:t>
            </a:r>
            <a:endParaRPr lang="en-US" sz="1550" dirty="0"/>
          </a:p>
        </p:txBody>
      </p:sp>
      <p:sp>
        <p:nvSpPr>
          <p:cNvPr id="7" name="Shape 5"/>
          <p:cNvSpPr/>
          <p:nvPr/>
        </p:nvSpPr>
        <p:spPr>
          <a:xfrm>
            <a:off x="6414516" y="1737360"/>
            <a:ext cx="5074920" cy="2286000"/>
          </a:xfrm>
          <a:prstGeom prst="roundRect">
            <a:avLst>
              <a:gd name="adj" fmla="val 4000"/>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8" name="Text 6"/>
          <p:cNvSpPr txBox="1"/>
          <p:nvPr/>
        </p:nvSpPr>
        <p:spPr>
          <a:xfrm>
            <a:off x="6414516" y="1965960"/>
            <a:ext cx="5074920" cy="457200"/>
          </a:xfrm>
          <a:prstGeom prst="rect">
            <a:avLst/>
          </a:prstGeom>
          <a:noFill/>
          <a:ln/>
        </p:spPr>
        <p:txBody>
          <a:bodyPr wrap="square" lIns="0" tIns="0" rIns="0" bIns="0" rtlCol="0" anchor="ctr"/>
          <a:lstStyle/>
          <a:p>
            <a:pPr marL="0" indent="0" algn="ctr">
              <a:buNone/>
            </a:pPr>
            <a:r>
              <a:rPr lang="en-US" sz="2000" b="1" dirty="0">
                <a:solidFill>
                  <a:srgbClr val="E85A5A"/>
                </a:solidFill>
                <a:latin typeface="Cambria" pitchFamily="34" charset="0"/>
                <a:ea typeface="Cambria" pitchFamily="34" charset="-122"/>
                <a:cs typeface="Cambria" pitchFamily="34" charset="-120"/>
              </a:rPr>
              <a:t>TESTING</a:t>
            </a:r>
            <a:endParaRPr lang="en-US" sz="2000" dirty="0"/>
          </a:p>
        </p:txBody>
      </p:sp>
      <p:sp>
        <p:nvSpPr>
          <p:cNvPr id="9" name="Text 7"/>
          <p:cNvSpPr txBox="1"/>
          <p:nvPr/>
        </p:nvSpPr>
        <p:spPr>
          <a:xfrm>
            <a:off x="6688836" y="2560320"/>
            <a:ext cx="4526280" cy="1280160"/>
          </a:xfrm>
          <a:prstGeom prst="rect">
            <a:avLst/>
          </a:prstGeom>
          <a:noFill/>
          <a:ln/>
        </p:spPr>
        <p:txBody>
          <a:bodyPr wrap="square" lIns="0" tIns="0" rIns="0" bIns="0" rtlCol="0" anchor="ctr"/>
          <a:lstStyle/>
          <a:p>
            <a:pPr marL="0" indent="0" algn="ctr">
              <a:buNone/>
            </a:pPr>
            <a:r>
              <a:rPr lang="en-US" sz="1550" dirty="0">
                <a:solidFill>
                  <a:srgbClr val="16324A"/>
                </a:solidFill>
                <a:latin typeface="Calibri" pitchFamily="34" charset="0"/>
                <a:ea typeface="Calibri" pitchFamily="34" charset="-122"/>
                <a:cs typeface="Calibri" pitchFamily="34" charset="-120"/>
              </a:rPr>
              <a:t>new recordings, NO answers,</a:t>
            </a:r>
            <a:endParaRPr lang="en-US" sz="1550" dirty="0"/>
          </a:p>
          <a:p>
            <a:pPr marL="0" indent="0" algn="ctr">
              <a:buNone/>
            </a:pPr>
            <a:r>
              <a:rPr lang="en-US" sz="1550" dirty="0">
                <a:solidFill>
                  <a:srgbClr val="16324A"/>
                </a:solidFill>
                <a:latin typeface="Calibri" pitchFamily="34" charset="0"/>
                <a:ea typeface="Calibri" pitchFamily="34" charset="-122"/>
                <a:cs typeface="Calibri" pitchFamily="34" charset="-120"/>
              </a:rPr>
              <a:t>from people it has never heard</a:t>
            </a:r>
            <a:endParaRPr lang="en-US" sz="1550" dirty="0"/>
          </a:p>
          <a:p>
            <a:pPr marL="0" indent="0" algn="ctr">
              <a:buNone/>
            </a:pPr>
            <a:r>
              <a:rPr lang="en-US" sz="1550" dirty="0">
                <a:solidFill>
                  <a:srgbClr val="16324A"/>
                </a:solidFill>
                <a:latin typeface="Calibri" pitchFamily="34" charset="0"/>
                <a:ea typeface="Calibri" pitchFamily="34" charset="-122"/>
                <a:cs typeface="Calibri" pitchFamily="34" charset="-120"/>
              </a:rPr>
              <a:t>→ can it still tell?</a:t>
            </a:r>
            <a:endParaRPr lang="en-US" sz="1550" dirty="0"/>
          </a:p>
        </p:txBody>
      </p:sp>
      <p:sp>
        <p:nvSpPr>
          <p:cNvPr id="10" name="Shape 8"/>
          <p:cNvSpPr/>
          <p:nvPr/>
        </p:nvSpPr>
        <p:spPr>
          <a:xfrm>
            <a:off x="1828800" y="4526280"/>
            <a:ext cx="8531352" cy="1005840"/>
          </a:xfrm>
          <a:prstGeom prst="roundRect">
            <a:avLst>
              <a:gd name="adj" fmla="val 9091"/>
            </a:avLst>
          </a:prstGeom>
          <a:solidFill>
            <a:srgbClr val="EAF4F5"/>
          </a:solidFill>
          <a:ln w="12700">
            <a:solidFill>
              <a:srgbClr val="D9E5EE"/>
            </a:solidFill>
            <a:prstDash val="solid"/>
          </a:ln>
          <a:effectLst>
            <a:outerShdw blurRad="114300" dist="38100" dir="5400000" algn="bl" rotWithShape="0">
              <a:srgbClr val="9FB4C4">
                <a:alpha val="35000"/>
              </a:srgbClr>
            </a:outerShdw>
          </a:effectLst>
        </p:spPr>
      </p:sp>
      <p:sp>
        <p:nvSpPr>
          <p:cNvPr id="11" name="Text 9"/>
          <p:cNvSpPr txBox="1"/>
          <p:nvPr/>
        </p:nvSpPr>
        <p:spPr>
          <a:xfrm>
            <a:off x="1828800" y="4526280"/>
            <a:ext cx="8531352" cy="1005840"/>
          </a:xfrm>
          <a:prstGeom prst="rect">
            <a:avLst/>
          </a:prstGeom>
          <a:noFill/>
          <a:ln/>
        </p:spPr>
        <p:txBody>
          <a:bodyPr wrap="square" lIns="1905" tIns="1905" rIns="1905" bIns="1905" rtlCol="0" anchor="ctr"/>
          <a:lstStyle/>
          <a:p>
            <a:pPr marL="0" indent="0" algn="ctr">
              <a:buNone/>
            </a:pPr>
            <a:r>
              <a:rPr lang="en-US" sz="1550" b="1" dirty="0">
                <a:solidFill>
                  <a:srgbClr val="026873"/>
                </a:solidFill>
                <a:latin typeface="Calibri" pitchFamily="34" charset="0"/>
                <a:ea typeface="Calibri" pitchFamily="34" charset="-122"/>
                <a:cs typeface="Calibri" pitchFamily="34" charset="-120"/>
              </a:rPr>
              <a:t>Golden rule: </a:t>
            </a:r>
            <a:r>
              <a:rPr lang="en-US" sz="1550" dirty="0">
                <a:solidFill>
                  <a:srgbClr val="16324A"/>
                </a:solidFill>
                <a:latin typeface="Calibri" pitchFamily="34" charset="0"/>
                <a:ea typeface="Calibri" pitchFamily="34" charset="-122"/>
                <a:cs typeface="Calibri" pitchFamily="34" charset="-120"/>
              </a:rPr>
              <a:t>never test on a person the computer trained on —</a:t>
            </a:r>
            <a:endParaRPr lang="en-US" sz="1550" dirty="0"/>
          </a:p>
          <a:p>
            <a:pPr marL="0" indent="0" algn="ctr">
              <a:buNone/>
            </a:pPr>
            <a:r>
              <a:rPr lang="en-US" sz="1550" dirty="0">
                <a:solidFill>
                  <a:srgbClr val="16324A"/>
                </a:solidFill>
                <a:latin typeface="Calibri" pitchFamily="34" charset="0"/>
                <a:ea typeface="Calibri" pitchFamily="34" charset="-122"/>
                <a:cs typeface="Calibri" pitchFamily="34" charset="-120"/>
              </a:rPr>
              <a:t>like a student who saw the exam questions before the exam.</a:t>
            </a:r>
            <a:endParaRPr lang="en-US" sz="15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animBg="1"/>
      <p:bldP spid="9"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marL="0" indent="0" algn="l">
              <a:buNone/>
            </a:pPr>
            <a:r>
              <a:rPr lang="en-US" sz="3000" b="1" dirty="0">
                <a:solidFill>
                  <a:srgbClr val="16324A"/>
                </a:solidFill>
                <a:latin typeface="Cambria" pitchFamily="34" charset="0"/>
                <a:ea typeface="Cambria" pitchFamily="34" charset="-122"/>
                <a:cs typeface="Cambria" pitchFamily="34" charset="-120"/>
              </a:rPr>
              <a:t>Our model: a forest of 300 small decisions</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marL="0" indent="0" algn="r">
              <a:buNone/>
            </a:pPr>
            <a:r>
              <a:rPr lang="en-US" sz="1000" dirty="0">
                <a:solidFill>
                  <a:srgbClr val="5B7286"/>
                </a:solidFill>
                <a:latin typeface="Calibri" pitchFamily="34" charset="0"/>
                <a:ea typeface="Calibri" pitchFamily="34" charset="-122"/>
                <a:cs typeface="Calibri" pitchFamily="34" charset="-120"/>
              </a:rPr>
              <a:t>11</a:t>
            </a:r>
            <a:endParaRPr lang="en-US" sz="1000" dirty="0"/>
          </a:p>
        </p:txBody>
      </p:sp>
      <p:sp>
        <p:nvSpPr>
          <p:cNvPr id="4" name="Shape 2"/>
          <p:cNvSpPr/>
          <p:nvPr/>
        </p:nvSpPr>
        <p:spPr>
          <a:xfrm>
            <a:off x="4265676" y="1463040"/>
            <a:ext cx="914400" cy="914400"/>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5" name="Image 0" descr="C:\Users\MShaheen\Documents\parkinsons_voice_project\report\defence\figs\t_tree.png"/>
          <p:cNvPicPr>
            <a:picLocks noChangeAspect="1"/>
          </p:cNvPicPr>
          <p:nvPr/>
        </p:nvPicPr>
        <p:blipFill>
          <a:blip r:embed="rId4"/>
          <a:stretch>
            <a:fillRect/>
          </a:stretch>
        </p:blipFill>
        <p:spPr>
          <a:xfrm>
            <a:off x="4503420" y="1700784"/>
            <a:ext cx="438912" cy="438912"/>
          </a:xfrm>
          <a:prstGeom prst="rect">
            <a:avLst/>
          </a:prstGeom>
        </p:spPr>
      </p:pic>
      <p:sp>
        <p:nvSpPr>
          <p:cNvPr id="6" name="Shape 3"/>
          <p:cNvSpPr/>
          <p:nvPr/>
        </p:nvSpPr>
        <p:spPr>
          <a:xfrm>
            <a:off x="5637276" y="1463040"/>
            <a:ext cx="914400" cy="914400"/>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7" name="Image 1" descr="C:\Users\MShaheen\Documents\parkinsons_voice_project\report\defence\figs\t_tree.png"/>
          <p:cNvPicPr>
            <a:picLocks noChangeAspect="1"/>
          </p:cNvPicPr>
          <p:nvPr/>
        </p:nvPicPr>
        <p:blipFill>
          <a:blip r:embed="rId4"/>
          <a:stretch>
            <a:fillRect/>
          </a:stretch>
        </p:blipFill>
        <p:spPr>
          <a:xfrm>
            <a:off x="5875020" y="1700784"/>
            <a:ext cx="438912" cy="438912"/>
          </a:xfrm>
          <a:prstGeom prst="rect">
            <a:avLst/>
          </a:prstGeom>
        </p:spPr>
      </p:pic>
      <p:sp>
        <p:nvSpPr>
          <p:cNvPr id="8" name="Shape 4"/>
          <p:cNvSpPr/>
          <p:nvPr/>
        </p:nvSpPr>
        <p:spPr>
          <a:xfrm>
            <a:off x="7008876" y="1463040"/>
            <a:ext cx="914400" cy="914400"/>
          </a:xfrm>
          <a:prstGeom prst="ellipse">
            <a:avLst/>
          </a:prstGeom>
          <a:solidFill>
            <a:srgbClr val="EAF4F5"/>
          </a:solidFill>
          <a:ln w="17780">
            <a:solidFill>
              <a:srgbClr val="028090"/>
            </a:solidFill>
            <a:prstDash val="solid"/>
          </a:ln>
          <a:effectLst>
            <a:outerShdw blurRad="76200" dist="25400" dir="5400000" algn="bl" rotWithShape="0">
              <a:srgbClr val="9FB4C4">
                <a:alpha val="30000"/>
              </a:srgbClr>
            </a:outerShdw>
          </a:effectLst>
        </p:spPr>
      </p:sp>
      <p:pic>
        <p:nvPicPr>
          <p:cNvPr id="9" name="Image 2" descr="C:\Users\MShaheen\Documents\parkinsons_voice_project\report\defence\figs\t_tree.png"/>
          <p:cNvPicPr>
            <a:picLocks noChangeAspect="1"/>
          </p:cNvPicPr>
          <p:nvPr/>
        </p:nvPicPr>
        <p:blipFill>
          <a:blip r:embed="rId4"/>
          <a:stretch>
            <a:fillRect/>
          </a:stretch>
        </p:blipFill>
        <p:spPr>
          <a:xfrm>
            <a:off x="7246620" y="1700784"/>
            <a:ext cx="438912" cy="438912"/>
          </a:xfrm>
          <a:prstGeom prst="rect">
            <a:avLst/>
          </a:prstGeom>
        </p:spPr>
      </p:pic>
      <p:sp>
        <p:nvSpPr>
          <p:cNvPr id="10" name="Text 5"/>
          <p:cNvSpPr txBox="1"/>
          <p:nvPr/>
        </p:nvSpPr>
        <p:spPr>
          <a:xfrm>
            <a:off x="822960" y="2606040"/>
            <a:ext cx="10543032" cy="548640"/>
          </a:xfrm>
          <a:prstGeom prst="rect">
            <a:avLst/>
          </a:prstGeom>
          <a:noFill/>
          <a:ln/>
        </p:spPr>
        <p:txBody>
          <a:bodyPr wrap="square" lIns="0" tIns="0" rIns="0" bIns="0" rtlCol="0" anchor="ctr"/>
          <a:lstStyle/>
          <a:p>
            <a:pPr marL="0" indent="0" algn="ctr">
              <a:buNone/>
            </a:pPr>
            <a:r>
              <a:rPr lang="en-US" sz="2800" b="1" dirty="0">
                <a:solidFill>
                  <a:srgbClr val="028090"/>
                </a:solidFill>
                <a:latin typeface="Cambria" pitchFamily="34" charset="0"/>
                <a:ea typeface="Cambria" pitchFamily="34" charset="-122"/>
                <a:cs typeface="Cambria" pitchFamily="34" charset="-120"/>
              </a:rPr>
              <a:t>Random Forest</a:t>
            </a:r>
            <a:endParaRPr lang="en-US" sz="2800" dirty="0"/>
          </a:p>
        </p:txBody>
      </p:sp>
      <p:sp>
        <p:nvSpPr>
          <p:cNvPr id="11" name="Text 6"/>
          <p:cNvSpPr txBox="1"/>
          <p:nvPr/>
        </p:nvSpPr>
        <p:spPr>
          <a:xfrm>
            <a:off x="822960" y="3200400"/>
            <a:ext cx="10543032" cy="457200"/>
          </a:xfrm>
          <a:prstGeom prst="rect">
            <a:avLst/>
          </a:prstGeom>
          <a:noFill/>
          <a:ln/>
        </p:spPr>
        <p:txBody>
          <a:bodyPr wrap="square" lIns="0" tIns="0" rIns="0" bIns="0" rtlCol="0" anchor="ctr"/>
          <a:lstStyle/>
          <a:p>
            <a:pPr marL="0" indent="0" algn="ctr">
              <a:buNone/>
            </a:pPr>
            <a:r>
              <a:rPr lang="en-US" sz="1600" dirty="0">
                <a:solidFill>
                  <a:srgbClr val="16324A"/>
                </a:solidFill>
                <a:latin typeface="Calibri" pitchFamily="34" charset="0"/>
                <a:ea typeface="Calibri" pitchFamily="34" charset="-122"/>
                <a:cs typeface="Calibri" pitchFamily="34" charset="-120"/>
              </a:rPr>
              <a:t>300 small decision trees, each looking at the numbers differently — then they vote.</a:t>
            </a:r>
            <a:endParaRPr lang="en-US" sz="1600" dirty="0"/>
          </a:p>
        </p:txBody>
      </p:sp>
      <p:sp>
        <p:nvSpPr>
          <p:cNvPr id="12" name="Shape 7"/>
          <p:cNvSpPr/>
          <p:nvPr/>
        </p:nvSpPr>
        <p:spPr>
          <a:xfrm>
            <a:off x="699516" y="3977640"/>
            <a:ext cx="5074920" cy="1417320"/>
          </a:xfrm>
          <a:prstGeom prst="roundRect">
            <a:avLst>
              <a:gd name="adj" fmla="val 6452"/>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3" name="Text 8"/>
          <p:cNvSpPr txBox="1"/>
          <p:nvPr/>
        </p:nvSpPr>
        <p:spPr>
          <a:xfrm>
            <a:off x="699516" y="3977640"/>
            <a:ext cx="5074920" cy="1417320"/>
          </a:xfrm>
          <a:prstGeom prst="rect">
            <a:avLst/>
          </a:prstGeom>
          <a:noFill/>
          <a:ln/>
        </p:spPr>
        <p:txBody>
          <a:bodyPr wrap="square" lIns="1905" tIns="1905" rIns="1905" bIns="1905" rtlCol="0" anchor="ctr"/>
          <a:lstStyle/>
          <a:p>
            <a:pPr marL="0" indent="0" algn="l">
              <a:buNone/>
            </a:pPr>
            <a:r>
              <a:rPr lang="en-US" sz="1450" b="1" dirty="0">
                <a:solidFill>
                  <a:srgbClr val="16324A"/>
                </a:solidFill>
                <a:latin typeface="Calibri" pitchFamily="34" charset="0"/>
                <a:ea typeface="Calibri" pitchFamily="34" charset="-122"/>
                <a:cs typeface="Calibri" pitchFamily="34" charset="-120"/>
              </a:rPr>
              <a:t>Why this one?  </a:t>
            </a:r>
            <a:r>
              <a:rPr lang="en-US" sz="1450" dirty="0">
                <a:solidFill>
                  <a:srgbClr val="5B7286"/>
                </a:solidFill>
                <a:latin typeface="Calibri" pitchFamily="34" charset="0"/>
                <a:ea typeface="Calibri" pitchFamily="34" charset="-122"/>
                <a:cs typeface="Calibri" pitchFamily="34" charset="-120"/>
              </a:rPr>
              <a:t>We can ask it which</a:t>
            </a:r>
            <a:endParaRPr lang="en-US" sz="1450" dirty="0"/>
          </a:p>
          <a:p>
            <a:pPr marL="0" indent="0" algn="l">
              <a:buNone/>
            </a:pPr>
            <a:r>
              <a:rPr lang="en-US" sz="1450" dirty="0">
                <a:solidFill>
                  <a:srgbClr val="5B7286"/>
                </a:solidFill>
                <a:latin typeface="Calibri" pitchFamily="34" charset="0"/>
                <a:ea typeface="Calibri" pitchFamily="34" charset="-122"/>
                <a:cs typeface="Calibri" pitchFamily="34" charset="-120"/>
              </a:rPr>
              <a:t>measurements it used — it is explainable.</a:t>
            </a:r>
            <a:endParaRPr lang="en-US" sz="1450" dirty="0"/>
          </a:p>
        </p:txBody>
      </p:sp>
      <p:sp>
        <p:nvSpPr>
          <p:cNvPr id="14" name="Shape 9"/>
          <p:cNvSpPr/>
          <p:nvPr/>
        </p:nvSpPr>
        <p:spPr>
          <a:xfrm>
            <a:off x="6414516" y="3977640"/>
            <a:ext cx="5074920" cy="1417320"/>
          </a:xfrm>
          <a:prstGeom prst="roundRect">
            <a:avLst>
              <a:gd name="adj" fmla="val 6452"/>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5" name="Text 10"/>
          <p:cNvSpPr txBox="1"/>
          <p:nvPr/>
        </p:nvSpPr>
        <p:spPr>
          <a:xfrm>
            <a:off x="6414516" y="3977640"/>
            <a:ext cx="5074920" cy="1417320"/>
          </a:xfrm>
          <a:prstGeom prst="rect">
            <a:avLst/>
          </a:prstGeom>
          <a:noFill/>
          <a:ln/>
        </p:spPr>
        <p:txBody>
          <a:bodyPr wrap="square" lIns="1905" tIns="1905" rIns="1905" bIns="1905" rtlCol="0" anchor="ctr"/>
          <a:lstStyle/>
          <a:p>
            <a:pPr marL="0" indent="0" algn="l">
              <a:buNone/>
            </a:pPr>
            <a:r>
              <a:rPr lang="en-US" sz="1450" b="1" dirty="0">
                <a:solidFill>
                  <a:srgbClr val="16324A"/>
                </a:solidFill>
                <a:latin typeface="Calibri" pitchFamily="34" charset="0"/>
                <a:ea typeface="Calibri" pitchFamily="34" charset="-122"/>
                <a:cs typeface="Calibri" pitchFamily="34" charset="-120"/>
              </a:rPr>
              <a:t>Its favourite measurement?  </a:t>
            </a:r>
            <a:r>
              <a:rPr lang="en-US" sz="1450" b="1" dirty="0">
                <a:solidFill>
                  <a:srgbClr val="026873"/>
                </a:solidFill>
                <a:latin typeface="Calibri" pitchFamily="34" charset="0"/>
                <a:ea typeface="Calibri" pitchFamily="34" charset="-122"/>
                <a:cs typeface="Calibri" pitchFamily="34" charset="-120"/>
              </a:rPr>
              <a:t>Pitch range —</a:t>
            </a:r>
            <a:endParaRPr lang="en-US" sz="1450" dirty="0"/>
          </a:p>
          <a:p>
            <a:pPr marL="0" indent="0" algn="l">
              <a:buNone/>
            </a:pPr>
            <a:r>
              <a:rPr lang="en-US" sz="1450" b="1" dirty="0">
                <a:solidFill>
                  <a:srgbClr val="026873"/>
                </a:solidFill>
                <a:latin typeface="Calibri" pitchFamily="34" charset="0"/>
                <a:ea typeface="Calibri" pitchFamily="34" charset="-122"/>
                <a:cs typeface="Calibri" pitchFamily="34" charset="-120"/>
              </a:rPr>
              <a:t>the monotone-speech sign doctors know.</a:t>
            </a:r>
            <a:endParaRPr lang="en-US" sz="1450" dirty="0"/>
          </a:p>
        </p:txBody>
      </p:sp>
      <p:sp>
        <p:nvSpPr>
          <p:cNvPr id="16" name="Text 11"/>
          <p:cNvSpPr txBox="1"/>
          <p:nvPr/>
        </p:nvSpPr>
        <p:spPr>
          <a:xfrm>
            <a:off x="822960" y="5669280"/>
            <a:ext cx="10543032" cy="411480"/>
          </a:xfrm>
          <a:prstGeom prst="rect">
            <a:avLst/>
          </a:prstGeom>
          <a:noFill/>
          <a:ln/>
        </p:spPr>
        <p:txBody>
          <a:bodyPr wrap="square" lIns="0" tIns="0" rIns="0" bIns="0" rtlCol="0" anchor="ctr"/>
          <a:lstStyle/>
          <a:p>
            <a:pPr marL="0" indent="0" algn="ctr">
              <a:buNone/>
            </a:pPr>
            <a:r>
              <a:rPr lang="en-US" sz="1350" i="1" dirty="0">
                <a:solidFill>
                  <a:srgbClr val="5B7286"/>
                </a:solidFill>
                <a:latin typeface="Calibri" pitchFamily="34" charset="0"/>
                <a:ea typeface="Calibri" pitchFamily="34" charset="-122"/>
                <a:cs typeface="Calibri" pitchFamily="34" charset="-120"/>
              </a:rPr>
              <a:t>We compared four models under the same fair test — this one won.</a:t>
            </a:r>
            <a:endParaRPr lang="en-US" sz="13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0" grpId="0" animBg="1"/>
      <p:bldP spid="11" grpId="0" animBg="1"/>
      <p:bldP spid="13"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marL="0" indent="0" algn="l">
              <a:buNone/>
            </a:pPr>
            <a:r>
              <a:rPr lang="en-US" sz="3000" b="1" dirty="0">
                <a:solidFill>
                  <a:srgbClr val="16324A"/>
                </a:solidFill>
                <a:latin typeface="Cambria" pitchFamily="34" charset="0"/>
                <a:ea typeface="Cambria" pitchFamily="34" charset="-122"/>
                <a:cs typeface="Cambria" pitchFamily="34" charset="-120"/>
              </a:rPr>
              <a:t>How good is it? — in plain words</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marL="0" indent="0" algn="r">
              <a:buNone/>
            </a:pPr>
            <a:r>
              <a:rPr lang="en-US" sz="1000" dirty="0">
                <a:solidFill>
                  <a:srgbClr val="5B7286"/>
                </a:solidFill>
                <a:latin typeface="Calibri" pitchFamily="34" charset="0"/>
                <a:ea typeface="Calibri" pitchFamily="34" charset="-122"/>
                <a:cs typeface="Calibri" pitchFamily="34" charset="-120"/>
              </a:rPr>
              <a:t>12</a:t>
            </a:r>
            <a:endParaRPr lang="en-US" sz="1000" dirty="0"/>
          </a:p>
        </p:txBody>
      </p:sp>
      <p:sp>
        <p:nvSpPr>
          <p:cNvPr id="4" name="Shape 2"/>
          <p:cNvSpPr/>
          <p:nvPr/>
        </p:nvSpPr>
        <p:spPr>
          <a:xfrm>
            <a:off x="585216" y="1737360"/>
            <a:ext cx="3246120" cy="2651760"/>
          </a:xfrm>
          <a:prstGeom prst="roundRect">
            <a:avLst>
              <a:gd name="adj" fmla="val 3448"/>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5" name="Text 3"/>
          <p:cNvSpPr txBox="1"/>
          <p:nvPr/>
        </p:nvSpPr>
        <p:spPr>
          <a:xfrm>
            <a:off x="585216" y="2011680"/>
            <a:ext cx="3246120" cy="914400"/>
          </a:xfrm>
          <a:prstGeom prst="rect">
            <a:avLst/>
          </a:prstGeom>
          <a:noFill/>
          <a:ln/>
        </p:spPr>
        <p:txBody>
          <a:bodyPr wrap="square" lIns="0" tIns="0" rIns="0" bIns="0" rtlCol="0" anchor="ctr"/>
          <a:lstStyle/>
          <a:p>
            <a:pPr marL="0" indent="0" algn="ctr">
              <a:buNone/>
            </a:pPr>
            <a:r>
              <a:rPr lang="en-US" sz="4600" b="1" dirty="0">
                <a:solidFill>
                  <a:srgbClr val="028090"/>
                </a:solidFill>
                <a:latin typeface="Cambria" pitchFamily="34" charset="0"/>
                <a:ea typeface="Cambria" pitchFamily="34" charset="-122"/>
                <a:cs typeface="Cambria" pitchFamily="34" charset="-120"/>
              </a:rPr>
              <a:t>0.822</a:t>
            </a:r>
            <a:endParaRPr lang="en-US" sz="4600" dirty="0"/>
          </a:p>
        </p:txBody>
      </p:sp>
      <p:sp>
        <p:nvSpPr>
          <p:cNvPr id="6" name="Text 4"/>
          <p:cNvSpPr txBox="1"/>
          <p:nvPr/>
        </p:nvSpPr>
        <p:spPr>
          <a:xfrm>
            <a:off x="585216" y="2971800"/>
            <a:ext cx="3246120" cy="411480"/>
          </a:xfrm>
          <a:prstGeom prst="rect">
            <a:avLst/>
          </a:prstGeom>
          <a:noFill/>
          <a:ln/>
        </p:spPr>
        <p:txBody>
          <a:bodyPr wrap="square" lIns="0" tIns="0" rIns="0" bIns="0" rtlCol="0" anchor="ctr"/>
          <a:lstStyle/>
          <a:p>
            <a:pPr marL="0" indent="0" algn="ctr">
              <a:buNone/>
            </a:pPr>
            <a:r>
              <a:rPr lang="en-US" sz="1600" b="1" dirty="0">
                <a:solidFill>
                  <a:srgbClr val="16324A"/>
                </a:solidFill>
                <a:latin typeface="Cambria" pitchFamily="34" charset="0"/>
                <a:ea typeface="Cambria" pitchFamily="34" charset="-122"/>
                <a:cs typeface="Cambria" pitchFamily="34" charset="-120"/>
              </a:rPr>
              <a:t>balanced accuracy</a:t>
            </a:r>
            <a:endParaRPr lang="en-US" sz="1600" dirty="0"/>
          </a:p>
        </p:txBody>
      </p:sp>
      <p:sp>
        <p:nvSpPr>
          <p:cNvPr id="7" name="Text 5"/>
          <p:cNvSpPr txBox="1"/>
          <p:nvPr/>
        </p:nvSpPr>
        <p:spPr>
          <a:xfrm>
            <a:off x="768096" y="3429000"/>
            <a:ext cx="2880360" cy="822960"/>
          </a:xfrm>
          <a:prstGeom prst="rect">
            <a:avLst/>
          </a:prstGeom>
          <a:noFill/>
          <a:ln/>
        </p:spPr>
        <p:txBody>
          <a:bodyPr wrap="square" lIns="0" tIns="0" rIns="0" bIns="0" rtlCol="0" anchor="ctr"/>
          <a:lstStyle/>
          <a:p>
            <a:pPr marL="0" indent="0" algn="ctr">
              <a:buNone/>
            </a:pPr>
            <a:r>
              <a:rPr lang="en-US" sz="1300" dirty="0">
                <a:solidFill>
                  <a:srgbClr val="5B7286"/>
                </a:solidFill>
                <a:latin typeface="Calibri" pitchFamily="34" charset="0"/>
                <a:ea typeface="Calibri" pitchFamily="34" charset="-122"/>
                <a:cs typeface="Calibri" pitchFamily="34" charset="-120"/>
              </a:rPr>
              <a:t>the overall fair score</a:t>
            </a:r>
            <a:endParaRPr lang="en-US" sz="1300" dirty="0"/>
          </a:p>
          <a:p>
            <a:pPr marL="0" indent="0" algn="ctr">
              <a:buNone/>
            </a:pPr>
            <a:r>
              <a:rPr lang="en-US" sz="1300" dirty="0">
                <a:solidFill>
                  <a:srgbClr val="5B7286"/>
                </a:solidFill>
                <a:latin typeface="Calibri" pitchFamily="34" charset="0"/>
                <a:ea typeface="Calibri" pitchFamily="34" charset="-122"/>
                <a:cs typeface="Calibri" pitchFamily="34" charset="-120"/>
              </a:rPr>
              <a:t>(on people it never heard)</a:t>
            </a:r>
            <a:endParaRPr lang="en-US" sz="1300" dirty="0"/>
          </a:p>
        </p:txBody>
      </p:sp>
      <p:sp>
        <p:nvSpPr>
          <p:cNvPr id="8" name="Shape 6"/>
          <p:cNvSpPr/>
          <p:nvPr/>
        </p:nvSpPr>
        <p:spPr>
          <a:xfrm>
            <a:off x="4471416" y="1737360"/>
            <a:ext cx="3246120" cy="2651760"/>
          </a:xfrm>
          <a:prstGeom prst="roundRect">
            <a:avLst>
              <a:gd name="adj" fmla="val 3448"/>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9" name="Text 7"/>
          <p:cNvSpPr txBox="1"/>
          <p:nvPr/>
        </p:nvSpPr>
        <p:spPr>
          <a:xfrm>
            <a:off x="4471416" y="2011680"/>
            <a:ext cx="3246120" cy="914400"/>
          </a:xfrm>
          <a:prstGeom prst="rect">
            <a:avLst/>
          </a:prstGeom>
          <a:noFill/>
          <a:ln/>
        </p:spPr>
        <p:txBody>
          <a:bodyPr wrap="square" lIns="0" tIns="0" rIns="0" bIns="0" rtlCol="0" anchor="ctr"/>
          <a:lstStyle/>
          <a:p>
            <a:pPr marL="0" indent="0" algn="ctr">
              <a:buNone/>
            </a:pPr>
            <a:r>
              <a:rPr lang="en-US" sz="4600" b="1" dirty="0">
                <a:solidFill>
                  <a:srgbClr val="028090"/>
                </a:solidFill>
                <a:latin typeface="Cambria" pitchFamily="34" charset="0"/>
                <a:ea typeface="Cambria" pitchFamily="34" charset="-122"/>
                <a:cs typeface="Cambria" pitchFamily="34" charset="-120"/>
              </a:rPr>
              <a:t>77%</a:t>
            </a:r>
            <a:endParaRPr lang="en-US" sz="4600" dirty="0"/>
          </a:p>
        </p:txBody>
      </p:sp>
      <p:sp>
        <p:nvSpPr>
          <p:cNvPr id="10" name="Text 8"/>
          <p:cNvSpPr txBox="1"/>
          <p:nvPr/>
        </p:nvSpPr>
        <p:spPr>
          <a:xfrm>
            <a:off x="4471416" y="2971800"/>
            <a:ext cx="3246120" cy="411480"/>
          </a:xfrm>
          <a:prstGeom prst="rect">
            <a:avLst/>
          </a:prstGeom>
          <a:noFill/>
          <a:ln/>
        </p:spPr>
        <p:txBody>
          <a:bodyPr wrap="square" lIns="0" tIns="0" rIns="0" bIns="0" rtlCol="0" anchor="ctr"/>
          <a:lstStyle/>
          <a:p>
            <a:pPr marL="0" indent="0" algn="ctr">
              <a:buNone/>
            </a:pPr>
            <a:r>
              <a:rPr lang="en-US" sz="1600" b="1" dirty="0">
                <a:solidFill>
                  <a:srgbClr val="16324A"/>
                </a:solidFill>
                <a:latin typeface="Cambria" pitchFamily="34" charset="0"/>
                <a:ea typeface="Cambria" pitchFamily="34" charset="-122"/>
                <a:cs typeface="Cambria" pitchFamily="34" charset="-120"/>
              </a:rPr>
              <a:t>sensitivity</a:t>
            </a:r>
            <a:endParaRPr lang="en-US" sz="1600" dirty="0"/>
          </a:p>
        </p:txBody>
      </p:sp>
      <p:sp>
        <p:nvSpPr>
          <p:cNvPr id="11" name="Text 9"/>
          <p:cNvSpPr txBox="1"/>
          <p:nvPr/>
        </p:nvSpPr>
        <p:spPr>
          <a:xfrm>
            <a:off x="4654296" y="3429000"/>
            <a:ext cx="2880360" cy="822960"/>
          </a:xfrm>
          <a:prstGeom prst="rect">
            <a:avLst/>
          </a:prstGeom>
          <a:noFill/>
          <a:ln/>
        </p:spPr>
        <p:txBody>
          <a:bodyPr wrap="square" lIns="0" tIns="0" rIns="0" bIns="0" rtlCol="0" anchor="ctr"/>
          <a:lstStyle/>
          <a:p>
            <a:pPr marL="0" indent="0" algn="ctr">
              <a:buNone/>
            </a:pPr>
            <a:r>
              <a:rPr lang="en-US" sz="1300" dirty="0">
                <a:solidFill>
                  <a:srgbClr val="5B7286"/>
                </a:solidFill>
                <a:latin typeface="Calibri" pitchFamily="34" charset="0"/>
                <a:ea typeface="Calibri" pitchFamily="34" charset="-122"/>
                <a:cs typeface="Calibri" pitchFamily="34" charset="-120"/>
              </a:rPr>
              <a:t>of all true patients,</a:t>
            </a:r>
            <a:endParaRPr lang="en-US" sz="1300" dirty="0"/>
          </a:p>
          <a:p>
            <a:pPr marL="0" indent="0" algn="ctr">
              <a:buNone/>
            </a:pPr>
            <a:r>
              <a:rPr lang="en-US" sz="1300" dirty="0">
                <a:solidFill>
                  <a:srgbClr val="5B7286"/>
                </a:solidFill>
                <a:latin typeface="Calibri" pitchFamily="34" charset="0"/>
                <a:ea typeface="Calibri" pitchFamily="34" charset="-122"/>
                <a:cs typeface="Calibri" pitchFamily="34" charset="-120"/>
              </a:rPr>
              <a:t>how many did we catch?</a:t>
            </a:r>
            <a:endParaRPr lang="en-US" sz="1300" dirty="0"/>
          </a:p>
        </p:txBody>
      </p:sp>
      <p:sp>
        <p:nvSpPr>
          <p:cNvPr id="12" name="Shape 10"/>
          <p:cNvSpPr/>
          <p:nvPr/>
        </p:nvSpPr>
        <p:spPr>
          <a:xfrm>
            <a:off x="8357616" y="1737360"/>
            <a:ext cx="3246120" cy="2651760"/>
          </a:xfrm>
          <a:prstGeom prst="roundRect">
            <a:avLst>
              <a:gd name="adj" fmla="val 3448"/>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3" name="Text 11"/>
          <p:cNvSpPr txBox="1"/>
          <p:nvPr/>
        </p:nvSpPr>
        <p:spPr>
          <a:xfrm>
            <a:off x="8357616" y="2011680"/>
            <a:ext cx="3246120" cy="914400"/>
          </a:xfrm>
          <a:prstGeom prst="rect">
            <a:avLst/>
          </a:prstGeom>
          <a:noFill/>
          <a:ln/>
        </p:spPr>
        <p:txBody>
          <a:bodyPr wrap="square" lIns="0" tIns="0" rIns="0" bIns="0" rtlCol="0" anchor="ctr"/>
          <a:lstStyle/>
          <a:p>
            <a:pPr marL="0" indent="0" algn="ctr">
              <a:buNone/>
            </a:pPr>
            <a:r>
              <a:rPr lang="en-US" sz="4600" b="1" dirty="0">
                <a:solidFill>
                  <a:srgbClr val="028090"/>
                </a:solidFill>
                <a:latin typeface="Cambria" pitchFamily="34" charset="0"/>
                <a:ea typeface="Cambria" pitchFamily="34" charset="-122"/>
                <a:cs typeface="Cambria" pitchFamily="34" charset="-120"/>
              </a:rPr>
              <a:t>87%</a:t>
            </a:r>
            <a:endParaRPr lang="en-US" sz="4600" dirty="0"/>
          </a:p>
        </p:txBody>
      </p:sp>
      <p:sp>
        <p:nvSpPr>
          <p:cNvPr id="14" name="Text 12"/>
          <p:cNvSpPr txBox="1"/>
          <p:nvPr/>
        </p:nvSpPr>
        <p:spPr>
          <a:xfrm>
            <a:off x="8357616" y="2971800"/>
            <a:ext cx="3246120" cy="411480"/>
          </a:xfrm>
          <a:prstGeom prst="rect">
            <a:avLst/>
          </a:prstGeom>
          <a:noFill/>
          <a:ln/>
        </p:spPr>
        <p:txBody>
          <a:bodyPr wrap="square" lIns="0" tIns="0" rIns="0" bIns="0" rtlCol="0" anchor="ctr"/>
          <a:lstStyle/>
          <a:p>
            <a:pPr marL="0" indent="0" algn="ctr">
              <a:buNone/>
            </a:pPr>
            <a:r>
              <a:rPr lang="en-US" sz="1600" b="1" dirty="0">
                <a:solidFill>
                  <a:srgbClr val="16324A"/>
                </a:solidFill>
                <a:latin typeface="Cambria" pitchFamily="34" charset="0"/>
                <a:ea typeface="Cambria" pitchFamily="34" charset="-122"/>
                <a:cs typeface="Cambria" pitchFamily="34" charset="-120"/>
              </a:rPr>
              <a:t>specificity</a:t>
            </a:r>
            <a:endParaRPr lang="en-US" sz="1600" dirty="0"/>
          </a:p>
        </p:txBody>
      </p:sp>
      <p:sp>
        <p:nvSpPr>
          <p:cNvPr id="15" name="Text 13"/>
          <p:cNvSpPr txBox="1"/>
          <p:nvPr/>
        </p:nvSpPr>
        <p:spPr>
          <a:xfrm>
            <a:off x="8540496" y="3429000"/>
            <a:ext cx="2880360" cy="822960"/>
          </a:xfrm>
          <a:prstGeom prst="rect">
            <a:avLst/>
          </a:prstGeom>
          <a:noFill/>
          <a:ln/>
        </p:spPr>
        <p:txBody>
          <a:bodyPr wrap="square" lIns="0" tIns="0" rIns="0" bIns="0" rtlCol="0" anchor="ctr"/>
          <a:lstStyle/>
          <a:p>
            <a:pPr marL="0" indent="0" algn="ctr">
              <a:buNone/>
            </a:pPr>
            <a:r>
              <a:rPr lang="en-US" sz="1300" dirty="0">
                <a:solidFill>
                  <a:srgbClr val="5B7286"/>
                </a:solidFill>
                <a:latin typeface="Calibri" pitchFamily="34" charset="0"/>
                <a:ea typeface="Calibri" pitchFamily="34" charset="-122"/>
                <a:cs typeface="Calibri" pitchFamily="34" charset="-120"/>
              </a:rPr>
              <a:t>of all healthy people,</a:t>
            </a:r>
            <a:endParaRPr lang="en-US" sz="1300" dirty="0"/>
          </a:p>
          <a:p>
            <a:pPr marL="0" indent="0" algn="ctr">
              <a:buNone/>
            </a:pPr>
            <a:r>
              <a:rPr lang="en-US" sz="1300" dirty="0">
                <a:solidFill>
                  <a:srgbClr val="5B7286"/>
                </a:solidFill>
                <a:latin typeface="Calibri" pitchFamily="34" charset="0"/>
                <a:ea typeface="Calibri" pitchFamily="34" charset="-122"/>
                <a:cs typeface="Calibri" pitchFamily="34" charset="-120"/>
              </a:rPr>
              <a:t>how many did we clear?</a:t>
            </a:r>
            <a:endParaRPr lang="en-US" sz="1300" dirty="0"/>
          </a:p>
        </p:txBody>
      </p:sp>
      <p:sp>
        <p:nvSpPr>
          <p:cNvPr id="16" name="Shape 14"/>
          <p:cNvSpPr/>
          <p:nvPr/>
        </p:nvSpPr>
        <p:spPr>
          <a:xfrm>
            <a:off x="1828800" y="4846320"/>
            <a:ext cx="8531352" cy="914400"/>
          </a:xfrm>
          <a:prstGeom prst="roundRect">
            <a:avLst>
              <a:gd name="adj" fmla="val 10000"/>
            </a:avLst>
          </a:prstGeom>
          <a:solidFill>
            <a:srgbClr val="EAF4F5"/>
          </a:solidFill>
          <a:ln w="12700">
            <a:solidFill>
              <a:srgbClr val="D9E5EE"/>
            </a:solidFill>
            <a:prstDash val="solid"/>
          </a:ln>
          <a:effectLst>
            <a:outerShdw blurRad="114300" dist="38100" dir="5400000" algn="bl" rotWithShape="0">
              <a:srgbClr val="9FB4C4">
                <a:alpha val="35000"/>
              </a:srgbClr>
            </a:outerShdw>
          </a:effectLst>
        </p:spPr>
      </p:sp>
      <p:sp>
        <p:nvSpPr>
          <p:cNvPr id="17" name="Text 15"/>
          <p:cNvSpPr txBox="1"/>
          <p:nvPr/>
        </p:nvSpPr>
        <p:spPr>
          <a:xfrm>
            <a:off x="1828800" y="4846320"/>
            <a:ext cx="8531352" cy="914400"/>
          </a:xfrm>
          <a:prstGeom prst="rect">
            <a:avLst/>
          </a:prstGeom>
          <a:noFill/>
          <a:ln/>
        </p:spPr>
        <p:txBody>
          <a:bodyPr wrap="square" lIns="1524" tIns="1524" rIns="1524" bIns="1524" rtlCol="0" anchor="ctr"/>
          <a:lstStyle/>
          <a:p>
            <a:pPr marL="0" indent="0" algn="ctr">
              <a:buNone/>
            </a:pPr>
            <a:r>
              <a:rPr lang="en-US" sz="1450" dirty="0">
                <a:solidFill>
                  <a:srgbClr val="16324A"/>
                </a:solidFill>
                <a:latin typeface="Calibri" pitchFamily="34" charset="0"/>
                <a:ea typeface="Calibri" pitchFamily="34" charset="-122"/>
                <a:cs typeface="Calibri" pitchFamily="34" charset="-120"/>
              </a:rPr>
              <a:t>Why not plain accuracy? A lazy model that always says “healthy” scores 57.5% —</a:t>
            </a:r>
            <a:endParaRPr lang="en-US" sz="1450" dirty="0"/>
          </a:p>
          <a:p>
            <a:pPr marL="0" indent="0" algn="ctr">
              <a:buNone/>
            </a:pPr>
            <a:r>
              <a:rPr lang="en-US" sz="1450" dirty="0">
                <a:solidFill>
                  <a:srgbClr val="16324A"/>
                </a:solidFill>
                <a:latin typeface="Calibri" pitchFamily="34" charset="0"/>
                <a:ea typeface="Calibri" pitchFamily="34" charset="-122"/>
                <a:cs typeface="Calibri" pitchFamily="34" charset="-120"/>
              </a:rPr>
              <a:t>and finds </a:t>
            </a:r>
            <a:endParaRPr lang="en-US" sz="1450" dirty="0"/>
          </a:p>
          <a:p>
            <a:pPr marL="0" indent="0" algn="ctr">
              <a:buNone/>
            </a:pPr>
            <a:r>
              <a:rPr lang="en-US" sz="1450" b="1" dirty="0">
                <a:solidFill>
                  <a:srgbClr val="E85A5A"/>
                </a:solidFill>
                <a:latin typeface="Calibri" pitchFamily="34" charset="0"/>
                <a:ea typeface="Calibri" pitchFamily="34" charset="-122"/>
                <a:cs typeface="Calibri" pitchFamily="34" charset="-120"/>
              </a:rPr>
              <a:t>zero patients.</a:t>
            </a:r>
            <a:endParaRPr lang="en-US" sz="14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marL="0" indent="0" algn="l">
              <a:buNone/>
            </a:pPr>
            <a:r>
              <a:rPr lang="en-US" sz="3000" b="1" dirty="0">
                <a:solidFill>
                  <a:srgbClr val="16324A"/>
                </a:solidFill>
                <a:latin typeface="Cambria" pitchFamily="34" charset="0"/>
                <a:ea typeface="Cambria" pitchFamily="34" charset="-122"/>
                <a:cs typeface="Cambria" pitchFamily="34" charset="-120"/>
              </a:rPr>
              <a:t>The confusion matrix — every recording, counted</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marL="0" indent="0" algn="r">
              <a:buNone/>
            </a:pPr>
            <a:r>
              <a:rPr lang="en-US" sz="1000" dirty="0">
                <a:solidFill>
                  <a:srgbClr val="5B7286"/>
                </a:solidFill>
                <a:latin typeface="Calibri" pitchFamily="34" charset="0"/>
                <a:ea typeface="Calibri" pitchFamily="34" charset="-122"/>
                <a:cs typeface="Calibri" pitchFamily="34" charset="-120"/>
              </a:rPr>
              <a:t>13</a:t>
            </a:r>
            <a:endParaRPr lang="en-US" sz="1000" dirty="0"/>
          </a:p>
        </p:txBody>
      </p:sp>
      <p:sp>
        <p:nvSpPr>
          <p:cNvPr id="4" name="Text 2"/>
          <p:cNvSpPr txBox="1"/>
          <p:nvPr/>
        </p:nvSpPr>
        <p:spPr>
          <a:xfrm>
            <a:off x="3108960" y="1188720"/>
            <a:ext cx="1737360" cy="731520"/>
          </a:xfrm>
          <a:prstGeom prst="rect">
            <a:avLst/>
          </a:prstGeom>
          <a:noFill/>
          <a:ln/>
        </p:spPr>
        <p:txBody>
          <a:bodyPr wrap="square" lIns="0" tIns="0" rIns="0" bIns="0" rtlCol="0" anchor="ctr"/>
          <a:lstStyle/>
          <a:p>
            <a:pPr marL="0" indent="0" algn="ctr">
              <a:buNone/>
            </a:pPr>
            <a:r>
              <a:rPr lang="en-US" sz="1300" b="1" dirty="0">
                <a:solidFill>
                  <a:srgbClr val="5B7286"/>
                </a:solidFill>
                <a:latin typeface="Calibri" pitchFamily="34" charset="0"/>
                <a:ea typeface="Calibri" pitchFamily="34" charset="-122"/>
                <a:cs typeface="Calibri" pitchFamily="34" charset="-120"/>
              </a:rPr>
              <a:t>model says:</a:t>
            </a:r>
            <a:endParaRPr lang="en-US" sz="1300" dirty="0"/>
          </a:p>
          <a:p>
            <a:pPr marL="0" indent="0" algn="ctr">
              <a:buNone/>
            </a:pPr>
            <a:r>
              <a:rPr lang="en-US" sz="1300" b="1" dirty="0">
                <a:solidFill>
                  <a:srgbClr val="5B7286"/>
                </a:solidFill>
                <a:latin typeface="Calibri" pitchFamily="34" charset="0"/>
                <a:ea typeface="Calibri" pitchFamily="34" charset="-122"/>
                <a:cs typeface="Calibri" pitchFamily="34" charset="-120"/>
              </a:rPr>
              <a:t>healthy</a:t>
            </a:r>
            <a:endParaRPr lang="en-US" sz="1300" dirty="0"/>
          </a:p>
        </p:txBody>
      </p:sp>
      <p:sp>
        <p:nvSpPr>
          <p:cNvPr id="5" name="Text 3"/>
          <p:cNvSpPr txBox="1"/>
          <p:nvPr/>
        </p:nvSpPr>
        <p:spPr>
          <a:xfrm>
            <a:off x="4992624" y="1188720"/>
            <a:ext cx="1737360" cy="731520"/>
          </a:xfrm>
          <a:prstGeom prst="rect">
            <a:avLst/>
          </a:prstGeom>
          <a:noFill/>
          <a:ln/>
        </p:spPr>
        <p:txBody>
          <a:bodyPr wrap="square" lIns="0" tIns="0" rIns="0" bIns="0" rtlCol="0" anchor="ctr"/>
          <a:lstStyle/>
          <a:p>
            <a:pPr marL="0" indent="0" algn="ctr">
              <a:buNone/>
            </a:pPr>
            <a:r>
              <a:rPr lang="en-US" sz="1300" b="1" dirty="0">
                <a:solidFill>
                  <a:srgbClr val="5B7286"/>
                </a:solidFill>
                <a:latin typeface="Calibri" pitchFamily="34" charset="0"/>
                <a:ea typeface="Calibri" pitchFamily="34" charset="-122"/>
                <a:cs typeface="Calibri" pitchFamily="34" charset="-120"/>
              </a:rPr>
              <a:t>model says:</a:t>
            </a:r>
            <a:endParaRPr lang="en-US" sz="1300" dirty="0"/>
          </a:p>
          <a:p>
            <a:pPr marL="0" indent="0" algn="ctr">
              <a:buNone/>
            </a:pPr>
            <a:r>
              <a:rPr lang="en-US" sz="1300" b="1" dirty="0">
                <a:solidFill>
                  <a:srgbClr val="5B7286"/>
                </a:solidFill>
                <a:latin typeface="Calibri" pitchFamily="34" charset="0"/>
                <a:ea typeface="Calibri" pitchFamily="34" charset="-122"/>
                <a:cs typeface="Calibri" pitchFamily="34" charset="-120"/>
              </a:rPr>
              <a:t>Parkinson's</a:t>
            </a:r>
            <a:endParaRPr lang="en-US" sz="1300" dirty="0"/>
          </a:p>
        </p:txBody>
      </p:sp>
      <p:sp>
        <p:nvSpPr>
          <p:cNvPr id="6" name="Text 4"/>
          <p:cNvSpPr txBox="1"/>
          <p:nvPr/>
        </p:nvSpPr>
        <p:spPr>
          <a:xfrm>
            <a:off x="1737360" y="2331720"/>
            <a:ext cx="1234440" cy="822960"/>
          </a:xfrm>
          <a:prstGeom prst="rect">
            <a:avLst/>
          </a:prstGeom>
          <a:noFill/>
          <a:ln/>
        </p:spPr>
        <p:txBody>
          <a:bodyPr wrap="square" lIns="0" tIns="0" rIns="0" bIns="0" rtlCol="0" anchor="ctr"/>
          <a:lstStyle/>
          <a:p>
            <a:pPr marL="0" indent="0" algn="r">
              <a:buNone/>
            </a:pPr>
            <a:r>
              <a:rPr lang="en-US" sz="1300" b="1" dirty="0">
                <a:solidFill>
                  <a:srgbClr val="5B7286"/>
                </a:solidFill>
                <a:latin typeface="Calibri" pitchFamily="34" charset="0"/>
                <a:ea typeface="Calibri" pitchFamily="34" charset="-122"/>
                <a:cs typeface="Calibri" pitchFamily="34" charset="-120"/>
              </a:rPr>
              <a:t>really</a:t>
            </a:r>
            <a:endParaRPr lang="en-US" sz="1300" dirty="0"/>
          </a:p>
          <a:p>
            <a:pPr marL="0" indent="0" algn="r">
              <a:buNone/>
            </a:pPr>
            <a:r>
              <a:rPr lang="en-US" sz="1300" b="1" dirty="0">
                <a:solidFill>
                  <a:srgbClr val="5B7286"/>
                </a:solidFill>
                <a:latin typeface="Calibri" pitchFamily="34" charset="0"/>
                <a:ea typeface="Calibri" pitchFamily="34" charset="-122"/>
                <a:cs typeface="Calibri" pitchFamily="34" charset="-120"/>
              </a:rPr>
              <a:t>healthy</a:t>
            </a:r>
            <a:endParaRPr lang="en-US" sz="1300" dirty="0"/>
          </a:p>
        </p:txBody>
      </p:sp>
      <p:sp>
        <p:nvSpPr>
          <p:cNvPr id="7" name="Text 5"/>
          <p:cNvSpPr txBox="1"/>
          <p:nvPr/>
        </p:nvSpPr>
        <p:spPr>
          <a:xfrm>
            <a:off x="1737360" y="4215384"/>
            <a:ext cx="1234440" cy="822960"/>
          </a:xfrm>
          <a:prstGeom prst="rect">
            <a:avLst/>
          </a:prstGeom>
          <a:noFill/>
          <a:ln/>
        </p:spPr>
        <p:txBody>
          <a:bodyPr wrap="square" lIns="0" tIns="0" rIns="0" bIns="0" rtlCol="0" anchor="ctr"/>
          <a:lstStyle/>
          <a:p>
            <a:pPr marL="0" indent="0" algn="r">
              <a:buNone/>
            </a:pPr>
            <a:r>
              <a:rPr lang="en-US" sz="1300" b="1" dirty="0">
                <a:solidFill>
                  <a:srgbClr val="5B7286"/>
                </a:solidFill>
                <a:latin typeface="Calibri" pitchFamily="34" charset="0"/>
                <a:ea typeface="Calibri" pitchFamily="34" charset="-122"/>
                <a:cs typeface="Calibri" pitchFamily="34" charset="-120"/>
              </a:rPr>
              <a:t>really</a:t>
            </a:r>
            <a:endParaRPr lang="en-US" sz="1300" dirty="0"/>
          </a:p>
          <a:p>
            <a:pPr marL="0" indent="0" algn="r">
              <a:buNone/>
            </a:pPr>
            <a:r>
              <a:rPr lang="en-US" sz="1300" b="1" dirty="0">
                <a:solidFill>
                  <a:srgbClr val="5B7286"/>
                </a:solidFill>
                <a:latin typeface="Calibri" pitchFamily="34" charset="0"/>
                <a:ea typeface="Calibri" pitchFamily="34" charset="-122"/>
                <a:cs typeface="Calibri" pitchFamily="34" charset="-120"/>
              </a:rPr>
              <a:t>Parkinson's</a:t>
            </a:r>
            <a:endParaRPr lang="en-US" sz="1300" dirty="0"/>
          </a:p>
        </p:txBody>
      </p:sp>
      <p:sp>
        <p:nvSpPr>
          <p:cNvPr id="8" name="Shape 6"/>
          <p:cNvSpPr/>
          <p:nvPr/>
        </p:nvSpPr>
        <p:spPr>
          <a:xfrm>
            <a:off x="3108960" y="1965960"/>
            <a:ext cx="1737360" cy="1737360"/>
          </a:xfrm>
          <a:prstGeom prst="roundRect">
            <a:avLst>
              <a:gd name="adj" fmla="val 5263"/>
            </a:avLst>
          </a:prstGeom>
          <a:solidFill>
            <a:srgbClr val="028090">
              <a:alpha val="18000"/>
            </a:srgbClr>
          </a:solidFill>
          <a:ln w="19050">
            <a:solidFill>
              <a:srgbClr val="028090"/>
            </a:solidFill>
            <a:prstDash val="solid"/>
          </a:ln>
        </p:spPr>
      </p:sp>
      <p:sp>
        <p:nvSpPr>
          <p:cNvPr id="9" name="Text 7"/>
          <p:cNvSpPr txBox="1"/>
          <p:nvPr/>
        </p:nvSpPr>
        <p:spPr>
          <a:xfrm>
            <a:off x="3108960" y="2240280"/>
            <a:ext cx="1737360" cy="777240"/>
          </a:xfrm>
          <a:prstGeom prst="rect">
            <a:avLst/>
          </a:prstGeom>
          <a:noFill/>
          <a:ln/>
        </p:spPr>
        <p:txBody>
          <a:bodyPr wrap="square" lIns="0" tIns="0" rIns="0" bIns="0" rtlCol="0" anchor="ctr"/>
          <a:lstStyle/>
          <a:p>
            <a:pPr marL="0" indent="0" algn="ctr">
              <a:buNone/>
            </a:pPr>
            <a:r>
              <a:rPr lang="en-US" sz="4000" b="1" dirty="0">
                <a:solidFill>
                  <a:srgbClr val="028090"/>
                </a:solidFill>
                <a:latin typeface="Cambria" pitchFamily="34" charset="0"/>
                <a:ea typeface="Cambria" pitchFamily="34" charset="-122"/>
                <a:cs typeface="Cambria" pitchFamily="34" charset="-120"/>
              </a:rPr>
              <a:t>36</a:t>
            </a:r>
            <a:endParaRPr lang="en-US" sz="4000" dirty="0"/>
          </a:p>
        </p:txBody>
      </p:sp>
      <p:sp>
        <p:nvSpPr>
          <p:cNvPr id="10" name="Text 8"/>
          <p:cNvSpPr txBox="1"/>
          <p:nvPr/>
        </p:nvSpPr>
        <p:spPr>
          <a:xfrm>
            <a:off x="3108960" y="3108960"/>
            <a:ext cx="1737360" cy="411480"/>
          </a:xfrm>
          <a:prstGeom prst="rect">
            <a:avLst/>
          </a:prstGeom>
          <a:noFill/>
          <a:ln/>
        </p:spPr>
        <p:txBody>
          <a:bodyPr wrap="square" lIns="0" tIns="0" rIns="0" bIns="0" rtlCol="0" anchor="ctr"/>
          <a:lstStyle/>
          <a:p>
            <a:pPr marL="0" indent="0" algn="ctr">
              <a:buNone/>
            </a:pPr>
            <a:r>
              <a:rPr lang="en-US" sz="1300" dirty="0">
                <a:solidFill>
                  <a:srgbClr val="16324A"/>
                </a:solidFill>
                <a:latin typeface="Calibri" pitchFamily="34" charset="0"/>
                <a:ea typeface="Calibri" pitchFamily="34" charset="-122"/>
                <a:cs typeface="Calibri" pitchFamily="34" charset="-120"/>
              </a:rPr>
              <a:t>correct</a:t>
            </a:r>
            <a:endParaRPr lang="en-US" sz="1300" dirty="0"/>
          </a:p>
        </p:txBody>
      </p:sp>
      <p:sp>
        <p:nvSpPr>
          <p:cNvPr id="11" name="Shape 9"/>
          <p:cNvSpPr/>
          <p:nvPr/>
        </p:nvSpPr>
        <p:spPr>
          <a:xfrm>
            <a:off x="4992624" y="1965960"/>
            <a:ext cx="1737360" cy="1737360"/>
          </a:xfrm>
          <a:prstGeom prst="roundRect">
            <a:avLst>
              <a:gd name="adj" fmla="val 5263"/>
            </a:avLst>
          </a:prstGeom>
          <a:solidFill>
            <a:srgbClr val="E85A5A">
              <a:alpha val="20000"/>
            </a:srgbClr>
          </a:solidFill>
          <a:ln w="19050">
            <a:solidFill>
              <a:srgbClr val="E85A5A"/>
            </a:solidFill>
            <a:prstDash val="solid"/>
          </a:ln>
        </p:spPr>
      </p:sp>
      <p:sp>
        <p:nvSpPr>
          <p:cNvPr id="12" name="Text 10"/>
          <p:cNvSpPr txBox="1"/>
          <p:nvPr/>
        </p:nvSpPr>
        <p:spPr>
          <a:xfrm>
            <a:off x="4992624" y="2240280"/>
            <a:ext cx="1737360" cy="777240"/>
          </a:xfrm>
          <a:prstGeom prst="rect">
            <a:avLst/>
          </a:prstGeom>
          <a:noFill/>
          <a:ln/>
        </p:spPr>
        <p:txBody>
          <a:bodyPr wrap="square" lIns="0" tIns="0" rIns="0" bIns="0" rtlCol="0" anchor="ctr"/>
          <a:lstStyle/>
          <a:p>
            <a:pPr marL="0" indent="0" algn="ctr">
              <a:buNone/>
            </a:pPr>
            <a:r>
              <a:rPr lang="en-US" sz="4000" b="1" dirty="0">
                <a:solidFill>
                  <a:srgbClr val="E85A5A"/>
                </a:solidFill>
                <a:latin typeface="Cambria" pitchFamily="34" charset="0"/>
                <a:ea typeface="Cambria" pitchFamily="34" charset="-122"/>
                <a:cs typeface="Cambria" pitchFamily="34" charset="-120"/>
              </a:rPr>
              <a:t>6</a:t>
            </a:r>
            <a:endParaRPr lang="en-US" sz="4000" dirty="0"/>
          </a:p>
        </p:txBody>
      </p:sp>
      <p:sp>
        <p:nvSpPr>
          <p:cNvPr id="13" name="Text 11"/>
          <p:cNvSpPr txBox="1"/>
          <p:nvPr/>
        </p:nvSpPr>
        <p:spPr>
          <a:xfrm>
            <a:off x="4992624" y="3108960"/>
            <a:ext cx="1737360" cy="411480"/>
          </a:xfrm>
          <a:prstGeom prst="rect">
            <a:avLst/>
          </a:prstGeom>
          <a:noFill/>
          <a:ln/>
        </p:spPr>
        <p:txBody>
          <a:bodyPr wrap="square" lIns="0" tIns="0" rIns="0" bIns="0" rtlCol="0" anchor="ctr"/>
          <a:lstStyle/>
          <a:p>
            <a:pPr marL="0" indent="0" algn="ctr">
              <a:buNone/>
            </a:pPr>
            <a:r>
              <a:rPr lang="en-US" sz="1300" dirty="0">
                <a:solidFill>
                  <a:srgbClr val="16324A"/>
                </a:solidFill>
                <a:latin typeface="Calibri" pitchFamily="34" charset="0"/>
                <a:ea typeface="Calibri" pitchFamily="34" charset="-122"/>
                <a:cs typeface="Calibri" pitchFamily="34" charset="-120"/>
              </a:rPr>
              <a:t>false alarm</a:t>
            </a:r>
            <a:endParaRPr lang="en-US" sz="1300" dirty="0"/>
          </a:p>
        </p:txBody>
      </p:sp>
      <p:sp>
        <p:nvSpPr>
          <p:cNvPr id="14" name="Shape 12"/>
          <p:cNvSpPr/>
          <p:nvPr/>
        </p:nvSpPr>
        <p:spPr>
          <a:xfrm>
            <a:off x="3108960" y="3849624"/>
            <a:ext cx="1737360" cy="1737360"/>
          </a:xfrm>
          <a:prstGeom prst="roundRect">
            <a:avLst>
              <a:gd name="adj" fmla="val 5263"/>
            </a:avLst>
          </a:prstGeom>
          <a:solidFill>
            <a:srgbClr val="E85A5A">
              <a:alpha val="20000"/>
            </a:srgbClr>
          </a:solidFill>
          <a:ln w="19050">
            <a:solidFill>
              <a:srgbClr val="E85A5A"/>
            </a:solidFill>
            <a:prstDash val="solid"/>
          </a:ln>
        </p:spPr>
      </p:sp>
      <p:sp>
        <p:nvSpPr>
          <p:cNvPr id="15" name="Text 13"/>
          <p:cNvSpPr txBox="1"/>
          <p:nvPr/>
        </p:nvSpPr>
        <p:spPr>
          <a:xfrm>
            <a:off x="3108960" y="4123944"/>
            <a:ext cx="1737360" cy="777240"/>
          </a:xfrm>
          <a:prstGeom prst="rect">
            <a:avLst/>
          </a:prstGeom>
          <a:noFill/>
          <a:ln/>
        </p:spPr>
        <p:txBody>
          <a:bodyPr wrap="square" lIns="0" tIns="0" rIns="0" bIns="0" rtlCol="0" anchor="ctr"/>
          <a:lstStyle/>
          <a:p>
            <a:pPr marL="0" indent="0" algn="ctr">
              <a:buNone/>
            </a:pPr>
            <a:r>
              <a:rPr lang="en-US" sz="4000" b="1" dirty="0">
                <a:solidFill>
                  <a:srgbClr val="E85A5A"/>
                </a:solidFill>
                <a:latin typeface="Cambria" pitchFamily="34" charset="0"/>
                <a:ea typeface="Cambria" pitchFamily="34" charset="-122"/>
                <a:cs typeface="Cambria" pitchFamily="34" charset="-120"/>
              </a:rPr>
              <a:t>7</a:t>
            </a:r>
            <a:endParaRPr lang="en-US" sz="4000" dirty="0"/>
          </a:p>
        </p:txBody>
      </p:sp>
      <p:sp>
        <p:nvSpPr>
          <p:cNvPr id="16" name="Text 14"/>
          <p:cNvSpPr txBox="1"/>
          <p:nvPr/>
        </p:nvSpPr>
        <p:spPr>
          <a:xfrm>
            <a:off x="3108960" y="4992624"/>
            <a:ext cx="1737360" cy="411480"/>
          </a:xfrm>
          <a:prstGeom prst="rect">
            <a:avLst/>
          </a:prstGeom>
          <a:noFill/>
          <a:ln/>
        </p:spPr>
        <p:txBody>
          <a:bodyPr wrap="square" lIns="0" tIns="0" rIns="0" bIns="0" rtlCol="0" anchor="ctr"/>
          <a:lstStyle/>
          <a:p>
            <a:pPr marL="0" indent="0" algn="ctr">
              <a:buNone/>
            </a:pPr>
            <a:r>
              <a:rPr lang="en-US" sz="1300" dirty="0">
                <a:solidFill>
                  <a:srgbClr val="16324A"/>
                </a:solidFill>
                <a:latin typeface="Calibri" pitchFamily="34" charset="0"/>
                <a:ea typeface="Calibri" pitchFamily="34" charset="-122"/>
                <a:cs typeface="Calibri" pitchFamily="34" charset="-120"/>
              </a:rPr>
              <a:t>missed</a:t>
            </a:r>
            <a:endParaRPr lang="en-US" sz="1300" dirty="0"/>
          </a:p>
        </p:txBody>
      </p:sp>
      <p:sp>
        <p:nvSpPr>
          <p:cNvPr id="17" name="Shape 15"/>
          <p:cNvSpPr/>
          <p:nvPr/>
        </p:nvSpPr>
        <p:spPr>
          <a:xfrm>
            <a:off x="4992624" y="3849624"/>
            <a:ext cx="1737360" cy="1737360"/>
          </a:xfrm>
          <a:prstGeom prst="roundRect">
            <a:avLst>
              <a:gd name="adj" fmla="val 5263"/>
            </a:avLst>
          </a:prstGeom>
          <a:solidFill>
            <a:srgbClr val="028090">
              <a:alpha val="18000"/>
            </a:srgbClr>
          </a:solidFill>
          <a:ln w="19050">
            <a:solidFill>
              <a:srgbClr val="028090"/>
            </a:solidFill>
            <a:prstDash val="solid"/>
          </a:ln>
        </p:spPr>
      </p:sp>
      <p:sp>
        <p:nvSpPr>
          <p:cNvPr id="18" name="Text 16"/>
          <p:cNvSpPr txBox="1"/>
          <p:nvPr/>
        </p:nvSpPr>
        <p:spPr>
          <a:xfrm>
            <a:off x="4992624" y="4123944"/>
            <a:ext cx="1737360" cy="777240"/>
          </a:xfrm>
          <a:prstGeom prst="rect">
            <a:avLst/>
          </a:prstGeom>
          <a:noFill/>
          <a:ln/>
        </p:spPr>
        <p:txBody>
          <a:bodyPr wrap="square" lIns="0" tIns="0" rIns="0" bIns="0" rtlCol="0" anchor="ctr"/>
          <a:lstStyle/>
          <a:p>
            <a:pPr marL="0" indent="0" algn="ctr">
              <a:buNone/>
            </a:pPr>
            <a:r>
              <a:rPr lang="en-US" sz="4000" b="1" dirty="0">
                <a:solidFill>
                  <a:srgbClr val="028090"/>
                </a:solidFill>
                <a:latin typeface="Cambria" pitchFamily="34" charset="0"/>
                <a:ea typeface="Cambria" pitchFamily="34" charset="-122"/>
                <a:cs typeface="Cambria" pitchFamily="34" charset="-120"/>
              </a:rPr>
              <a:t>24</a:t>
            </a:r>
            <a:endParaRPr lang="en-US" sz="4000" dirty="0"/>
          </a:p>
        </p:txBody>
      </p:sp>
      <p:sp>
        <p:nvSpPr>
          <p:cNvPr id="19" name="Text 17"/>
          <p:cNvSpPr txBox="1"/>
          <p:nvPr/>
        </p:nvSpPr>
        <p:spPr>
          <a:xfrm>
            <a:off x="4992624" y="4992624"/>
            <a:ext cx="1737360" cy="411480"/>
          </a:xfrm>
          <a:prstGeom prst="rect">
            <a:avLst/>
          </a:prstGeom>
          <a:noFill/>
          <a:ln/>
        </p:spPr>
        <p:txBody>
          <a:bodyPr wrap="square" lIns="0" tIns="0" rIns="0" bIns="0" rtlCol="0" anchor="ctr"/>
          <a:lstStyle/>
          <a:p>
            <a:pPr marL="0" indent="0" algn="ctr">
              <a:buNone/>
            </a:pPr>
            <a:r>
              <a:rPr lang="en-US" sz="1300" dirty="0">
                <a:solidFill>
                  <a:srgbClr val="16324A"/>
                </a:solidFill>
                <a:latin typeface="Calibri" pitchFamily="34" charset="0"/>
                <a:ea typeface="Calibri" pitchFamily="34" charset="-122"/>
                <a:cs typeface="Calibri" pitchFamily="34" charset="-120"/>
              </a:rPr>
              <a:t>caught</a:t>
            </a:r>
            <a:endParaRPr lang="en-US" sz="1300" dirty="0"/>
          </a:p>
        </p:txBody>
      </p:sp>
      <p:sp>
        <p:nvSpPr>
          <p:cNvPr id="20" name="Text 18"/>
          <p:cNvSpPr txBox="1"/>
          <p:nvPr/>
        </p:nvSpPr>
        <p:spPr>
          <a:xfrm>
            <a:off x="7040880" y="2926080"/>
            <a:ext cx="4754880" cy="1463040"/>
          </a:xfrm>
          <a:prstGeom prst="rect">
            <a:avLst/>
          </a:prstGeom>
          <a:noFill/>
          <a:ln/>
        </p:spPr>
        <p:txBody>
          <a:bodyPr wrap="square" lIns="0" tIns="0" rIns="0" bIns="0" rtlCol="0" anchor="ctr"/>
          <a:lstStyle/>
          <a:p>
            <a:pPr marL="0" indent="0" algn="l">
              <a:lnSpc>
                <a:spcPts val="2600"/>
              </a:lnSpc>
              <a:buNone/>
            </a:pPr>
            <a:r>
              <a:rPr lang="en-US" sz="1700" dirty="0">
                <a:solidFill>
                  <a:srgbClr val="16324A"/>
                </a:solidFill>
                <a:latin typeface="Calibri" pitchFamily="34" charset="0"/>
                <a:ea typeface="Calibri" pitchFamily="34" charset="-122"/>
                <a:cs typeface="Calibri" pitchFamily="34" charset="-120"/>
              </a:rPr>
              <a:t>Out of 73 recordings:  </a:t>
            </a:r>
            <a:r>
              <a:rPr lang="en-US" sz="1700" b="1" dirty="0">
                <a:solidFill>
                  <a:srgbClr val="028090"/>
                </a:solidFill>
                <a:latin typeface="Calibri" pitchFamily="34" charset="0"/>
                <a:ea typeface="Calibri" pitchFamily="34" charset="-122"/>
                <a:cs typeface="Calibri" pitchFamily="34" charset="-120"/>
              </a:rPr>
              <a:t>60 correct</a:t>
            </a:r>
            <a:r>
              <a:rPr lang="en-US" sz="1700" dirty="0">
                <a:solidFill>
                  <a:srgbClr val="5B7286"/>
                </a:solidFill>
                <a:latin typeface="Calibri" pitchFamily="34" charset="0"/>
                <a:ea typeface="Calibri" pitchFamily="34" charset="-122"/>
                <a:cs typeface="Calibri" pitchFamily="34" charset="-120"/>
              </a:rPr>
              <a:t>  •  </a:t>
            </a:r>
            <a:r>
              <a:rPr lang="en-US" sz="1700" b="1" dirty="0">
                <a:solidFill>
                  <a:srgbClr val="E85A5A"/>
                </a:solidFill>
                <a:latin typeface="Calibri" pitchFamily="34" charset="0"/>
                <a:ea typeface="Calibri" pitchFamily="34" charset="-122"/>
                <a:cs typeface="Calibri" pitchFamily="34" charset="-120"/>
              </a:rPr>
              <a:t>13 mistakes</a:t>
            </a:r>
            <a:r>
              <a:rPr lang="en-US" sz="1700" dirty="0">
                <a:solidFill>
                  <a:srgbClr val="16324A"/>
                </a:solidFill>
                <a:latin typeface="Calibri" pitchFamily="34" charset="0"/>
                <a:ea typeface="Calibri" pitchFamily="34" charset="-122"/>
                <a:cs typeface="Calibri" pitchFamily="34" charset="-120"/>
              </a:rPr>
              <a:t> — and we say so openly.</a:t>
            </a:r>
            <a:endParaRPr lang="en-US" sz="17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80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nodeType="withEffect">
                                  <p:stCondLst>
                                    <p:cond delay="19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20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216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marL="0" indent="0" algn="l">
              <a:buNone/>
            </a:pPr>
            <a:r>
              <a:rPr lang="en-US" sz="3000" b="1" dirty="0">
                <a:solidFill>
                  <a:srgbClr val="16324A"/>
                </a:solidFill>
                <a:latin typeface="Cambria" pitchFamily="34" charset="0"/>
                <a:ea typeface="Cambria" pitchFamily="34" charset="-122"/>
                <a:cs typeface="Cambria" pitchFamily="34" charset="-120"/>
              </a:rPr>
              <a:t>Three things to remember</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marL="0" indent="0" algn="r">
              <a:buNone/>
            </a:pPr>
            <a:r>
              <a:rPr lang="en-US" sz="1000" dirty="0">
                <a:solidFill>
                  <a:srgbClr val="5B7286"/>
                </a:solidFill>
                <a:latin typeface="Calibri" pitchFamily="34" charset="0"/>
                <a:ea typeface="Calibri" pitchFamily="34" charset="-122"/>
                <a:cs typeface="Calibri" pitchFamily="34" charset="-120"/>
              </a:rPr>
              <a:t>14</a:t>
            </a:r>
            <a:endParaRPr lang="en-US" sz="1000" dirty="0"/>
          </a:p>
        </p:txBody>
      </p:sp>
      <p:sp>
        <p:nvSpPr>
          <p:cNvPr id="4" name="Shape 2"/>
          <p:cNvSpPr/>
          <p:nvPr/>
        </p:nvSpPr>
        <p:spPr>
          <a:xfrm>
            <a:off x="1554480" y="1737360"/>
            <a:ext cx="9079992" cy="1051560"/>
          </a:xfrm>
          <a:prstGeom prst="roundRect">
            <a:avLst>
              <a:gd name="adj" fmla="val 8696"/>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5" name="Shape 3"/>
          <p:cNvSpPr/>
          <p:nvPr/>
        </p:nvSpPr>
        <p:spPr>
          <a:xfrm>
            <a:off x="1828800" y="1993392"/>
            <a:ext cx="548640" cy="548640"/>
          </a:xfrm>
          <a:prstGeom prst="ellipse">
            <a:avLst/>
          </a:prstGeom>
          <a:solidFill>
            <a:srgbClr val="028090"/>
          </a:solidFill>
          <a:ln/>
        </p:spPr>
      </p:sp>
      <p:sp>
        <p:nvSpPr>
          <p:cNvPr id="6" name="Text 4"/>
          <p:cNvSpPr txBox="1"/>
          <p:nvPr/>
        </p:nvSpPr>
        <p:spPr>
          <a:xfrm>
            <a:off x="1828800" y="1993392"/>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2606040" y="1737360"/>
            <a:ext cx="7799832" cy="1051560"/>
          </a:xfrm>
          <a:prstGeom prst="rect">
            <a:avLst/>
          </a:prstGeom>
          <a:noFill/>
          <a:ln/>
        </p:spPr>
        <p:txBody>
          <a:bodyPr wrap="square" lIns="0" tIns="0" rIns="0" bIns="0" rtlCol="0" anchor="ctr"/>
          <a:lstStyle/>
          <a:p>
            <a:pPr marL="0" indent="0" algn="l">
              <a:buNone/>
            </a:pPr>
            <a:r>
              <a:rPr lang="en-US" sz="1750" dirty="0">
                <a:solidFill>
                  <a:srgbClr val="16324A"/>
                </a:solidFill>
                <a:latin typeface="Calibri" pitchFamily="34" charset="0"/>
                <a:ea typeface="Calibri" pitchFamily="34" charset="-122"/>
                <a:cs typeface="Calibri" pitchFamily="34" charset="-120"/>
              </a:rPr>
              <a:t>The voice carries a real, measurable signal of Parkinson's.</a:t>
            </a:r>
            <a:endParaRPr lang="en-US" sz="1750" dirty="0"/>
          </a:p>
        </p:txBody>
      </p:sp>
      <p:sp>
        <p:nvSpPr>
          <p:cNvPr id="8" name="Shape 6"/>
          <p:cNvSpPr/>
          <p:nvPr/>
        </p:nvSpPr>
        <p:spPr>
          <a:xfrm>
            <a:off x="1554480" y="3017520"/>
            <a:ext cx="9079992" cy="1051560"/>
          </a:xfrm>
          <a:prstGeom prst="roundRect">
            <a:avLst>
              <a:gd name="adj" fmla="val 8696"/>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9" name="Shape 7"/>
          <p:cNvSpPr/>
          <p:nvPr/>
        </p:nvSpPr>
        <p:spPr>
          <a:xfrm>
            <a:off x="1828800" y="3273552"/>
            <a:ext cx="548640" cy="548640"/>
          </a:xfrm>
          <a:prstGeom prst="ellipse">
            <a:avLst/>
          </a:prstGeom>
          <a:solidFill>
            <a:srgbClr val="028090"/>
          </a:solidFill>
          <a:ln/>
        </p:spPr>
      </p:sp>
      <p:sp>
        <p:nvSpPr>
          <p:cNvPr id="10" name="Text 8"/>
          <p:cNvSpPr txBox="1"/>
          <p:nvPr/>
        </p:nvSpPr>
        <p:spPr>
          <a:xfrm>
            <a:off x="1828800" y="3273552"/>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2606040" y="3017520"/>
            <a:ext cx="7799832" cy="1051560"/>
          </a:xfrm>
          <a:prstGeom prst="rect">
            <a:avLst/>
          </a:prstGeom>
          <a:noFill/>
          <a:ln/>
        </p:spPr>
        <p:txBody>
          <a:bodyPr wrap="square" lIns="0" tIns="0" rIns="0" bIns="0" rtlCol="0" anchor="ctr"/>
          <a:lstStyle/>
          <a:p>
            <a:pPr marL="0" indent="0" algn="l">
              <a:buNone/>
            </a:pPr>
            <a:r>
              <a:rPr lang="en-US" sz="1750" dirty="0">
                <a:solidFill>
                  <a:srgbClr val="16324A"/>
                </a:solidFill>
                <a:latin typeface="Calibri" pitchFamily="34" charset="0"/>
                <a:ea typeface="Calibri" pitchFamily="34" charset="-122"/>
                <a:cs typeface="Calibri" pitchFamily="34" charset="-120"/>
              </a:rPr>
              <a:t>We tested honestly — only on people the computer never heard.</a:t>
            </a:r>
            <a:endParaRPr lang="en-US" sz="1750" dirty="0"/>
          </a:p>
        </p:txBody>
      </p:sp>
      <p:sp>
        <p:nvSpPr>
          <p:cNvPr id="12" name="Shape 10"/>
          <p:cNvSpPr/>
          <p:nvPr/>
        </p:nvSpPr>
        <p:spPr>
          <a:xfrm>
            <a:off x="1554480" y="4297680"/>
            <a:ext cx="9079992" cy="1051560"/>
          </a:xfrm>
          <a:prstGeom prst="roundRect">
            <a:avLst>
              <a:gd name="adj" fmla="val 8696"/>
            </a:avLst>
          </a:prstGeom>
          <a:solidFill>
            <a:srgbClr val="FFFFFF"/>
          </a:solidFill>
          <a:ln w="12700">
            <a:solidFill>
              <a:srgbClr val="D9E5EE"/>
            </a:solidFill>
            <a:prstDash val="solid"/>
          </a:ln>
          <a:effectLst>
            <a:outerShdw blurRad="114300" dist="38100" dir="5400000" algn="bl" rotWithShape="0">
              <a:srgbClr val="9FB4C4">
                <a:alpha val="35000"/>
              </a:srgbClr>
            </a:outerShdw>
          </a:effectLst>
        </p:spPr>
      </p:sp>
      <p:sp>
        <p:nvSpPr>
          <p:cNvPr id="13" name="Shape 11"/>
          <p:cNvSpPr/>
          <p:nvPr/>
        </p:nvSpPr>
        <p:spPr>
          <a:xfrm>
            <a:off x="1828800" y="4553712"/>
            <a:ext cx="548640" cy="548640"/>
          </a:xfrm>
          <a:prstGeom prst="ellipse">
            <a:avLst/>
          </a:prstGeom>
          <a:solidFill>
            <a:srgbClr val="028090"/>
          </a:solidFill>
          <a:ln/>
        </p:spPr>
      </p:sp>
      <p:sp>
        <p:nvSpPr>
          <p:cNvPr id="14" name="Text 12"/>
          <p:cNvSpPr txBox="1"/>
          <p:nvPr/>
        </p:nvSpPr>
        <p:spPr>
          <a:xfrm>
            <a:off x="1828800" y="4553712"/>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2606040" y="4297680"/>
            <a:ext cx="7799832" cy="1051560"/>
          </a:xfrm>
          <a:prstGeom prst="rect">
            <a:avLst/>
          </a:prstGeom>
          <a:noFill/>
          <a:ln/>
        </p:spPr>
        <p:txBody>
          <a:bodyPr wrap="square" lIns="0" tIns="0" rIns="0" bIns="0" rtlCol="0" anchor="ctr"/>
          <a:lstStyle/>
          <a:p>
            <a:pPr marL="0" indent="0" algn="l">
              <a:buNone/>
            </a:pPr>
            <a:r>
              <a:rPr lang="en-US" sz="1750" dirty="0">
                <a:solidFill>
                  <a:srgbClr val="16324A"/>
                </a:solidFill>
                <a:latin typeface="Calibri" pitchFamily="34" charset="0"/>
                <a:ea typeface="Calibri" pitchFamily="34" charset="-122"/>
                <a:cs typeface="Calibri" pitchFamily="34" charset="-120"/>
              </a:rPr>
              <a:t>It is a screening helper, not a diagnosis — a doctor decides.</a:t>
            </a:r>
            <a:endParaRPr lang="en-US" sz="17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4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2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84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9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1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14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5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6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10" grpId="0" animBg="1"/>
      <p:bldP spid="11" grpId="0" animBg="1"/>
      <p:bldP spid="14"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C:\Users\MShaheen\Documents\parkinsons_voice_project\report\defence\figs\wave_teal.png"/>
          <p:cNvPicPr>
            <a:picLocks noChangeAspect="1"/>
          </p:cNvPicPr>
          <p:nvPr/>
        </p:nvPicPr>
        <p:blipFill>
          <a:blip r:embed="rId4"/>
          <a:stretch>
            <a:fillRect/>
          </a:stretch>
        </p:blipFill>
        <p:spPr>
          <a:xfrm>
            <a:off x="0" y="5440680"/>
            <a:ext cx="12188952" cy="1417320"/>
          </a:xfrm>
          <a:prstGeom prst="rect">
            <a:avLst/>
          </a:prstGeom>
        </p:spPr>
      </p:pic>
      <p:sp>
        <p:nvSpPr>
          <p:cNvPr id="3" name="Text 0"/>
          <p:cNvSpPr txBox="1"/>
          <p:nvPr/>
        </p:nvSpPr>
        <p:spPr>
          <a:xfrm>
            <a:off x="822960" y="2377440"/>
            <a:ext cx="10543032" cy="914400"/>
          </a:xfrm>
          <a:prstGeom prst="rect">
            <a:avLst/>
          </a:prstGeom>
          <a:noFill/>
          <a:ln/>
        </p:spPr>
        <p:txBody>
          <a:bodyPr wrap="square" lIns="0" tIns="0" rIns="0" bIns="0" rtlCol="0" anchor="ctr"/>
          <a:lstStyle/>
          <a:p>
            <a:pPr marL="0" indent="0" algn="ctr">
              <a:buNone/>
            </a:pPr>
            <a:r>
              <a:rPr lang="en-US" sz="4600" b="1" dirty="0">
                <a:solidFill>
                  <a:srgbClr val="16324A"/>
                </a:solidFill>
                <a:latin typeface="Cambria" pitchFamily="34" charset="0"/>
                <a:ea typeface="Cambria" pitchFamily="34" charset="-122"/>
                <a:cs typeface="Cambria" pitchFamily="34" charset="-120"/>
              </a:rPr>
              <a:t>Thank you</a:t>
            </a:r>
            <a:endParaRPr lang="en-US" sz="4600" dirty="0"/>
          </a:p>
        </p:txBody>
      </p:sp>
      <p:sp>
        <p:nvSpPr>
          <p:cNvPr id="4" name="Text 1"/>
          <p:cNvSpPr txBox="1"/>
          <p:nvPr/>
        </p:nvSpPr>
        <p:spPr>
          <a:xfrm>
            <a:off x="822960" y="3474720"/>
            <a:ext cx="10543032" cy="457200"/>
          </a:xfrm>
          <a:prstGeom prst="rect">
            <a:avLst/>
          </a:prstGeom>
          <a:noFill/>
          <a:ln/>
        </p:spPr>
        <p:txBody>
          <a:bodyPr wrap="square" lIns="0" tIns="0" rIns="0" bIns="0" rtlCol="0" anchor="ctr"/>
          <a:lstStyle/>
          <a:p>
            <a:pPr marL="0" indent="0" algn="ctr">
              <a:buNone/>
            </a:pPr>
            <a:r>
              <a:rPr lang="en-US" sz="1700" dirty="0">
                <a:solidFill>
                  <a:srgbClr val="5B7286"/>
                </a:solidFill>
                <a:latin typeface="Calibri" pitchFamily="34" charset="0"/>
                <a:ea typeface="Calibri" pitchFamily="34" charset="-122"/>
                <a:cs typeface="Calibri" pitchFamily="34" charset="-120"/>
              </a:rPr>
              <a:t>Questions are welcome.</a:t>
            </a:r>
            <a:endParaRPr lang="en-US" sz="17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2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1548</Words>
  <Application>Microsoft Office PowerPoint</Application>
  <PresentationFormat>Widescreen</PresentationFormat>
  <Paragraphs>202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 Signal Analysis Using Machine Learning for Early Detection of Parkinson's Disease</dc:title>
  <dc:subject>PptxGenJS Presentation</dc:subject>
  <dc:creator>Suhail Mohamed Alhammali</dc:creator>
  <cp:lastModifiedBy>سهيل محمد</cp:lastModifiedBy>
  <cp:revision>2</cp:revision>
  <dcterms:created xsi:type="dcterms:W3CDTF">2026-09-02T16:25:46Z</dcterms:created>
  <dcterms:modified xsi:type="dcterms:W3CDTF">2026-09-02T16:27:11Z</dcterms:modified>
</cp:coreProperties>
</file>