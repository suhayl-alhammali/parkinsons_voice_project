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Suhail. This is my graduation project. It asks one question: can the voice help us notice Parkinson's disease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Parkinson's disease reduces dopamine. That impairs motor control. Every muscle is affected. Also the small muscles of speech. The result is a speech disorder we can measure. The weakness that shakes a hand also moves the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ninety percent of patients show speech changes. In one documented case, changes appeared five years before diagnosis. A microphone is cheap and non-invasive. This is not a diagnosis. It is a reason to see a doctor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research question. Read it slowly. Can a computer tell if a voice pattern resembles patients, or healthy speakers?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six stages. Audio comes in. We clean it. We cut it into ten-second chunks. We take seventy-four measurements per chunk. A model judges. The output is cautious. One key point: the same code runs everywhere. The program checks this before every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measurement family points at physiology. Monotone speech shows in pitch variation. Unstable vocal folds show in jitter and shimmer. Incomplete closure shows in HNR and CPPS. Timing problems show in pauses. Imprecise articulation shows in MFCC dynamics. We implemented all seventy-four measurements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decision matters here. We did not remove noise. Denoising software removes irregularity. But irregularity is the medical evidence. Cleaning the sound would make a sick voice look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danger. Each person gave two recordings. Put one in training and one in test. The model can then win by recognising the person. Not the disease. This is data leakage. Our program stops itself if it ever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number. 0.909. It looks like an excellent result. [Pause.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truth. That number came from a deliberately wrong split. Chunks of the same recording were on both sides. The honest split gives 0.775. Same data. Same model. Only the split changed. The difference is memorisation, not detection. This is why many papers report ninety-five percent or more. Orange means inflated. Blue means honest. Remember these two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fixed the rules before running anything. Same splits for every variant. A complex variant must win by more than 0.02. Anything above 0.95 stops the study. All nineteen configurations are reported. The best score was 0.840. We rejected it. It won by only 0.018. That is smaller than the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configurations were compared under identical splits. Here are the leaders. The ensemble scored highest, 0.840. But it beat the Random Forest by only 0.018, inside the pre-declared margin and inside the noise. So the rule rejected it. The Random Forest at 0.822 was selected. The rule chose the winner, not our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is a Random Forest on the seventy-four measurements. Balanced accuracy 0.822, plus or minus 0.032. Sensitivity 0.771. Specificity 0.873. AUC 0.864. All measured on people the model never heard. Why balanced accuracy? A model that always says healthy gets 0.575 accuracy and finds nobody. Balanced accuracy gives it 0.5 and exposes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the model which measurement mattered most. The answer: pitch range. That is monotone speech. Clinicians have described it for decades. A system with no medical knowledge rediscovered a known clinical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froze the model and tested it on an Italian corpus. Sixty-one speakers. Another language. First, a trap: every 44.1 kilohertz file was a patient. The model could have detected microphones, not disease. We band-limited everything to 16 kilohertz. Result: AUC 0.701. Now the puzzle. Healthy young speakers scored higher than patients. Why? [Pause. Let them think.] It is medically impossible. So it proves the score follows the recording channel out of domain. That is exactly why our interface is cautious.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never guesses near the boundary. Scores between 0.35 and 0.65 are reported as inconclusive. In the Italian test, all elderly healthy speakers landed there. The system refused to mislabel them. Declining to answer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run the live demo now. Start the analysis, then keep talking. If anything misbehaves, the previous slide shows the same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close: the limits, stated plainly. Thirty-seven subjects, one device, one language. The classic voice measures were designed for vowels, not continuous speech. The scores are not probabilities. And one external corpus is one data point about generalisation. All of this is written in the report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not a diagnostic tool. Thirty-seven subjects is small. But the central lesson is this. Validation design moves the number more than model engineering does. An honest 0.822 is worth more than an inflated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MShaheen\Documents\parkinsons_voice_project\report\defence\figs\wave_hero.png">    </p:cNvPr>
          <p:cNvPicPr>
            <a:picLocks noChangeAspect="1"/>
          </p:cNvPicPr>
          <p:nvPr/>
        </p:nvPicPr>
        <p:blipFill>
          <a:blip r:embed="rId2"/>
          <a:stretch>
            <a:fillRect/>
          </a:stretch>
        </p:blipFill>
        <p:spPr>
          <a:xfrm>
            <a:off x="0" y="5257800"/>
            <a:ext cx="12188952" cy="1600200"/>
          </a:xfrm>
          <a:prstGeom prst="rect">
            <a:avLst/>
          </a:prstGeom>
        </p:spPr>
      </p:pic>
      <p:sp>
        <p:nvSpPr>
          <p:cNvPr id="3" name="Text 0"/>
          <p:cNvSpPr txBox="1"/>
          <p:nvPr/>
        </p:nvSpPr>
        <p:spPr>
          <a:xfrm>
            <a:off x="822960" y="1051560"/>
            <a:ext cx="10543032" cy="1554480"/>
          </a:xfrm>
          <a:prstGeom prst="rect">
            <a:avLst/>
          </a:prstGeom>
          <a:noFill/>
          <a:ln/>
        </p:spPr>
        <p:txBody>
          <a:bodyPr wrap="square" lIns="0" tIns="0" rIns="0" bIns="0" rtlCol="0" anchor="ctr"/>
          <a:lstStyle/>
          <a:p>
            <a:pPr algn="ctr" indent="0" marL="0">
              <a:buNone/>
            </a:pPr>
            <a:r>
              <a:rPr lang="en-US" sz="3300" b="1" dirty="0">
                <a:solidFill>
                  <a:srgbClr val="E8EEF7"/>
                </a:solidFill>
                <a:latin typeface="Cambria" pitchFamily="34" charset="0"/>
                <a:ea typeface="Cambria" pitchFamily="34" charset="-122"/>
                <a:cs typeface="Cambria" pitchFamily="34" charset="-120"/>
              </a:rPr>
              <a:t>Voice Signal Analysis Using Machine Learning
</a:t>
            </a:r>
            <a:pPr algn="ctr" indent="0" marL="0">
              <a:buNone/>
            </a:pPr>
            <a:r>
              <a:rPr lang="en-US" sz="3300" b="1" dirty="0">
                <a:solidFill>
                  <a:srgbClr val="E8EEF7"/>
                </a:solidFill>
                <a:latin typeface="Cambria" pitchFamily="34" charset="0"/>
                <a:ea typeface="Cambria" pitchFamily="34" charset="-122"/>
                <a:cs typeface="Cambria" pitchFamily="34" charset="-120"/>
              </a:rPr>
              <a:t>for Early Detection of Parkinson's Disease</a:t>
            </a:r>
            <a:endParaRPr lang="en-US" sz="3300" dirty="0"/>
          </a:p>
        </p:txBody>
      </p:sp>
      <p:sp>
        <p:nvSpPr>
          <p:cNvPr id="4" name="Text 1"/>
          <p:cNvSpPr txBox="1"/>
          <p:nvPr/>
        </p:nvSpPr>
        <p:spPr>
          <a:xfrm>
            <a:off x="822960" y="2743200"/>
            <a:ext cx="10543032" cy="411480"/>
          </a:xfrm>
          <a:prstGeom prst="rect">
            <a:avLst/>
          </a:prstGeom>
          <a:noFill/>
          <a:ln/>
        </p:spPr>
        <p:txBody>
          <a:bodyPr wrap="square" lIns="0" tIns="0" rIns="0" bIns="0" rtlCol="0" anchor="ctr"/>
          <a:lstStyle/>
          <a:p>
            <a:pPr algn="ctr" indent="0" marL="0">
              <a:buNone/>
            </a:pPr>
            <a:r>
              <a:rPr lang="en-US" sz="2000" b="1" dirty="0">
                <a:solidFill>
                  <a:srgbClr val="5AB4F0"/>
                </a:solidFill>
                <a:latin typeface="Calibri" pitchFamily="34" charset="0"/>
                <a:ea typeface="Calibri" pitchFamily="34" charset="-122"/>
                <a:cs typeface="Calibri" pitchFamily="34" charset="-120"/>
              </a:rPr>
              <a:t>Suhail Mohamed Alhammali</a:t>
            </a:r>
            <a:endParaRPr lang="en-US" sz="2000" dirty="0"/>
          </a:p>
        </p:txBody>
      </p:sp>
      <p:sp>
        <p:nvSpPr>
          <p:cNvPr id="5" name="Text 2"/>
          <p:cNvSpPr txBox="1"/>
          <p:nvPr/>
        </p:nvSpPr>
        <p:spPr>
          <a:xfrm>
            <a:off x="822960" y="3172968"/>
            <a:ext cx="10543032" cy="347472"/>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ID 2200208522      Supervisor: Dr. Adel Adyaf</a:t>
            </a:r>
            <a:endParaRPr lang="en-US" sz="1400" dirty="0"/>
          </a:p>
        </p:txBody>
      </p:sp>
      <p:sp>
        <p:nvSpPr>
          <p:cNvPr id="6" name="Text 3"/>
          <p:cNvSpPr txBox="1"/>
          <p:nvPr/>
        </p:nvSpPr>
        <p:spPr>
          <a:xfrm>
            <a:off x="822960" y="3657600"/>
            <a:ext cx="10543032" cy="685800"/>
          </a:xfrm>
          <a:prstGeom prst="rect">
            <a:avLst/>
          </a:prstGeom>
          <a:noFill/>
          <a:ln/>
        </p:spPr>
        <p:txBody>
          <a:bodyPr wrap="square" lIns="0" tIns="0" rIns="0" bIns="0" rtlCol="0" anchor="ctr"/>
          <a:lstStyle/>
          <a:p>
            <a:pPr algn="ctr" indent="0" marL="0">
              <a:buNone/>
            </a:pPr>
            <a:r>
              <a:rPr lang="en-US" sz="1300" dirty="0">
                <a:solidFill>
                  <a:srgbClr val="9DB0C7"/>
                </a:solidFill>
                <a:latin typeface="Calibri" pitchFamily="34" charset="0"/>
                <a:ea typeface="Calibri" pitchFamily="34" charset="-122"/>
                <a:cs typeface="Calibri" pitchFamily="34" charset="-120"/>
              </a:rPr>
              <a:t>Control and Instrumentation Division  •  Department of Biomedical Engineering</a:t>
            </a:r>
            <a:endParaRPr lang="en-US" sz="1300" dirty="0"/>
          </a:p>
          <a:p>
            <a:pPr algn="ctr" indent="0" marL="0">
              <a:buNone/>
            </a:pPr>
            <a:r>
              <a:rPr lang="en-US" sz="1300" dirty="0">
                <a:solidFill>
                  <a:srgbClr val="9DB0C7"/>
                </a:solidFill>
                <a:latin typeface="Calibri" pitchFamily="34" charset="0"/>
                <a:ea typeface="Calibri" pitchFamily="34" charset="-122"/>
                <a:cs typeface="Calibri" pitchFamily="34" charset="-120"/>
              </a:rPr>
              <a:t>Faculty of Engineering, University of Tripoli  •  Spring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A movement disease reaches the voice</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a:t>
            </a:r>
            <a:endParaRPr lang="en-US" sz="1000" dirty="0"/>
          </a:p>
        </p:txBody>
      </p:sp>
      <p:sp>
        <p:nvSpPr>
          <p:cNvPr id="4" name="Shape 2"/>
          <p:cNvSpPr/>
          <p:nvPr/>
        </p:nvSpPr>
        <p:spPr>
          <a:xfrm>
            <a:off x="672084" y="2148840"/>
            <a:ext cx="2286000" cy="1143000"/>
          </a:xfrm>
          <a:prstGeom prst="roundRect">
            <a:avLst>
              <a:gd name="adj" fmla="val 7200"/>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5" name="Text 3"/>
          <p:cNvSpPr txBox="1"/>
          <p:nvPr/>
        </p:nvSpPr>
        <p:spPr>
          <a:xfrm>
            <a:off x="672084" y="2148840"/>
            <a:ext cx="2286000" cy="1143000"/>
          </a:xfrm>
          <a:prstGeom prst="rect">
            <a:avLst/>
          </a:prstGeom>
          <a:noFill/>
          <a:ln/>
        </p:spPr>
        <p:txBody>
          <a:bodyPr wrap="square" lIns="635" tIns="635" rIns="635" bIns="635" rtlCol="0" anchor="ctr"/>
          <a:lstStyle/>
          <a:p>
            <a:pPr algn="ctr" indent="0" marL="0">
              <a:buNone/>
            </a:pPr>
            <a:r>
              <a:rPr lang="en-US" sz="1550" dirty="0">
                <a:solidFill>
                  <a:srgbClr val="E8EEF7"/>
                </a:solidFill>
                <a:latin typeface="Calibri" pitchFamily="34" charset="0"/>
                <a:ea typeface="Calibri" pitchFamily="34" charset="-122"/>
                <a:cs typeface="Calibri" pitchFamily="34" charset="-120"/>
              </a:rPr>
              <a:t>dopamine</a:t>
            </a:r>
            <a:endParaRPr lang="en-US" sz="1550" dirty="0"/>
          </a:p>
          <a:p>
            <a:pPr algn="ctr" indent="0" marL="0">
              <a:buNone/>
            </a:pPr>
            <a:r>
              <a:rPr lang="en-US" sz="1550" dirty="0">
                <a:solidFill>
                  <a:srgbClr val="E8EEF7"/>
                </a:solidFill>
                <a:latin typeface="Calibri" pitchFamily="34" charset="0"/>
                <a:ea typeface="Calibri" pitchFamily="34" charset="-122"/>
                <a:cs typeface="Calibri" pitchFamily="34" charset="-120"/>
              </a:rPr>
              <a:t>loss</a:t>
            </a:r>
            <a:endParaRPr lang="en-US" sz="1550" dirty="0"/>
          </a:p>
        </p:txBody>
      </p:sp>
      <p:sp>
        <p:nvSpPr>
          <p:cNvPr id="6" name="Shape 4"/>
          <p:cNvSpPr/>
          <p:nvPr/>
        </p:nvSpPr>
        <p:spPr>
          <a:xfrm>
            <a:off x="3049524" y="2619756"/>
            <a:ext cx="384048" cy="201168"/>
          </a:xfrm>
          <a:prstGeom prst="rightArrow">
            <a:avLst/>
          </a:prstGeom>
          <a:solidFill>
            <a:srgbClr val="9DB0C7">
              <a:alpha val="65000"/>
            </a:srgbClr>
          </a:solidFill>
          <a:ln/>
        </p:spPr>
      </p:sp>
      <p:sp>
        <p:nvSpPr>
          <p:cNvPr id="7" name="Shape 5"/>
          <p:cNvSpPr/>
          <p:nvPr/>
        </p:nvSpPr>
        <p:spPr>
          <a:xfrm>
            <a:off x="3525012" y="2148840"/>
            <a:ext cx="2286000" cy="1143000"/>
          </a:xfrm>
          <a:prstGeom prst="roundRect">
            <a:avLst>
              <a:gd name="adj" fmla="val 7200"/>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3525012" y="2148840"/>
            <a:ext cx="2286000" cy="1143000"/>
          </a:xfrm>
          <a:prstGeom prst="rect">
            <a:avLst/>
          </a:prstGeom>
          <a:noFill/>
          <a:ln/>
        </p:spPr>
        <p:txBody>
          <a:bodyPr wrap="square" lIns="635" tIns="635" rIns="635" bIns="635" rtlCol="0" anchor="ctr"/>
          <a:lstStyle/>
          <a:p>
            <a:pPr algn="ctr" indent="0" marL="0">
              <a:buNone/>
            </a:pPr>
            <a:r>
              <a:rPr lang="en-US" sz="1550" dirty="0">
                <a:solidFill>
                  <a:srgbClr val="E8EEF7"/>
                </a:solidFill>
                <a:latin typeface="Calibri" pitchFamily="34" charset="0"/>
                <a:ea typeface="Calibri" pitchFamily="34" charset="-122"/>
                <a:cs typeface="Calibri" pitchFamily="34" charset="-120"/>
              </a:rPr>
              <a:t>impaired</a:t>
            </a:r>
            <a:endParaRPr lang="en-US" sz="1550" dirty="0"/>
          </a:p>
          <a:p>
            <a:pPr algn="ctr" indent="0" marL="0">
              <a:buNone/>
            </a:pPr>
            <a:r>
              <a:rPr lang="en-US" sz="1550" dirty="0">
                <a:solidFill>
                  <a:srgbClr val="E8EEF7"/>
                </a:solidFill>
                <a:latin typeface="Calibri" pitchFamily="34" charset="0"/>
                <a:ea typeface="Calibri" pitchFamily="34" charset="-122"/>
                <a:cs typeface="Calibri" pitchFamily="34" charset="-120"/>
              </a:rPr>
              <a:t>motor control</a:t>
            </a:r>
            <a:endParaRPr lang="en-US" sz="1550" dirty="0"/>
          </a:p>
        </p:txBody>
      </p:sp>
      <p:sp>
        <p:nvSpPr>
          <p:cNvPr id="9" name="Shape 7"/>
          <p:cNvSpPr/>
          <p:nvPr/>
        </p:nvSpPr>
        <p:spPr>
          <a:xfrm>
            <a:off x="5902452" y="2619756"/>
            <a:ext cx="384048" cy="201168"/>
          </a:xfrm>
          <a:prstGeom prst="rightArrow">
            <a:avLst/>
          </a:prstGeom>
          <a:solidFill>
            <a:srgbClr val="9DB0C7">
              <a:alpha val="65000"/>
            </a:srgbClr>
          </a:solidFill>
          <a:ln/>
        </p:spPr>
      </p:sp>
      <p:sp>
        <p:nvSpPr>
          <p:cNvPr id="10" name="Shape 8"/>
          <p:cNvSpPr/>
          <p:nvPr/>
        </p:nvSpPr>
        <p:spPr>
          <a:xfrm>
            <a:off x="6377940" y="2148840"/>
            <a:ext cx="2286000" cy="1143000"/>
          </a:xfrm>
          <a:prstGeom prst="roundRect">
            <a:avLst>
              <a:gd name="adj" fmla="val 7200"/>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1" name="Text 9"/>
          <p:cNvSpPr txBox="1"/>
          <p:nvPr/>
        </p:nvSpPr>
        <p:spPr>
          <a:xfrm>
            <a:off x="6377940" y="2148840"/>
            <a:ext cx="2286000" cy="1143000"/>
          </a:xfrm>
          <a:prstGeom prst="rect">
            <a:avLst/>
          </a:prstGeom>
          <a:noFill/>
          <a:ln/>
        </p:spPr>
        <p:txBody>
          <a:bodyPr wrap="square" lIns="635" tIns="635" rIns="635" bIns="635" rtlCol="0" anchor="ctr"/>
          <a:lstStyle/>
          <a:p>
            <a:pPr algn="ctr" indent="0" marL="0">
              <a:buNone/>
            </a:pPr>
            <a:r>
              <a:rPr lang="en-US" sz="1550" dirty="0">
                <a:solidFill>
                  <a:srgbClr val="E8EEF7"/>
                </a:solidFill>
                <a:latin typeface="Calibri" pitchFamily="34" charset="0"/>
                <a:ea typeface="Calibri" pitchFamily="34" charset="-122"/>
                <a:cs typeface="Calibri" pitchFamily="34" charset="-120"/>
              </a:rPr>
              <a:t>hypokinetic</a:t>
            </a:r>
            <a:endParaRPr lang="en-US" sz="1550" dirty="0"/>
          </a:p>
          <a:p>
            <a:pPr algn="ctr" indent="0" marL="0">
              <a:buNone/>
            </a:pPr>
            <a:r>
              <a:rPr lang="en-US" sz="1550" dirty="0">
                <a:solidFill>
                  <a:srgbClr val="E8EEF7"/>
                </a:solidFill>
                <a:latin typeface="Calibri" pitchFamily="34" charset="0"/>
                <a:ea typeface="Calibri" pitchFamily="34" charset="-122"/>
                <a:cs typeface="Calibri" pitchFamily="34" charset="-120"/>
              </a:rPr>
              <a:t>dysarthria</a:t>
            </a:r>
            <a:endParaRPr lang="en-US" sz="1550" dirty="0"/>
          </a:p>
        </p:txBody>
      </p:sp>
      <p:sp>
        <p:nvSpPr>
          <p:cNvPr id="12" name="Shape 10"/>
          <p:cNvSpPr/>
          <p:nvPr/>
        </p:nvSpPr>
        <p:spPr>
          <a:xfrm>
            <a:off x="8755380" y="2619756"/>
            <a:ext cx="384048" cy="201168"/>
          </a:xfrm>
          <a:prstGeom prst="rightArrow">
            <a:avLst/>
          </a:prstGeom>
          <a:solidFill>
            <a:srgbClr val="9DB0C7">
              <a:alpha val="65000"/>
            </a:srgbClr>
          </a:solidFill>
          <a:ln/>
        </p:spPr>
      </p:sp>
      <p:sp>
        <p:nvSpPr>
          <p:cNvPr id="13" name="Shape 11"/>
          <p:cNvSpPr/>
          <p:nvPr/>
        </p:nvSpPr>
        <p:spPr>
          <a:xfrm>
            <a:off x="9230868" y="2148840"/>
            <a:ext cx="2286000" cy="1143000"/>
          </a:xfrm>
          <a:prstGeom prst="roundRect">
            <a:avLst>
              <a:gd name="adj" fmla="val 7200"/>
            </a:avLst>
          </a:prstGeom>
          <a:solidFill>
            <a:srgbClr val="182B47"/>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4" name="Shape 12"/>
          <p:cNvSpPr/>
          <p:nvPr/>
        </p:nvSpPr>
        <p:spPr>
          <a:xfrm>
            <a:off x="9230868" y="2148840"/>
            <a:ext cx="2286000" cy="1143000"/>
          </a:xfrm>
          <a:prstGeom prst="roundRect">
            <a:avLst>
              <a:gd name="adj" fmla="val 7200"/>
            </a:avLst>
          </a:prstGeom>
          <a:solidFill>
            <a:srgbClr val="5AB4F0">
              <a:alpha val="18000"/>
            </a:srgbClr>
          </a:solidFill>
          <a:ln w="19050">
            <a:solidFill>
              <a:srgbClr val="5AB4F0"/>
            </a:solidFill>
            <a:prstDash val="solid"/>
          </a:ln>
        </p:spPr>
      </p:sp>
      <p:sp>
        <p:nvSpPr>
          <p:cNvPr id="15" name="Text 13"/>
          <p:cNvSpPr txBox="1"/>
          <p:nvPr/>
        </p:nvSpPr>
        <p:spPr>
          <a:xfrm>
            <a:off x="9230868" y="2148840"/>
            <a:ext cx="2286000" cy="1143000"/>
          </a:xfrm>
          <a:prstGeom prst="rect">
            <a:avLst/>
          </a:prstGeom>
          <a:noFill/>
          <a:ln/>
        </p:spPr>
        <p:txBody>
          <a:bodyPr wrap="square" lIns="635" tIns="635" rIns="635" bIns="635" rtlCol="0" anchor="ctr"/>
          <a:lstStyle/>
          <a:p>
            <a:pPr algn="ctr" indent="0" marL="0">
              <a:buNone/>
            </a:pPr>
            <a:r>
              <a:rPr lang="en-US" sz="1550" b="1" dirty="0">
                <a:solidFill>
                  <a:srgbClr val="E8EEF7"/>
                </a:solidFill>
                <a:latin typeface="Calibri" pitchFamily="34" charset="0"/>
                <a:ea typeface="Calibri" pitchFamily="34" charset="-122"/>
                <a:cs typeface="Calibri" pitchFamily="34" charset="-120"/>
              </a:rPr>
              <a:t>measurable</a:t>
            </a:r>
            <a:endParaRPr lang="en-US" sz="1550" dirty="0"/>
          </a:p>
          <a:p>
            <a:pPr algn="ctr" indent="0" marL="0">
              <a:buNone/>
            </a:pPr>
            <a:r>
              <a:rPr lang="en-US" sz="1550" b="1" dirty="0">
                <a:solidFill>
                  <a:srgbClr val="E8EEF7"/>
                </a:solidFill>
                <a:latin typeface="Calibri" pitchFamily="34" charset="0"/>
                <a:ea typeface="Calibri" pitchFamily="34" charset="-122"/>
                <a:cs typeface="Calibri" pitchFamily="34" charset="-120"/>
              </a:rPr>
              <a:t>acoustic change</a:t>
            </a:r>
            <a:endParaRPr lang="en-US" sz="1550" dirty="0"/>
          </a:p>
        </p:txBody>
      </p:sp>
      <p:sp>
        <p:nvSpPr>
          <p:cNvPr id="16" name="Text 14"/>
          <p:cNvSpPr txBox="1"/>
          <p:nvPr/>
        </p:nvSpPr>
        <p:spPr>
          <a:xfrm>
            <a:off x="822960" y="3566160"/>
            <a:ext cx="10543032" cy="365760"/>
          </a:xfrm>
          <a:prstGeom prst="rect">
            <a:avLst/>
          </a:prstGeom>
          <a:noFill/>
          <a:ln/>
        </p:spPr>
        <p:txBody>
          <a:bodyPr wrap="square" lIns="0" tIns="0" rIns="0" bIns="0" rtlCol="0" anchor="ctr"/>
          <a:lstStyle/>
          <a:p>
            <a:pPr algn="ctr" indent="0" marL="0">
              <a:buNone/>
            </a:pPr>
            <a:r>
              <a:rPr lang="en-US" sz="1300" i="1" dirty="0">
                <a:solidFill>
                  <a:srgbClr val="9DB0C7"/>
                </a:solidFill>
                <a:latin typeface="Calibri" pitchFamily="34" charset="0"/>
                <a:ea typeface="Calibri" pitchFamily="34" charset="-122"/>
                <a:cs typeface="Calibri" pitchFamily="34" charset="-120"/>
              </a:rPr>
              <a:t>every muscle — breathing, larynx, articulation</a:t>
            </a:r>
            <a:endParaRPr lang="en-US" sz="1300" dirty="0"/>
          </a:p>
        </p:txBody>
      </p:sp>
      <p:sp>
        <p:nvSpPr>
          <p:cNvPr id="17" name="Text 15"/>
          <p:cNvSpPr txBox="1"/>
          <p:nvPr/>
        </p:nvSpPr>
        <p:spPr>
          <a:xfrm>
            <a:off x="822960" y="4434840"/>
            <a:ext cx="10543032" cy="502920"/>
          </a:xfrm>
          <a:prstGeom prst="rect">
            <a:avLst/>
          </a:prstGeom>
          <a:noFill/>
          <a:ln/>
        </p:spPr>
        <p:txBody>
          <a:bodyPr wrap="square" lIns="0" tIns="0" rIns="0" bIns="0" rtlCol="0" anchor="ctr"/>
          <a:lstStyle/>
          <a:p>
            <a:pPr algn="ctr" indent="0" marL="0">
              <a:buNone/>
            </a:pPr>
            <a:r>
              <a:rPr lang="en-US" sz="2000" i="1" dirty="0">
                <a:solidFill>
                  <a:srgbClr val="E8EEF7"/>
                </a:solidFill>
                <a:latin typeface="Cambria" pitchFamily="34" charset="0"/>
                <a:ea typeface="Cambria" pitchFamily="34" charset="-122"/>
                <a:cs typeface="Cambria" pitchFamily="34" charset="-120"/>
              </a:rPr>
              <a:t>The weakness that shakes a hand also moves the voice.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The voice is a cheap, early window</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3</a:t>
            </a:r>
            <a:endParaRPr lang="en-US" sz="1000" dirty="0"/>
          </a:p>
        </p:txBody>
      </p:sp>
      <p:sp>
        <p:nvSpPr>
          <p:cNvPr id="4" name="Shape 2"/>
          <p:cNvSpPr/>
          <p:nvPr/>
        </p:nvSpPr>
        <p:spPr>
          <a:xfrm>
            <a:off x="585216" y="1691640"/>
            <a:ext cx="3246120" cy="2880360"/>
          </a:xfrm>
          <a:prstGeom prst="roundRect">
            <a:avLst>
              <a:gd name="adj" fmla="val 2857"/>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1824228" y="1307592"/>
            <a:ext cx="768096" cy="768096"/>
          </a:xfrm>
          <a:prstGeom prst="ellipse">
            <a:avLst/>
          </a:prstGeom>
          <a:solidFill>
            <a:srgbClr val="182B47"/>
          </a:solidFill>
          <a:ln w="15875">
            <a:solidFill>
              <a:srgbClr val="5AB4F0"/>
            </a:solidFill>
            <a:prstDash val="solid"/>
          </a:ln>
          <a:effectLst>
            <a:outerShdw sx="100000" sy="100000" kx="0" ky="0" algn="bl" rotWithShape="0" blurRad="88900" dist="25400" dir="5400000">
              <a:srgbClr val="000000">
                <a:alpha val="35000"/>
              </a:srgbClr>
            </a:outerShdw>
          </a:effectLst>
        </p:spPr>
      </p:sp>
      <p:pic>
        <p:nvPicPr>
          <p:cNvPr id="6" name="Image 0" descr="C:\Users\MShaheen\Documents\parkinsons_voice_project\report\defence\figs\ic_ear.png">    </p:cNvPr>
          <p:cNvPicPr>
            <a:picLocks noChangeAspect="1"/>
          </p:cNvPicPr>
          <p:nvPr/>
        </p:nvPicPr>
        <p:blipFill>
          <a:blip r:embed="rId2"/>
          <a:stretch>
            <a:fillRect/>
          </a:stretch>
        </p:blipFill>
        <p:spPr>
          <a:xfrm>
            <a:off x="2023933" y="1507297"/>
            <a:ext cx="368686" cy="368686"/>
          </a:xfrm>
          <a:prstGeom prst="rect">
            <a:avLst/>
          </a:prstGeom>
        </p:spPr>
      </p:pic>
      <p:sp>
        <p:nvSpPr>
          <p:cNvPr id="7" name="Text 4"/>
          <p:cNvSpPr txBox="1"/>
          <p:nvPr/>
        </p:nvSpPr>
        <p:spPr>
          <a:xfrm>
            <a:off x="585216" y="2377440"/>
            <a:ext cx="3246120" cy="1051560"/>
          </a:xfrm>
          <a:prstGeom prst="rect">
            <a:avLst/>
          </a:prstGeom>
          <a:noFill/>
          <a:ln/>
        </p:spPr>
        <p:txBody>
          <a:bodyPr wrap="square" lIns="0" tIns="0" rIns="0" bIns="0" rtlCol="0" anchor="ctr"/>
          <a:lstStyle/>
          <a:p>
            <a:pPr algn="ctr" indent="0" marL="0">
              <a:buNone/>
            </a:pPr>
            <a:r>
              <a:rPr lang="en-US" sz="5400" b="1" dirty="0">
                <a:solidFill>
                  <a:srgbClr val="5AB4F0"/>
                </a:solidFill>
                <a:latin typeface="Cambria" pitchFamily="34" charset="0"/>
                <a:ea typeface="Cambria" pitchFamily="34" charset="-122"/>
                <a:cs typeface="Cambria" pitchFamily="34" charset="-120"/>
              </a:rPr>
              <a:t>~90%</a:t>
            </a:r>
            <a:endParaRPr lang="en-US" sz="5400" dirty="0"/>
          </a:p>
        </p:txBody>
      </p:sp>
      <p:sp>
        <p:nvSpPr>
          <p:cNvPr id="8" name="Text 5"/>
          <p:cNvSpPr txBox="1"/>
          <p:nvPr/>
        </p:nvSpPr>
        <p:spPr>
          <a:xfrm>
            <a:off x="768096" y="3566160"/>
            <a:ext cx="2880360" cy="777240"/>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of patients show</a:t>
            </a:r>
            <a:endParaRPr lang="en-US" sz="1400" dirty="0"/>
          </a:p>
          <a:p>
            <a:pPr algn="ctr" indent="0" marL="0">
              <a:buNone/>
            </a:pPr>
            <a:r>
              <a:rPr lang="en-US" sz="1400" dirty="0">
                <a:solidFill>
                  <a:srgbClr val="9DB0C7"/>
                </a:solidFill>
                <a:latin typeface="Calibri" pitchFamily="34" charset="0"/>
                <a:ea typeface="Calibri" pitchFamily="34" charset="-122"/>
                <a:cs typeface="Calibri" pitchFamily="34" charset="-120"/>
              </a:rPr>
              <a:t>speech changes</a:t>
            </a:r>
            <a:endParaRPr lang="en-US" sz="1400" dirty="0"/>
          </a:p>
        </p:txBody>
      </p:sp>
      <p:sp>
        <p:nvSpPr>
          <p:cNvPr id="9" name="Shape 6"/>
          <p:cNvSpPr/>
          <p:nvPr/>
        </p:nvSpPr>
        <p:spPr>
          <a:xfrm>
            <a:off x="4471416" y="1691640"/>
            <a:ext cx="3246120" cy="2880360"/>
          </a:xfrm>
          <a:prstGeom prst="roundRect">
            <a:avLst>
              <a:gd name="adj" fmla="val 2857"/>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0" name="Shape 7"/>
          <p:cNvSpPr/>
          <p:nvPr/>
        </p:nvSpPr>
        <p:spPr>
          <a:xfrm>
            <a:off x="5710428" y="1307592"/>
            <a:ext cx="768096" cy="768096"/>
          </a:xfrm>
          <a:prstGeom prst="ellipse">
            <a:avLst/>
          </a:prstGeom>
          <a:solidFill>
            <a:srgbClr val="182B47"/>
          </a:solidFill>
          <a:ln w="15875">
            <a:solidFill>
              <a:srgbClr val="5AB4F0"/>
            </a:solidFill>
            <a:prstDash val="solid"/>
          </a:ln>
          <a:effectLst>
            <a:outerShdw sx="100000" sy="100000" kx="0" ky="0" algn="bl" rotWithShape="0" blurRad="88900" dist="25400" dir="5400000">
              <a:srgbClr val="000000">
                <a:alpha val="35000"/>
              </a:srgbClr>
            </a:outerShdw>
          </a:effectLst>
        </p:spPr>
      </p:sp>
      <p:pic>
        <p:nvPicPr>
          <p:cNvPr id="11" name="Image 1" descr="C:\Users\MShaheen\Documents\parkinsons_voice_project\report\defence\figs\ic_clock.png">    </p:cNvPr>
          <p:cNvPicPr>
            <a:picLocks noChangeAspect="1"/>
          </p:cNvPicPr>
          <p:nvPr/>
        </p:nvPicPr>
        <p:blipFill>
          <a:blip r:embed="rId3"/>
          <a:stretch>
            <a:fillRect/>
          </a:stretch>
        </p:blipFill>
        <p:spPr>
          <a:xfrm>
            <a:off x="5910133" y="1507297"/>
            <a:ext cx="368686" cy="368686"/>
          </a:xfrm>
          <a:prstGeom prst="rect">
            <a:avLst/>
          </a:prstGeom>
        </p:spPr>
      </p:pic>
      <p:sp>
        <p:nvSpPr>
          <p:cNvPr id="12" name="Text 8"/>
          <p:cNvSpPr txBox="1"/>
          <p:nvPr/>
        </p:nvSpPr>
        <p:spPr>
          <a:xfrm>
            <a:off x="4471416" y="2377440"/>
            <a:ext cx="3246120" cy="1051560"/>
          </a:xfrm>
          <a:prstGeom prst="rect">
            <a:avLst/>
          </a:prstGeom>
          <a:noFill/>
          <a:ln/>
        </p:spPr>
        <p:txBody>
          <a:bodyPr wrap="square" lIns="0" tIns="0" rIns="0" bIns="0" rtlCol="0" anchor="ctr"/>
          <a:lstStyle/>
          <a:p>
            <a:pPr algn="ctr" indent="0" marL="0">
              <a:buNone/>
            </a:pPr>
            <a:r>
              <a:rPr lang="en-US" sz="5400" b="1" dirty="0">
                <a:solidFill>
                  <a:srgbClr val="5AB4F0"/>
                </a:solidFill>
                <a:latin typeface="Cambria" pitchFamily="34" charset="0"/>
                <a:ea typeface="Cambria" pitchFamily="34" charset="-122"/>
                <a:cs typeface="Cambria" pitchFamily="34" charset="-120"/>
              </a:rPr>
              <a:t>5 yr</a:t>
            </a:r>
            <a:endParaRPr lang="en-US" sz="5400" dirty="0"/>
          </a:p>
        </p:txBody>
      </p:sp>
      <p:sp>
        <p:nvSpPr>
          <p:cNvPr id="13" name="Text 9"/>
          <p:cNvSpPr txBox="1"/>
          <p:nvPr/>
        </p:nvSpPr>
        <p:spPr>
          <a:xfrm>
            <a:off x="4654296" y="3566160"/>
            <a:ext cx="2880360" cy="777240"/>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before diagnosis,</a:t>
            </a:r>
            <a:endParaRPr lang="en-US" sz="1400" dirty="0"/>
          </a:p>
          <a:p>
            <a:pPr algn="ctr" indent="0" marL="0">
              <a:buNone/>
            </a:pPr>
            <a:r>
              <a:rPr lang="en-US" sz="1400" dirty="0">
                <a:solidFill>
                  <a:srgbClr val="9DB0C7"/>
                </a:solidFill>
                <a:latin typeface="Calibri" pitchFamily="34" charset="0"/>
                <a:ea typeface="Calibri" pitchFamily="34" charset="-122"/>
                <a:cs typeface="Calibri" pitchFamily="34" charset="-120"/>
              </a:rPr>
              <a:t>in one documented case</a:t>
            </a:r>
            <a:endParaRPr lang="en-US" sz="1400" dirty="0"/>
          </a:p>
        </p:txBody>
      </p:sp>
      <p:sp>
        <p:nvSpPr>
          <p:cNvPr id="14" name="Shape 10"/>
          <p:cNvSpPr/>
          <p:nvPr/>
        </p:nvSpPr>
        <p:spPr>
          <a:xfrm>
            <a:off x="8357616" y="1691640"/>
            <a:ext cx="3246120" cy="2880360"/>
          </a:xfrm>
          <a:prstGeom prst="roundRect">
            <a:avLst>
              <a:gd name="adj" fmla="val 2857"/>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5" name="Shape 11"/>
          <p:cNvSpPr/>
          <p:nvPr/>
        </p:nvSpPr>
        <p:spPr>
          <a:xfrm>
            <a:off x="9596628" y="1307592"/>
            <a:ext cx="768096" cy="768096"/>
          </a:xfrm>
          <a:prstGeom prst="ellipse">
            <a:avLst/>
          </a:prstGeom>
          <a:solidFill>
            <a:srgbClr val="182B47"/>
          </a:solidFill>
          <a:ln w="15875">
            <a:solidFill>
              <a:srgbClr val="5AB4F0"/>
            </a:solidFill>
            <a:prstDash val="solid"/>
          </a:ln>
          <a:effectLst>
            <a:outerShdw sx="100000" sy="100000" kx="0" ky="0" algn="bl" rotWithShape="0" blurRad="88900" dist="25400" dir="5400000">
              <a:srgbClr val="000000">
                <a:alpha val="35000"/>
              </a:srgbClr>
            </a:outerShdw>
          </a:effectLst>
        </p:spPr>
      </p:sp>
      <p:pic>
        <p:nvPicPr>
          <p:cNvPr id="16" name="Image 2" descr="C:\Users\MShaheen\Documents\parkinsons_voice_project\report\defence\figs\ic_mic.png">    </p:cNvPr>
          <p:cNvPicPr>
            <a:picLocks noChangeAspect="1"/>
          </p:cNvPicPr>
          <p:nvPr/>
        </p:nvPicPr>
        <p:blipFill>
          <a:blip r:embed="rId4"/>
          <a:stretch>
            <a:fillRect/>
          </a:stretch>
        </p:blipFill>
        <p:spPr>
          <a:xfrm>
            <a:off x="9796333" y="1507297"/>
            <a:ext cx="368686" cy="368686"/>
          </a:xfrm>
          <a:prstGeom prst="rect">
            <a:avLst/>
          </a:prstGeom>
        </p:spPr>
      </p:pic>
      <p:sp>
        <p:nvSpPr>
          <p:cNvPr id="17" name="Text 12"/>
          <p:cNvSpPr txBox="1"/>
          <p:nvPr/>
        </p:nvSpPr>
        <p:spPr>
          <a:xfrm>
            <a:off x="8357616" y="2377440"/>
            <a:ext cx="3246120" cy="1051560"/>
          </a:xfrm>
          <a:prstGeom prst="rect">
            <a:avLst/>
          </a:prstGeom>
          <a:noFill/>
          <a:ln/>
        </p:spPr>
        <p:txBody>
          <a:bodyPr wrap="square" lIns="0" tIns="0" rIns="0" bIns="0" rtlCol="0" anchor="ctr"/>
          <a:lstStyle/>
          <a:p>
            <a:pPr algn="ctr" indent="0" marL="0">
              <a:buNone/>
            </a:pPr>
            <a:r>
              <a:rPr lang="en-US" sz="5400" b="1" dirty="0">
                <a:solidFill>
                  <a:srgbClr val="5AB4F0"/>
                </a:solidFill>
                <a:latin typeface="Cambria" pitchFamily="34" charset="0"/>
                <a:ea typeface="Cambria" pitchFamily="34" charset="-122"/>
                <a:cs typeface="Cambria" pitchFamily="34" charset="-120"/>
              </a:rPr>
              <a:t>$</a:t>
            </a:r>
            <a:endParaRPr lang="en-US" sz="5400" dirty="0"/>
          </a:p>
        </p:txBody>
      </p:sp>
      <p:sp>
        <p:nvSpPr>
          <p:cNvPr id="18" name="Text 13"/>
          <p:cNvSpPr txBox="1"/>
          <p:nvPr/>
        </p:nvSpPr>
        <p:spPr>
          <a:xfrm>
            <a:off x="8540496" y="3566160"/>
            <a:ext cx="2880360" cy="777240"/>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 microphone:</a:t>
            </a:r>
            <a:endParaRPr lang="en-US" sz="1400" dirty="0"/>
          </a:p>
          <a:p>
            <a:pPr algn="ctr" indent="0" marL="0">
              <a:buNone/>
            </a:pPr>
            <a:r>
              <a:rPr lang="en-US" sz="1400" dirty="0">
                <a:solidFill>
                  <a:srgbClr val="9DB0C7"/>
                </a:solidFill>
                <a:latin typeface="Calibri" pitchFamily="34" charset="0"/>
                <a:ea typeface="Calibri" pitchFamily="34" charset="-122"/>
                <a:cs typeface="Calibri" pitchFamily="34" charset="-120"/>
              </a:rPr>
              <a:t>non-invasive, repeatable</a:t>
            </a:r>
            <a:endParaRPr lang="en-US" sz="1400" dirty="0"/>
          </a:p>
        </p:txBody>
      </p:sp>
      <p:sp>
        <p:nvSpPr>
          <p:cNvPr id="19" name="Text 14"/>
          <p:cNvSpPr txBox="1"/>
          <p:nvPr/>
        </p:nvSpPr>
        <p:spPr>
          <a:xfrm>
            <a:off x="822960" y="4846320"/>
            <a:ext cx="10543032" cy="457200"/>
          </a:xfrm>
          <a:prstGeom prst="rect">
            <a:avLst/>
          </a:prstGeom>
          <a:noFill/>
          <a:ln/>
        </p:spPr>
        <p:txBody>
          <a:bodyPr wrap="square" lIns="0" tIns="0" rIns="0" bIns="0" rtlCol="0" anchor="ctr"/>
          <a:lstStyle/>
          <a:p>
            <a:pPr algn="ctr" indent="0" marL="0">
              <a:buNone/>
            </a:pPr>
            <a:r>
              <a:rPr lang="en-US" sz="1800" i="1" dirty="0">
                <a:solidFill>
                  <a:srgbClr val="E8EEF7"/>
                </a:solidFill>
                <a:latin typeface="Cambria" pitchFamily="34" charset="0"/>
                <a:ea typeface="Cambria" pitchFamily="34" charset="-122"/>
                <a:cs typeface="Cambria" pitchFamily="34" charset="-120"/>
              </a:rPr>
              <a:t>Not a diagnosis — a reason to see a doctor earlier.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MShaheen\Documents\parkinsons_voice_project\report\defence\figs\wave_hero.png">    </p:cNvPr>
          <p:cNvPicPr>
            <a:picLocks noChangeAspect="1"/>
          </p:cNvPicPr>
          <p:nvPr/>
        </p:nvPicPr>
        <p:blipFill>
          <a:blip r:embed="rId2"/>
          <a:stretch>
            <a:fillRect/>
          </a:stretch>
        </p:blipFill>
        <p:spPr>
          <a:xfrm>
            <a:off x="0" y="5760720"/>
            <a:ext cx="12188952" cy="1097280"/>
          </a:xfrm>
          <a:prstGeom prst="rect">
            <a:avLst/>
          </a:prstGeom>
        </p:spPr>
      </p:pic>
      <p:sp>
        <p:nvSpPr>
          <p:cNvPr id="3" name="Text 0"/>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4</a:t>
            </a:r>
            <a:endParaRPr lang="en-US" sz="1000" dirty="0"/>
          </a:p>
        </p:txBody>
      </p:sp>
      <p:sp>
        <p:nvSpPr>
          <p:cNvPr id="4" name="Text 1"/>
          <p:cNvSpPr txBox="1"/>
          <p:nvPr/>
        </p:nvSpPr>
        <p:spPr>
          <a:xfrm>
            <a:off x="914400" y="2103120"/>
            <a:ext cx="10360152" cy="2194560"/>
          </a:xfrm>
          <a:prstGeom prst="rect">
            <a:avLst/>
          </a:prstGeom>
          <a:noFill/>
          <a:ln/>
        </p:spPr>
        <p:txBody>
          <a:bodyPr wrap="square" lIns="0" tIns="0" rIns="0" bIns="0" rtlCol="0" anchor="ctr"/>
          <a:lstStyle/>
          <a:p>
            <a:pPr algn="ctr" indent="0" marL="0">
              <a:lnSpc>
                <a:spcPts val="4400"/>
              </a:lnSpc>
              <a:buNone/>
            </a:pPr>
            <a:r>
              <a:rPr lang="en-US" sz="2800" dirty="0">
                <a:solidFill>
                  <a:srgbClr val="E8EEF7"/>
                </a:solidFill>
                <a:latin typeface="Cambria" pitchFamily="34" charset="0"/>
                <a:ea typeface="Cambria" pitchFamily="34" charset="-122"/>
                <a:cs typeface="Cambria" pitchFamily="34" charset="-120"/>
              </a:rPr>
              <a:t>Can a computer measure a voice recording
and tell whether its pattern resembles
</a:t>
            </a:r>
            <a:pPr algn="ctr" indent="0" marL="0">
              <a:lnSpc>
                <a:spcPts val="4400"/>
              </a:lnSpc>
              <a:buNone/>
            </a:pPr>
            <a:r>
              <a:rPr lang="en-US" sz="2800" b="1" dirty="0">
                <a:solidFill>
                  <a:srgbClr val="E8EEF7"/>
                </a:solidFill>
                <a:latin typeface="Cambria" pitchFamily="34" charset="0"/>
                <a:ea typeface="Cambria" pitchFamily="34" charset="-122"/>
                <a:cs typeface="Cambria" pitchFamily="34" charset="-120"/>
              </a:rPr>
              <a:t>Parkinson's patients</a:t>
            </a:r>
            <a:pPr algn="ctr" indent="0" marL="0">
              <a:lnSpc>
                <a:spcPts val="4400"/>
              </a:lnSpc>
              <a:buNone/>
            </a:pPr>
            <a:r>
              <a:rPr lang="en-US" sz="2800" dirty="0">
                <a:solidFill>
                  <a:srgbClr val="E8EEF7"/>
                </a:solidFill>
                <a:latin typeface="Cambria" pitchFamily="34" charset="0"/>
                <a:ea typeface="Cambria" pitchFamily="34" charset="-122"/>
                <a:cs typeface="Cambria" pitchFamily="34" charset="-120"/>
              </a:rPr>
              <a:t> — or </a:t>
            </a:r>
            <a:pPr algn="ctr" indent="0" marL="0">
              <a:lnSpc>
                <a:spcPts val="4400"/>
              </a:lnSpc>
              <a:buNone/>
            </a:pPr>
            <a:r>
              <a:rPr lang="en-US" sz="2800" b="1" dirty="0">
                <a:solidFill>
                  <a:srgbClr val="E8EEF7"/>
                </a:solidFill>
                <a:latin typeface="Cambria" pitchFamily="34" charset="0"/>
                <a:ea typeface="Cambria" pitchFamily="34" charset="-122"/>
                <a:cs typeface="Cambria" pitchFamily="34" charset="-120"/>
              </a:rPr>
              <a:t>healthy speakers</a:t>
            </a:r>
            <a:pPr algn="ctr" indent="0" marL="0">
              <a:lnSpc>
                <a:spcPts val="4400"/>
              </a:lnSpc>
              <a:buNone/>
            </a:pPr>
            <a:r>
              <a:rPr lang="en-US" sz="2800" dirty="0">
                <a:solidFill>
                  <a:srgbClr val="E8EEF7"/>
                </a:solidFill>
                <a:latin typeface="Cambria" pitchFamily="34" charset="0"/>
                <a:ea typeface="Cambria" pitchFamily="34" charset="-122"/>
                <a:cs typeface="Cambria" pitchFamily="34" charset="-120"/>
              </a:rPr>
              <a:t>?</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Six stages, one shared implementation</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5</a:t>
            </a:r>
            <a:endParaRPr lang="en-US" sz="1000" dirty="0"/>
          </a:p>
        </p:txBody>
      </p:sp>
      <p:sp>
        <p:nvSpPr>
          <p:cNvPr id="4" name="Shape 2"/>
          <p:cNvSpPr/>
          <p:nvPr/>
        </p:nvSpPr>
        <p:spPr>
          <a:xfrm>
            <a:off x="470916" y="2377440"/>
            <a:ext cx="1691640"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5" name="Text 3"/>
          <p:cNvSpPr txBox="1"/>
          <p:nvPr/>
        </p:nvSpPr>
        <p:spPr>
          <a:xfrm>
            <a:off x="470916" y="2377440"/>
            <a:ext cx="1691640" cy="960120"/>
          </a:xfrm>
          <a:prstGeom prst="rect">
            <a:avLst/>
          </a:prstGeom>
          <a:noFill/>
          <a:ln/>
        </p:spPr>
        <p:txBody>
          <a:bodyPr wrap="square" lIns="508" tIns="508" rIns="508" bIns="508" rtlCol="0" anchor="ctr"/>
          <a:lstStyle/>
          <a:p>
            <a:pPr algn="ctr" indent="0" marL="0">
              <a:buNone/>
            </a:pPr>
            <a:r>
              <a:rPr lang="en-US" sz="1250" dirty="0">
                <a:solidFill>
                  <a:srgbClr val="E8EEF7"/>
                </a:solidFill>
                <a:latin typeface="Calibri" pitchFamily="34" charset="0"/>
                <a:ea typeface="Calibri" pitchFamily="34" charset="-122"/>
                <a:cs typeface="Calibri" pitchFamily="34" charset="-120"/>
              </a:rPr>
              <a:t>raw WAV</a:t>
            </a:r>
            <a:endParaRPr lang="en-US" sz="1250" dirty="0"/>
          </a:p>
          <a:p>
            <a:pPr algn="ctr" indent="0" marL="0">
              <a:buNone/>
            </a:pPr>
            <a:r>
              <a:rPr lang="en-US" sz="1250" dirty="0">
                <a:solidFill>
                  <a:srgbClr val="E8EEF7"/>
                </a:solidFill>
                <a:latin typeface="Calibri" pitchFamily="34" charset="0"/>
                <a:ea typeface="Calibri" pitchFamily="34" charset="-122"/>
                <a:cs typeface="Calibri" pitchFamily="34" charset="-120"/>
              </a:rPr>
              <a:t>audio</a:t>
            </a:r>
            <a:endParaRPr lang="en-US" sz="1250" dirty="0"/>
          </a:p>
        </p:txBody>
      </p:sp>
      <p:sp>
        <p:nvSpPr>
          <p:cNvPr id="6" name="Shape 4"/>
          <p:cNvSpPr/>
          <p:nvPr/>
        </p:nvSpPr>
        <p:spPr>
          <a:xfrm>
            <a:off x="2180844" y="2775204"/>
            <a:ext cx="182880" cy="164592"/>
          </a:xfrm>
          <a:prstGeom prst="rightArrow">
            <a:avLst/>
          </a:prstGeom>
          <a:solidFill>
            <a:srgbClr val="9DB0C7">
              <a:alpha val="65000"/>
            </a:srgbClr>
          </a:solidFill>
          <a:ln/>
        </p:spPr>
      </p:sp>
      <p:sp>
        <p:nvSpPr>
          <p:cNvPr id="7" name="Shape 5"/>
          <p:cNvSpPr/>
          <p:nvPr/>
        </p:nvSpPr>
        <p:spPr>
          <a:xfrm>
            <a:off x="2382012" y="2377440"/>
            <a:ext cx="1691640"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8" name="Text 6"/>
          <p:cNvSpPr txBox="1"/>
          <p:nvPr/>
        </p:nvSpPr>
        <p:spPr>
          <a:xfrm>
            <a:off x="2382012" y="2377440"/>
            <a:ext cx="1691640" cy="960120"/>
          </a:xfrm>
          <a:prstGeom prst="rect">
            <a:avLst/>
          </a:prstGeom>
          <a:noFill/>
          <a:ln/>
        </p:spPr>
        <p:txBody>
          <a:bodyPr wrap="square" lIns="508" tIns="508" rIns="508" bIns="508" rtlCol="0" anchor="ctr"/>
          <a:lstStyle/>
          <a:p>
            <a:pPr algn="ctr" indent="0" marL="0">
              <a:buNone/>
            </a:pPr>
            <a:r>
              <a:rPr lang="en-US" sz="1250" dirty="0">
                <a:solidFill>
                  <a:srgbClr val="E8EEF7"/>
                </a:solidFill>
                <a:latin typeface="Calibri" pitchFamily="34" charset="0"/>
                <a:ea typeface="Calibri" pitchFamily="34" charset="-122"/>
                <a:cs typeface="Calibri" pitchFamily="34" charset="-120"/>
              </a:rPr>
              <a:t>clean-up</a:t>
            </a:r>
            <a:endParaRPr lang="en-US" sz="1250" dirty="0"/>
          </a:p>
          <a:p>
            <a:pPr algn="ctr" indent="0" marL="0">
              <a:buNone/>
            </a:pPr>
            <a:r>
              <a:rPr lang="en-US" sz="1250" dirty="0">
                <a:solidFill>
                  <a:srgbClr val="E8EEF7"/>
                </a:solidFill>
                <a:latin typeface="Calibri" pitchFamily="34" charset="0"/>
                <a:ea typeface="Calibri" pitchFamily="34" charset="-122"/>
                <a:cs typeface="Calibri" pitchFamily="34" charset="-120"/>
              </a:rPr>
              <a:t>5 steps</a:t>
            </a:r>
            <a:endParaRPr lang="en-US" sz="1250" dirty="0"/>
          </a:p>
        </p:txBody>
      </p:sp>
      <p:sp>
        <p:nvSpPr>
          <p:cNvPr id="9" name="Shape 7"/>
          <p:cNvSpPr/>
          <p:nvPr/>
        </p:nvSpPr>
        <p:spPr>
          <a:xfrm>
            <a:off x="4091940" y="2775204"/>
            <a:ext cx="182880" cy="164592"/>
          </a:xfrm>
          <a:prstGeom prst="rightArrow">
            <a:avLst/>
          </a:prstGeom>
          <a:solidFill>
            <a:srgbClr val="9DB0C7">
              <a:alpha val="65000"/>
            </a:srgbClr>
          </a:solidFill>
          <a:ln/>
        </p:spPr>
      </p:sp>
      <p:sp>
        <p:nvSpPr>
          <p:cNvPr id="10" name="Shape 8"/>
          <p:cNvSpPr/>
          <p:nvPr/>
        </p:nvSpPr>
        <p:spPr>
          <a:xfrm>
            <a:off x="4293108" y="2377440"/>
            <a:ext cx="1691640"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1" name="Text 9"/>
          <p:cNvSpPr txBox="1"/>
          <p:nvPr/>
        </p:nvSpPr>
        <p:spPr>
          <a:xfrm>
            <a:off x="4293108" y="2377440"/>
            <a:ext cx="1691640" cy="960120"/>
          </a:xfrm>
          <a:prstGeom prst="rect">
            <a:avLst/>
          </a:prstGeom>
          <a:noFill/>
          <a:ln/>
        </p:spPr>
        <p:txBody>
          <a:bodyPr wrap="square" lIns="508" tIns="508" rIns="508" bIns="508" rtlCol="0" anchor="ctr"/>
          <a:lstStyle/>
          <a:p>
            <a:pPr algn="ctr" indent="0" marL="0">
              <a:buNone/>
            </a:pPr>
            <a:r>
              <a:rPr lang="en-US" sz="1250" dirty="0">
                <a:solidFill>
                  <a:srgbClr val="E8EEF7"/>
                </a:solidFill>
                <a:latin typeface="Calibri" pitchFamily="34" charset="0"/>
                <a:ea typeface="Calibri" pitchFamily="34" charset="-122"/>
                <a:cs typeface="Calibri" pitchFamily="34" charset="-120"/>
              </a:rPr>
              <a:t>10-second</a:t>
            </a:r>
            <a:endParaRPr lang="en-US" sz="1250" dirty="0"/>
          </a:p>
          <a:p>
            <a:pPr algn="ctr" indent="0" marL="0">
              <a:buNone/>
            </a:pPr>
            <a:r>
              <a:rPr lang="en-US" sz="1250" dirty="0">
                <a:solidFill>
                  <a:srgbClr val="E8EEF7"/>
                </a:solidFill>
                <a:latin typeface="Calibri" pitchFamily="34" charset="0"/>
                <a:ea typeface="Calibri" pitchFamily="34" charset="-122"/>
                <a:cs typeface="Calibri" pitchFamily="34" charset="-120"/>
              </a:rPr>
              <a:t>chunks</a:t>
            </a:r>
            <a:endParaRPr lang="en-US" sz="1250" dirty="0"/>
          </a:p>
        </p:txBody>
      </p:sp>
      <p:sp>
        <p:nvSpPr>
          <p:cNvPr id="12" name="Shape 10"/>
          <p:cNvSpPr/>
          <p:nvPr/>
        </p:nvSpPr>
        <p:spPr>
          <a:xfrm>
            <a:off x="6003036" y="2775204"/>
            <a:ext cx="182880" cy="164592"/>
          </a:xfrm>
          <a:prstGeom prst="rightArrow">
            <a:avLst/>
          </a:prstGeom>
          <a:solidFill>
            <a:srgbClr val="9DB0C7">
              <a:alpha val="65000"/>
            </a:srgbClr>
          </a:solidFill>
          <a:ln/>
        </p:spPr>
      </p:sp>
      <p:sp>
        <p:nvSpPr>
          <p:cNvPr id="13" name="Shape 11"/>
          <p:cNvSpPr/>
          <p:nvPr/>
        </p:nvSpPr>
        <p:spPr>
          <a:xfrm>
            <a:off x="6204204" y="2377440"/>
            <a:ext cx="1691640" cy="960120"/>
          </a:xfrm>
          <a:prstGeom prst="roundRect">
            <a:avLst>
              <a:gd name="adj" fmla="val 8571"/>
            </a:avLst>
          </a:prstGeom>
          <a:solidFill>
            <a:srgbClr val="182B47"/>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4" name="Text 12"/>
          <p:cNvSpPr txBox="1"/>
          <p:nvPr/>
        </p:nvSpPr>
        <p:spPr>
          <a:xfrm>
            <a:off x="6204204" y="2377440"/>
            <a:ext cx="1691640" cy="960120"/>
          </a:xfrm>
          <a:prstGeom prst="rect">
            <a:avLst/>
          </a:prstGeom>
          <a:noFill/>
          <a:ln/>
        </p:spPr>
        <p:txBody>
          <a:bodyPr wrap="square" lIns="508" tIns="508" rIns="508" bIns="508" rtlCol="0" anchor="ctr"/>
          <a:lstStyle/>
          <a:p>
            <a:pPr algn="ctr" indent="0" marL="0">
              <a:buNone/>
            </a:pPr>
            <a:r>
              <a:rPr lang="en-US" sz="1250" dirty="0">
                <a:solidFill>
                  <a:srgbClr val="E8EEF7"/>
                </a:solidFill>
                <a:latin typeface="Calibri" pitchFamily="34" charset="0"/>
                <a:ea typeface="Calibri" pitchFamily="34" charset="-122"/>
                <a:cs typeface="Calibri" pitchFamily="34" charset="-120"/>
              </a:rPr>
              <a:t>74 measure-</a:t>
            </a:r>
            <a:endParaRPr lang="en-US" sz="1250" dirty="0"/>
          </a:p>
          <a:p>
            <a:pPr algn="ctr" indent="0" marL="0">
              <a:buNone/>
            </a:pPr>
            <a:r>
              <a:rPr lang="en-US" sz="1250" dirty="0">
                <a:solidFill>
                  <a:srgbClr val="E8EEF7"/>
                </a:solidFill>
                <a:latin typeface="Calibri" pitchFamily="34" charset="0"/>
                <a:ea typeface="Calibri" pitchFamily="34" charset="-122"/>
                <a:cs typeface="Calibri" pitchFamily="34" charset="-120"/>
              </a:rPr>
              <a:t>ments / chunk</a:t>
            </a:r>
            <a:endParaRPr lang="en-US" sz="1250" dirty="0"/>
          </a:p>
        </p:txBody>
      </p:sp>
      <p:sp>
        <p:nvSpPr>
          <p:cNvPr id="15" name="Shape 13"/>
          <p:cNvSpPr/>
          <p:nvPr/>
        </p:nvSpPr>
        <p:spPr>
          <a:xfrm>
            <a:off x="7914132" y="2775204"/>
            <a:ext cx="182880" cy="164592"/>
          </a:xfrm>
          <a:prstGeom prst="rightArrow">
            <a:avLst/>
          </a:prstGeom>
          <a:solidFill>
            <a:srgbClr val="9DB0C7">
              <a:alpha val="65000"/>
            </a:srgbClr>
          </a:solidFill>
          <a:ln/>
        </p:spPr>
      </p:sp>
      <p:sp>
        <p:nvSpPr>
          <p:cNvPr id="16" name="Shape 14"/>
          <p:cNvSpPr/>
          <p:nvPr/>
        </p:nvSpPr>
        <p:spPr>
          <a:xfrm>
            <a:off x="8115300" y="2377440"/>
            <a:ext cx="1691640"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7" name="Text 15"/>
          <p:cNvSpPr txBox="1"/>
          <p:nvPr/>
        </p:nvSpPr>
        <p:spPr>
          <a:xfrm>
            <a:off x="8115300" y="2377440"/>
            <a:ext cx="1691640" cy="960120"/>
          </a:xfrm>
          <a:prstGeom prst="rect">
            <a:avLst/>
          </a:prstGeom>
          <a:noFill/>
          <a:ln/>
        </p:spPr>
        <p:txBody>
          <a:bodyPr wrap="square" lIns="508" tIns="508" rIns="508" bIns="508" rtlCol="0" anchor="ctr"/>
          <a:lstStyle/>
          <a:p>
            <a:pPr algn="ctr" indent="0" marL="0">
              <a:buNone/>
            </a:pPr>
            <a:r>
              <a:rPr lang="en-US" sz="1250" dirty="0">
                <a:solidFill>
                  <a:srgbClr val="E8EEF7"/>
                </a:solidFill>
                <a:latin typeface="Calibri" pitchFamily="34" charset="0"/>
                <a:ea typeface="Calibri" pitchFamily="34" charset="-122"/>
                <a:cs typeface="Calibri" pitchFamily="34" charset="-120"/>
              </a:rPr>
              <a:t>model</a:t>
            </a:r>
            <a:endParaRPr lang="en-US" sz="1250" dirty="0"/>
          </a:p>
          <a:p>
            <a:pPr algn="ctr" indent="0" marL="0">
              <a:buNone/>
            </a:pPr>
            <a:r>
              <a:rPr lang="en-US" sz="1250" dirty="0">
                <a:solidFill>
                  <a:srgbClr val="E8EEF7"/>
                </a:solidFill>
                <a:latin typeface="Calibri" pitchFamily="34" charset="0"/>
                <a:ea typeface="Calibri" pitchFamily="34" charset="-122"/>
                <a:cs typeface="Calibri" pitchFamily="34" charset="-120"/>
              </a:rPr>
              <a:t>(Random Forest)</a:t>
            </a:r>
            <a:endParaRPr lang="en-US" sz="1250" dirty="0"/>
          </a:p>
        </p:txBody>
      </p:sp>
      <p:sp>
        <p:nvSpPr>
          <p:cNvPr id="18" name="Shape 16"/>
          <p:cNvSpPr/>
          <p:nvPr/>
        </p:nvSpPr>
        <p:spPr>
          <a:xfrm>
            <a:off x="9825228" y="2775204"/>
            <a:ext cx="182880" cy="164592"/>
          </a:xfrm>
          <a:prstGeom prst="rightArrow">
            <a:avLst/>
          </a:prstGeom>
          <a:solidFill>
            <a:srgbClr val="9DB0C7">
              <a:alpha val="65000"/>
            </a:srgbClr>
          </a:solidFill>
          <a:ln/>
        </p:spPr>
      </p:sp>
      <p:sp>
        <p:nvSpPr>
          <p:cNvPr id="19" name="Shape 17"/>
          <p:cNvSpPr/>
          <p:nvPr/>
        </p:nvSpPr>
        <p:spPr>
          <a:xfrm>
            <a:off x="10026396" y="2377440"/>
            <a:ext cx="1691640"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20" name="Text 18"/>
          <p:cNvSpPr txBox="1"/>
          <p:nvPr/>
        </p:nvSpPr>
        <p:spPr>
          <a:xfrm>
            <a:off x="10026396" y="2377440"/>
            <a:ext cx="1691640" cy="960120"/>
          </a:xfrm>
          <a:prstGeom prst="rect">
            <a:avLst/>
          </a:prstGeom>
          <a:noFill/>
          <a:ln/>
        </p:spPr>
        <p:txBody>
          <a:bodyPr wrap="square" lIns="508" tIns="508" rIns="508" bIns="508" rtlCol="0" anchor="ctr"/>
          <a:lstStyle/>
          <a:p>
            <a:pPr algn="ctr" indent="0" marL="0">
              <a:buNone/>
            </a:pPr>
            <a:r>
              <a:rPr lang="en-US" sz="1250" dirty="0">
                <a:solidFill>
                  <a:srgbClr val="E8EEF7"/>
                </a:solidFill>
                <a:latin typeface="Calibri" pitchFamily="34" charset="0"/>
                <a:ea typeface="Calibri" pitchFamily="34" charset="-122"/>
                <a:cs typeface="Calibri" pitchFamily="34" charset="-120"/>
              </a:rPr>
              <a:t>cautious</a:t>
            </a:r>
            <a:endParaRPr lang="en-US" sz="1250" dirty="0"/>
          </a:p>
          <a:p>
            <a:pPr algn="ctr" indent="0" marL="0">
              <a:buNone/>
            </a:pPr>
            <a:r>
              <a:rPr lang="en-US" sz="1250" dirty="0">
                <a:solidFill>
                  <a:srgbClr val="E8EEF7"/>
                </a:solidFill>
                <a:latin typeface="Calibri" pitchFamily="34" charset="0"/>
                <a:ea typeface="Calibri" pitchFamily="34" charset="-122"/>
                <a:cs typeface="Calibri" pitchFamily="34" charset="-120"/>
              </a:rPr>
              <a:t>indication</a:t>
            </a:r>
            <a:endParaRPr lang="en-US" sz="1250" dirty="0"/>
          </a:p>
        </p:txBody>
      </p:sp>
      <p:sp>
        <p:nvSpPr>
          <p:cNvPr id="21" name="Text 19"/>
          <p:cNvSpPr txBox="1"/>
          <p:nvPr/>
        </p:nvSpPr>
        <p:spPr>
          <a:xfrm>
            <a:off x="822960" y="3977640"/>
            <a:ext cx="10543032" cy="457200"/>
          </a:xfrm>
          <a:prstGeom prst="rect">
            <a:avLst/>
          </a:prstGeom>
          <a:noFill/>
          <a:ln/>
        </p:spPr>
        <p:txBody>
          <a:bodyPr wrap="square" lIns="0" tIns="0" rIns="0" bIns="0" rtlCol="0" anchor="ctr"/>
          <a:lstStyle/>
          <a:p>
            <a:pPr algn="ctr" indent="0" marL="0">
              <a:buNone/>
            </a:pPr>
            <a:r>
              <a:rPr lang="en-US" sz="1800" i="1" dirty="0">
                <a:solidFill>
                  <a:srgbClr val="E8EEF7"/>
                </a:solidFill>
                <a:latin typeface="Cambria" pitchFamily="34" charset="0"/>
                <a:ea typeface="Cambria" pitchFamily="34" charset="-122"/>
                <a:cs typeface="Cambria" pitchFamily="34" charset="-120"/>
              </a:rPr>
              <a:t>The same code runs in training, testing, and prediction — </a:t>
            </a:r>
            <a:pPr algn="ctr" indent="0" marL="0">
              <a:buNone/>
            </a:pPr>
            <a:r>
              <a:rPr lang="en-US" sz="1800" b="1" i="1" dirty="0">
                <a:solidFill>
                  <a:srgbClr val="5AB4F0"/>
                </a:solidFill>
                <a:latin typeface="Cambria" pitchFamily="34" charset="0"/>
                <a:ea typeface="Cambria" pitchFamily="34" charset="-122"/>
                <a:cs typeface="Cambria" pitchFamily="34" charset="-120"/>
              </a:rPr>
              <a:t>enforced, not promised.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Every measurement points at physiology</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6</a:t>
            </a:r>
            <a:endParaRPr lang="en-US" sz="1000" dirty="0"/>
          </a:p>
        </p:txBody>
      </p:sp>
      <p:sp>
        <p:nvSpPr>
          <p:cNvPr id="4" name="Shape 2"/>
          <p:cNvSpPr/>
          <p:nvPr/>
        </p:nvSpPr>
        <p:spPr>
          <a:xfrm>
            <a:off x="964692" y="1078992"/>
            <a:ext cx="1481328" cy="402336"/>
          </a:xfrm>
          <a:prstGeom prst="roundRect">
            <a:avLst>
              <a:gd name="adj" fmla="val 15909"/>
            </a:avLst>
          </a:prstGeom>
          <a:solidFill>
            <a:srgbClr val="13233B"/>
          </a:solidFill>
          <a:ln w="9525">
            <a:solidFill>
              <a:srgbClr val="2A3D58"/>
            </a:solidFill>
            <a:prstDash val="solid"/>
          </a:ln>
        </p:spPr>
      </p:sp>
      <p:sp>
        <p:nvSpPr>
          <p:cNvPr id="5" name="Text 3"/>
          <p:cNvSpPr txBox="1"/>
          <p:nvPr/>
        </p:nvSpPr>
        <p:spPr>
          <a:xfrm>
            <a:off x="96469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raw audio</a:t>
            </a:r>
            <a:endParaRPr lang="en-US" sz="1050" dirty="0"/>
          </a:p>
        </p:txBody>
      </p:sp>
      <p:sp>
        <p:nvSpPr>
          <p:cNvPr id="6" name="Text 4"/>
          <p:cNvSpPr txBox="1"/>
          <p:nvPr/>
        </p:nvSpPr>
        <p:spPr>
          <a:xfrm>
            <a:off x="2464308"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720340" y="1078992"/>
            <a:ext cx="1481328" cy="402336"/>
          </a:xfrm>
          <a:prstGeom prst="roundRect">
            <a:avLst>
              <a:gd name="adj" fmla="val 15909"/>
            </a:avLst>
          </a:prstGeom>
          <a:solidFill>
            <a:srgbClr val="13233B"/>
          </a:solidFill>
          <a:ln w="9525">
            <a:solidFill>
              <a:srgbClr val="2A3D58"/>
            </a:solidFill>
            <a:prstDash val="solid"/>
          </a:ln>
        </p:spPr>
      </p:sp>
      <p:sp>
        <p:nvSpPr>
          <p:cNvPr id="8" name="Text 6"/>
          <p:cNvSpPr txBox="1"/>
          <p:nvPr/>
        </p:nvSpPr>
        <p:spPr>
          <a:xfrm>
            <a:off x="2720340"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clean-up</a:t>
            </a:r>
            <a:endParaRPr lang="en-US" sz="1050" dirty="0"/>
          </a:p>
        </p:txBody>
      </p:sp>
      <p:sp>
        <p:nvSpPr>
          <p:cNvPr id="9" name="Text 7"/>
          <p:cNvSpPr txBox="1"/>
          <p:nvPr/>
        </p:nvSpPr>
        <p:spPr>
          <a:xfrm>
            <a:off x="4219956"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475988" y="1078992"/>
            <a:ext cx="1481328" cy="402336"/>
          </a:xfrm>
          <a:prstGeom prst="roundRect">
            <a:avLst>
              <a:gd name="adj" fmla="val 15909"/>
            </a:avLst>
          </a:prstGeom>
          <a:solidFill>
            <a:srgbClr val="13233B"/>
          </a:solidFill>
          <a:ln w="9525">
            <a:solidFill>
              <a:srgbClr val="2A3D58"/>
            </a:solidFill>
            <a:prstDash val="solid"/>
          </a:ln>
        </p:spPr>
      </p:sp>
      <p:sp>
        <p:nvSpPr>
          <p:cNvPr id="11" name="Text 9"/>
          <p:cNvSpPr txBox="1"/>
          <p:nvPr/>
        </p:nvSpPr>
        <p:spPr>
          <a:xfrm>
            <a:off x="4475988"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10-s chunks</a:t>
            </a:r>
            <a:endParaRPr lang="en-US" sz="1050" dirty="0"/>
          </a:p>
        </p:txBody>
      </p:sp>
      <p:sp>
        <p:nvSpPr>
          <p:cNvPr id="12" name="Text 10"/>
          <p:cNvSpPr txBox="1"/>
          <p:nvPr/>
        </p:nvSpPr>
        <p:spPr>
          <a:xfrm>
            <a:off x="5975604"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31636" y="1078992"/>
            <a:ext cx="1481328" cy="402336"/>
          </a:xfrm>
          <a:prstGeom prst="roundRect">
            <a:avLst>
              <a:gd name="adj" fmla="val 15909"/>
            </a:avLst>
          </a:prstGeom>
          <a:solidFill>
            <a:srgbClr val="5AB4F0">
              <a:alpha val="28000"/>
            </a:srgbClr>
          </a:solidFill>
          <a:ln w="19050">
            <a:solidFill>
              <a:srgbClr val="5AB4F0"/>
            </a:solidFill>
            <a:prstDash val="solid"/>
          </a:ln>
        </p:spPr>
      </p:sp>
      <p:sp>
        <p:nvSpPr>
          <p:cNvPr id="14" name="Text 12"/>
          <p:cNvSpPr txBox="1"/>
          <p:nvPr/>
        </p:nvSpPr>
        <p:spPr>
          <a:xfrm>
            <a:off x="6231636" y="1097280"/>
            <a:ext cx="1481328" cy="365760"/>
          </a:xfrm>
          <a:prstGeom prst="rect">
            <a:avLst/>
          </a:prstGeom>
          <a:noFill/>
          <a:ln/>
        </p:spPr>
        <p:txBody>
          <a:bodyPr wrap="square" lIns="0" tIns="0" rIns="0" bIns="0" rtlCol="0" anchor="ctr"/>
          <a:lstStyle/>
          <a:p>
            <a:pPr algn="ctr" indent="0" marL="0">
              <a:buNone/>
            </a:pPr>
            <a:r>
              <a:rPr lang="en-US" sz="1050" b="1" dirty="0">
                <a:solidFill>
                  <a:srgbClr val="E8EEF7"/>
                </a:solidFill>
                <a:latin typeface="Calibri" pitchFamily="34" charset="0"/>
                <a:ea typeface="Calibri" pitchFamily="34" charset="-122"/>
                <a:cs typeface="Calibri" pitchFamily="34" charset="-120"/>
              </a:rPr>
              <a:t>74 measures</a:t>
            </a:r>
            <a:endParaRPr lang="en-US" sz="1050" dirty="0"/>
          </a:p>
        </p:txBody>
      </p:sp>
      <p:sp>
        <p:nvSpPr>
          <p:cNvPr id="15" name="Text 13"/>
          <p:cNvSpPr txBox="1"/>
          <p:nvPr/>
        </p:nvSpPr>
        <p:spPr>
          <a:xfrm>
            <a:off x="7731252"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7987284" y="1078992"/>
            <a:ext cx="1481328" cy="402336"/>
          </a:xfrm>
          <a:prstGeom prst="roundRect">
            <a:avLst>
              <a:gd name="adj" fmla="val 15909"/>
            </a:avLst>
          </a:prstGeom>
          <a:solidFill>
            <a:srgbClr val="13233B"/>
          </a:solidFill>
          <a:ln w="9525">
            <a:solidFill>
              <a:srgbClr val="2A3D58"/>
            </a:solidFill>
            <a:prstDash val="solid"/>
          </a:ln>
        </p:spPr>
      </p:sp>
      <p:sp>
        <p:nvSpPr>
          <p:cNvPr id="17" name="Text 15"/>
          <p:cNvSpPr txBox="1"/>
          <p:nvPr/>
        </p:nvSpPr>
        <p:spPr>
          <a:xfrm>
            <a:off x="7987284"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model</a:t>
            </a:r>
            <a:endParaRPr lang="en-US" sz="1050" dirty="0"/>
          </a:p>
        </p:txBody>
      </p:sp>
      <p:sp>
        <p:nvSpPr>
          <p:cNvPr id="18" name="Text 16"/>
          <p:cNvSpPr txBox="1"/>
          <p:nvPr/>
        </p:nvSpPr>
        <p:spPr>
          <a:xfrm>
            <a:off x="9486900"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9742932" y="1078992"/>
            <a:ext cx="1481328" cy="402336"/>
          </a:xfrm>
          <a:prstGeom prst="roundRect">
            <a:avLst>
              <a:gd name="adj" fmla="val 15909"/>
            </a:avLst>
          </a:prstGeom>
          <a:solidFill>
            <a:srgbClr val="13233B"/>
          </a:solidFill>
          <a:ln w="9525">
            <a:solidFill>
              <a:srgbClr val="2A3D58"/>
            </a:solidFill>
            <a:prstDash val="solid"/>
          </a:ln>
        </p:spPr>
      </p:sp>
      <p:sp>
        <p:nvSpPr>
          <p:cNvPr id="20" name="Text 18"/>
          <p:cNvSpPr txBox="1"/>
          <p:nvPr/>
        </p:nvSpPr>
        <p:spPr>
          <a:xfrm>
            <a:off x="974293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indication</a:t>
            </a:r>
            <a:endParaRPr lang="en-US" sz="1050" dirty="0"/>
          </a:p>
        </p:txBody>
      </p:sp>
      <p:sp>
        <p:nvSpPr>
          <p:cNvPr id="21" name="Text 19"/>
          <p:cNvSpPr txBox="1"/>
          <p:nvPr/>
        </p:nvSpPr>
        <p:spPr>
          <a:xfrm>
            <a:off x="1188720" y="1965960"/>
            <a:ext cx="4297680" cy="384048"/>
          </a:xfrm>
          <a:prstGeom prst="rect">
            <a:avLst/>
          </a:prstGeom>
          <a:noFill/>
          <a:ln/>
        </p:spPr>
        <p:txBody>
          <a:bodyPr wrap="square" lIns="0" tIns="0" rIns="0" bIns="0" rtlCol="0" anchor="ctr"/>
          <a:lstStyle/>
          <a:p>
            <a:pPr algn="r" indent="0" marL="0">
              <a:buNone/>
            </a:pPr>
            <a:r>
              <a:rPr lang="en-US" sz="1600" dirty="0">
                <a:solidFill>
                  <a:srgbClr val="E8EEF7"/>
                </a:solidFill>
                <a:latin typeface="Calibri" pitchFamily="34" charset="0"/>
                <a:ea typeface="Calibri" pitchFamily="34" charset="-122"/>
                <a:cs typeface="Calibri" pitchFamily="34" charset="-120"/>
              </a:rPr>
              <a:t>monotone speech</a:t>
            </a:r>
            <a:endParaRPr lang="en-US" sz="1600" dirty="0"/>
          </a:p>
        </p:txBody>
      </p:sp>
      <p:sp>
        <p:nvSpPr>
          <p:cNvPr id="22" name="Shape 20"/>
          <p:cNvSpPr/>
          <p:nvPr/>
        </p:nvSpPr>
        <p:spPr>
          <a:xfrm>
            <a:off x="5715000" y="2066544"/>
            <a:ext cx="502920" cy="182880"/>
          </a:xfrm>
          <a:prstGeom prst="rightArrow">
            <a:avLst/>
          </a:prstGeom>
          <a:solidFill>
            <a:srgbClr val="9DB0C7">
              <a:alpha val="60000"/>
            </a:srgbClr>
          </a:solidFill>
          <a:ln/>
        </p:spPr>
      </p:sp>
      <p:sp>
        <p:nvSpPr>
          <p:cNvPr id="23" name="Text 21"/>
          <p:cNvSpPr txBox="1"/>
          <p:nvPr/>
        </p:nvSpPr>
        <p:spPr>
          <a:xfrm>
            <a:off x="6446520" y="1965960"/>
            <a:ext cx="4480560" cy="384048"/>
          </a:xfrm>
          <a:prstGeom prst="rect">
            <a:avLst/>
          </a:prstGeom>
          <a:noFill/>
          <a:ln/>
        </p:spPr>
        <p:txBody>
          <a:bodyPr wrap="square" lIns="0" tIns="0" rIns="0" bIns="0" rtlCol="0" anchor="ctr"/>
          <a:lstStyle/>
          <a:p>
            <a:pPr algn="l" indent="0" marL="0">
              <a:buNone/>
            </a:pPr>
            <a:r>
              <a:rPr lang="en-US" sz="1600" b="1" dirty="0">
                <a:solidFill>
                  <a:srgbClr val="5AB4F0"/>
                </a:solidFill>
                <a:latin typeface="Calibri" pitchFamily="34" charset="0"/>
                <a:ea typeface="Calibri" pitchFamily="34" charset="-122"/>
                <a:cs typeface="Calibri" pitchFamily="34" charset="-120"/>
              </a:rPr>
              <a:t>pitch variation</a:t>
            </a:r>
            <a:endParaRPr lang="en-US" sz="1600" dirty="0"/>
          </a:p>
        </p:txBody>
      </p:sp>
      <p:sp>
        <p:nvSpPr>
          <p:cNvPr id="24" name="Text 22"/>
          <p:cNvSpPr txBox="1"/>
          <p:nvPr/>
        </p:nvSpPr>
        <p:spPr>
          <a:xfrm>
            <a:off x="1188720" y="2532888"/>
            <a:ext cx="4297680" cy="384048"/>
          </a:xfrm>
          <a:prstGeom prst="rect">
            <a:avLst/>
          </a:prstGeom>
          <a:noFill/>
          <a:ln/>
        </p:spPr>
        <p:txBody>
          <a:bodyPr wrap="square" lIns="0" tIns="0" rIns="0" bIns="0" rtlCol="0" anchor="ctr"/>
          <a:lstStyle/>
          <a:p>
            <a:pPr algn="r" indent="0" marL="0">
              <a:buNone/>
            </a:pPr>
            <a:r>
              <a:rPr lang="en-US" sz="1600" dirty="0">
                <a:solidFill>
                  <a:srgbClr val="E8EEF7"/>
                </a:solidFill>
                <a:latin typeface="Calibri" pitchFamily="34" charset="0"/>
                <a:ea typeface="Calibri" pitchFamily="34" charset="-122"/>
                <a:cs typeface="Calibri" pitchFamily="34" charset="-120"/>
              </a:rPr>
              <a:t>unstable vocal-fold control</a:t>
            </a:r>
            <a:endParaRPr lang="en-US" sz="1600" dirty="0"/>
          </a:p>
        </p:txBody>
      </p:sp>
      <p:sp>
        <p:nvSpPr>
          <p:cNvPr id="25" name="Shape 23"/>
          <p:cNvSpPr/>
          <p:nvPr/>
        </p:nvSpPr>
        <p:spPr>
          <a:xfrm>
            <a:off x="5715000" y="2633472"/>
            <a:ext cx="502920" cy="182880"/>
          </a:xfrm>
          <a:prstGeom prst="rightArrow">
            <a:avLst/>
          </a:prstGeom>
          <a:solidFill>
            <a:srgbClr val="9DB0C7">
              <a:alpha val="60000"/>
            </a:srgbClr>
          </a:solidFill>
          <a:ln/>
        </p:spPr>
      </p:sp>
      <p:sp>
        <p:nvSpPr>
          <p:cNvPr id="26" name="Text 24"/>
          <p:cNvSpPr txBox="1"/>
          <p:nvPr/>
        </p:nvSpPr>
        <p:spPr>
          <a:xfrm>
            <a:off x="6446520" y="2532888"/>
            <a:ext cx="4480560" cy="384048"/>
          </a:xfrm>
          <a:prstGeom prst="rect">
            <a:avLst/>
          </a:prstGeom>
          <a:noFill/>
          <a:ln/>
        </p:spPr>
        <p:txBody>
          <a:bodyPr wrap="square" lIns="0" tIns="0" rIns="0" bIns="0" rtlCol="0" anchor="ctr"/>
          <a:lstStyle/>
          <a:p>
            <a:pPr algn="l" indent="0" marL="0">
              <a:buNone/>
            </a:pPr>
            <a:r>
              <a:rPr lang="en-US" sz="1600" b="1" dirty="0">
                <a:solidFill>
                  <a:srgbClr val="5AB4F0"/>
                </a:solidFill>
                <a:latin typeface="Calibri" pitchFamily="34" charset="0"/>
                <a:ea typeface="Calibri" pitchFamily="34" charset="-122"/>
                <a:cs typeface="Calibri" pitchFamily="34" charset="-120"/>
              </a:rPr>
              <a:t>jitter, shimmer</a:t>
            </a:r>
            <a:endParaRPr lang="en-US" sz="1600" dirty="0"/>
          </a:p>
        </p:txBody>
      </p:sp>
      <p:sp>
        <p:nvSpPr>
          <p:cNvPr id="27" name="Text 25"/>
          <p:cNvSpPr txBox="1"/>
          <p:nvPr/>
        </p:nvSpPr>
        <p:spPr>
          <a:xfrm>
            <a:off x="1188720" y="3099816"/>
            <a:ext cx="4297680" cy="384048"/>
          </a:xfrm>
          <a:prstGeom prst="rect">
            <a:avLst/>
          </a:prstGeom>
          <a:noFill/>
          <a:ln/>
        </p:spPr>
        <p:txBody>
          <a:bodyPr wrap="square" lIns="0" tIns="0" rIns="0" bIns="0" rtlCol="0" anchor="ctr"/>
          <a:lstStyle/>
          <a:p>
            <a:pPr algn="r" indent="0" marL="0">
              <a:buNone/>
            </a:pPr>
            <a:r>
              <a:rPr lang="en-US" sz="1600" dirty="0">
                <a:solidFill>
                  <a:srgbClr val="E8EEF7"/>
                </a:solidFill>
                <a:latin typeface="Calibri" pitchFamily="34" charset="0"/>
                <a:ea typeface="Calibri" pitchFamily="34" charset="-122"/>
                <a:cs typeface="Calibri" pitchFamily="34" charset="-120"/>
              </a:rPr>
              <a:t>incomplete glottal closure</a:t>
            </a:r>
            <a:endParaRPr lang="en-US" sz="1600" dirty="0"/>
          </a:p>
        </p:txBody>
      </p:sp>
      <p:sp>
        <p:nvSpPr>
          <p:cNvPr id="28" name="Shape 26"/>
          <p:cNvSpPr/>
          <p:nvPr/>
        </p:nvSpPr>
        <p:spPr>
          <a:xfrm>
            <a:off x="5715000" y="3200400"/>
            <a:ext cx="502920" cy="182880"/>
          </a:xfrm>
          <a:prstGeom prst="rightArrow">
            <a:avLst/>
          </a:prstGeom>
          <a:solidFill>
            <a:srgbClr val="9DB0C7">
              <a:alpha val="60000"/>
            </a:srgbClr>
          </a:solidFill>
          <a:ln/>
        </p:spPr>
      </p:sp>
      <p:sp>
        <p:nvSpPr>
          <p:cNvPr id="29" name="Text 27"/>
          <p:cNvSpPr txBox="1"/>
          <p:nvPr/>
        </p:nvSpPr>
        <p:spPr>
          <a:xfrm>
            <a:off x="6446520" y="3099816"/>
            <a:ext cx="4480560" cy="384048"/>
          </a:xfrm>
          <a:prstGeom prst="rect">
            <a:avLst/>
          </a:prstGeom>
          <a:noFill/>
          <a:ln/>
        </p:spPr>
        <p:txBody>
          <a:bodyPr wrap="square" lIns="0" tIns="0" rIns="0" bIns="0" rtlCol="0" anchor="ctr"/>
          <a:lstStyle/>
          <a:p>
            <a:pPr algn="l" indent="0" marL="0">
              <a:buNone/>
            </a:pPr>
            <a:r>
              <a:rPr lang="en-US" sz="1600" b="1" dirty="0">
                <a:solidFill>
                  <a:srgbClr val="5AB4F0"/>
                </a:solidFill>
                <a:latin typeface="Calibri" pitchFamily="34" charset="0"/>
                <a:ea typeface="Calibri" pitchFamily="34" charset="-122"/>
                <a:cs typeface="Calibri" pitchFamily="34" charset="-120"/>
              </a:rPr>
              <a:t>HNR, CPPS</a:t>
            </a:r>
            <a:endParaRPr lang="en-US" sz="1600" dirty="0"/>
          </a:p>
        </p:txBody>
      </p:sp>
      <p:sp>
        <p:nvSpPr>
          <p:cNvPr id="30" name="Text 28"/>
          <p:cNvSpPr txBox="1"/>
          <p:nvPr/>
        </p:nvSpPr>
        <p:spPr>
          <a:xfrm>
            <a:off x="1188720" y="3666744"/>
            <a:ext cx="4297680" cy="384048"/>
          </a:xfrm>
          <a:prstGeom prst="rect">
            <a:avLst/>
          </a:prstGeom>
          <a:noFill/>
          <a:ln/>
        </p:spPr>
        <p:txBody>
          <a:bodyPr wrap="square" lIns="0" tIns="0" rIns="0" bIns="0" rtlCol="0" anchor="ctr"/>
          <a:lstStyle/>
          <a:p>
            <a:pPr algn="r" indent="0" marL="0">
              <a:buNone/>
            </a:pPr>
            <a:r>
              <a:rPr lang="en-US" sz="1600" dirty="0">
                <a:solidFill>
                  <a:srgbClr val="E8EEF7"/>
                </a:solidFill>
                <a:latin typeface="Calibri" pitchFamily="34" charset="0"/>
                <a:ea typeface="Calibri" pitchFamily="34" charset="-122"/>
                <a:cs typeface="Calibri" pitchFamily="34" charset="-120"/>
              </a:rPr>
              <a:t>disturbed timing</a:t>
            </a:r>
            <a:endParaRPr lang="en-US" sz="1600" dirty="0"/>
          </a:p>
        </p:txBody>
      </p:sp>
      <p:sp>
        <p:nvSpPr>
          <p:cNvPr id="31" name="Shape 29"/>
          <p:cNvSpPr/>
          <p:nvPr/>
        </p:nvSpPr>
        <p:spPr>
          <a:xfrm>
            <a:off x="5715000" y="3767328"/>
            <a:ext cx="502920" cy="182880"/>
          </a:xfrm>
          <a:prstGeom prst="rightArrow">
            <a:avLst/>
          </a:prstGeom>
          <a:solidFill>
            <a:srgbClr val="9DB0C7">
              <a:alpha val="60000"/>
            </a:srgbClr>
          </a:solidFill>
          <a:ln/>
        </p:spPr>
      </p:sp>
      <p:sp>
        <p:nvSpPr>
          <p:cNvPr id="32" name="Text 30"/>
          <p:cNvSpPr txBox="1"/>
          <p:nvPr/>
        </p:nvSpPr>
        <p:spPr>
          <a:xfrm>
            <a:off x="6446520" y="3666744"/>
            <a:ext cx="4480560" cy="384048"/>
          </a:xfrm>
          <a:prstGeom prst="rect">
            <a:avLst/>
          </a:prstGeom>
          <a:noFill/>
          <a:ln/>
        </p:spPr>
        <p:txBody>
          <a:bodyPr wrap="square" lIns="0" tIns="0" rIns="0" bIns="0" rtlCol="0" anchor="ctr"/>
          <a:lstStyle/>
          <a:p>
            <a:pPr algn="l" indent="0" marL="0">
              <a:buNone/>
            </a:pPr>
            <a:r>
              <a:rPr lang="en-US" sz="1600" b="1" dirty="0">
                <a:solidFill>
                  <a:srgbClr val="5AB4F0"/>
                </a:solidFill>
                <a:latin typeface="Calibri" pitchFamily="34" charset="0"/>
                <a:ea typeface="Calibri" pitchFamily="34" charset="-122"/>
                <a:cs typeface="Calibri" pitchFamily="34" charset="-120"/>
              </a:rPr>
              <a:t>pause statistics</a:t>
            </a:r>
            <a:endParaRPr lang="en-US" sz="1600" dirty="0"/>
          </a:p>
        </p:txBody>
      </p:sp>
      <p:sp>
        <p:nvSpPr>
          <p:cNvPr id="33" name="Text 31"/>
          <p:cNvSpPr txBox="1"/>
          <p:nvPr/>
        </p:nvSpPr>
        <p:spPr>
          <a:xfrm>
            <a:off x="1188720" y="4233672"/>
            <a:ext cx="4297680" cy="384048"/>
          </a:xfrm>
          <a:prstGeom prst="rect">
            <a:avLst/>
          </a:prstGeom>
          <a:noFill/>
          <a:ln/>
        </p:spPr>
        <p:txBody>
          <a:bodyPr wrap="square" lIns="0" tIns="0" rIns="0" bIns="0" rtlCol="0" anchor="ctr"/>
          <a:lstStyle/>
          <a:p>
            <a:pPr algn="r" indent="0" marL="0">
              <a:buNone/>
            </a:pPr>
            <a:r>
              <a:rPr lang="en-US" sz="1600" dirty="0">
                <a:solidFill>
                  <a:srgbClr val="E8EEF7"/>
                </a:solidFill>
                <a:latin typeface="Calibri" pitchFamily="34" charset="0"/>
                <a:ea typeface="Calibri" pitchFamily="34" charset="-122"/>
                <a:cs typeface="Calibri" pitchFamily="34" charset="-120"/>
              </a:rPr>
              <a:t>imprecise articulation</a:t>
            </a:r>
            <a:endParaRPr lang="en-US" sz="1600" dirty="0"/>
          </a:p>
        </p:txBody>
      </p:sp>
      <p:sp>
        <p:nvSpPr>
          <p:cNvPr id="34" name="Shape 32"/>
          <p:cNvSpPr/>
          <p:nvPr/>
        </p:nvSpPr>
        <p:spPr>
          <a:xfrm>
            <a:off x="5715000" y="4334256"/>
            <a:ext cx="502920" cy="182880"/>
          </a:xfrm>
          <a:prstGeom prst="rightArrow">
            <a:avLst/>
          </a:prstGeom>
          <a:solidFill>
            <a:srgbClr val="9DB0C7">
              <a:alpha val="60000"/>
            </a:srgbClr>
          </a:solidFill>
          <a:ln/>
        </p:spPr>
      </p:sp>
      <p:sp>
        <p:nvSpPr>
          <p:cNvPr id="35" name="Text 33"/>
          <p:cNvSpPr txBox="1"/>
          <p:nvPr/>
        </p:nvSpPr>
        <p:spPr>
          <a:xfrm>
            <a:off x="6446520" y="4233672"/>
            <a:ext cx="4480560" cy="384048"/>
          </a:xfrm>
          <a:prstGeom prst="rect">
            <a:avLst/>
          </a:prstGeom>
          <a:noFill/>
          <a:ln/>
        </p:spPr>
        <p:txBody>
          <a:bodyPr wrap="square" lIns="0" tIns="0" rIns="0" bIns="0" rtlCol="0" anchor="ctr"/>
          <a:lstStyle/>
          <a:p>
            <a:pPr algn="l" indent="0" marL="0">
              <a:buNone/>
            </a:pPr>
            <a:r>
              <a:rPr lang="en-US" sz="1600" b="1" dirty="0">
                <a:solidFill>
                  <a:srgbClr val="5AB4F0"/>
                </a:solidFill>
                <a:latin typeface="Calibri" pitchFamily="34" charset="0"/>
                <a:ea typeface="Calibri" pitchFamily="34" charset="-122"/>
                <a:cs typeface="Calibri" pitchFamily="34" charset="-120"/>
              </a:rPr>
              <a:t>MFCC dynamics</a:t>
            </a:r>
            <a:endParaRPr lang="en-US" sz="1600" dirty="0"/>
          </a:p>
        </p:txBody>
      </p:sp>
      <p:sp>
        <p:nvSpPr>
          <p:cNvPr id="36" name="Text 34"/>
          <p:cNvSpPr txBox="1"/>
          <p:nvPr/>
        </p:nvSpPr>
        <p:spPr>
          <a:xfrm>
            <a:off x="822960" y="5166360"/>
            <a:ext cx="10543032" cy="457200"/>
          </a:xfrm>
          <a:prstGeom prst="rect">
            <a:avLst/>
          </a:prstGeom>
          <a:noFill/>
          <a:ln/>
        </p:spPr>
        <p:txBody>
          <a:bodyPr wrap="square" lIns="0" tIns="0" rIns="0" bIns="0" rtlCol="0" anchor="ctr"/>
          <a:lstStyle/>
          <a:p>
            <a:pPr algn="ctr" indent="0" marL="0">
              <a:buNone/>
            </a:pPr>
            <a:r>
              <a:rPr lang="en-US" sz="1700" i="1" dirty="0">
                <a:solidFill>
                  <a:srgbClr val="E8EEF7"/>
                </a:solidFill>
                <a:latin typeface="Cambria" pitchFamily="34" charset="0"/>
                <a:ea typeface="Cambria" pitchFamily="34" charset="-122"/>
                <a:cs typeface="Cambria" pitchFamily="34" charset="-120"/>
              </a:rPr>
              <a:t>All 74 measurements implemented in this project — </a:t>
            </a:r>
            <a:pPr algn="ctr" indent="0" marL="0">
              <a:buNone/>
            </a:pPr>
            <a:r>
              <a:rPr lang="en-US" sz="1700" b="1" i="1" dirty="0">
                <a:solidFill>
                  <a:srgbClr val="5AB4F0"/>
                </a:solidFill>
                <a:latin typeface="Cambria" pitchFamily="34" charset="0"/>
                <a:ea typeface="Cambria" pitchFamily="34" charset="-122"/>
                <a:cs typeface="Cambria" pitchFamily="34" charset="-120"/>
              </a:rPr>
              <a:t>none downloaded.</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We chose </a:t>
            </a:r>
            <a:pPr algn="l" indent="0" marL="0">
              <a:buNone/>
            </a:pPr>
            <a:r>
              <a:rPr lang="en-US" sz="3000" b="1" i="1" dirty="0">
                <a:solidFill>
                  <a:srgbClr val="E8EEF7"/>
                </a:solidFill>
                <a:latin typeface="Cambria" pitchFamily="34" charset="0"/>
                <a:ea typeface="Cambria" pitchFamily="34" charset="-122"/>
                <a:cs typeface="Cambria" pitchFamily="34" charset="-120"/>
              </a:rPr>
              <a:t>not</a:t>
            </a:r>
            <a:pPr algn="l" indent="0" marL="0">
              <a:buNone/>
            </a:pPr>
            <a:r>
              <a:rPr lang="en-US" sz="3000" b="1" dirty="0">
                <a:solidFill>
                  <a:srgbClr val="E8EEF7"/>
                </a:solidFill>
                <a:latin typeface="Cambria" pitchFamily="34" charset="0"/>
                <a:ea typeface="Cambria" pitchFamily="34" charset="-122"/>
                <a:cs typeface="Cambria" pitchFamily="34" charset="-120"/>
              </a:rPr>
              <a:t> to clean the sound</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7</a:t>
            </a:r>
            <a:endParaRPr lang="en-US" sz="1000" dirty="0"/>
          </a:p>
        </p:txBody>
      </p:sp>
      <p:sp>
        <p:nvSpPr>
          <p:cNvPr id="4" name="Shape 2"/>
          <p:cNvSpPr/>
          <p:nvPr/>
        </p:nvSpPr>
        <p:spPr>
          <a:xfrm>
            <a:off x="964692" y="1078992"/>
            <a:ext cx="1481328" cy="402336"/>
          </a:xfrm>
          <a:prstGeom prst="roundRect">
            <a:avLst>
              <a:gd name="adj" fmla="val 15909"/>
            </a:avLst>
          </a:prstGeom>
          <a:solidFill>
            <a:srgbClr val="13233B"/>
          </a:solidFill>
          <a:ln w="9525">
            <a:solidFill>
              <a:srgbClr val="2A3D58"/>
            </a:solidFill>
            <a:prstDash val="solid"/>
          </a:ln>
        </p:spPr>
      </p:sp>
      <p:sp>
        <p:nvSpPr>
          <p:cNvPr id="5" name="Text 3"/>
          <p:cNvSpPr txBox="1"/>
          <p:nvPr/>
        </p:nvSpPr>
        <p:spPr>
          <a:xfrm>
            <a:off x="96469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raw audio</a:t>
            </a:r>
            <a:endParaRPr lang="en-US" sz="1050" dirty="0"/>
          </a:p>
        </p:txBody>
      </p:sp>
      <p:sp>
        <p:nvSpPr>
          <p:cNvPr id="6" name="Text 4"/>
          <p:cNvSpPr txBox="1"/>
          <p:nvPr/>
        </p:nvSpPr>
        <p:spPr>
          <a:xfrm>
            <a:off x="2464308"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720340" y="1078992"/>
            <a:ext cx="1481328" cy="402336"/>
          </a:xfrm>
          <a:prstGeom prst="roundRect">
            <a:avLst>
              <a:gd name="adj" fmla="val 15909"/>
            </a:avLst>
          </a:prstGeom>
          <a:solidFill>
            <a:srgbClr val="5AB4F0">
              <a:alpha val="28000"/>
            </a:srgbClr>
          </a:solidFill>
          <a:ln w="19050">
            <a:solidFill>
              <a:srgbClr val="5AB4F0"/>
            </a:solidFill>
            <a:prstDash val="solid"/>
          </a:ln>
        </p:spPr>
      </p:sp>
      <p:sp>
        <p:nvSpPr>
          <p:cNvPr id="8" name="Text 6"/>
          <p:cNvSpPr txBox="1"/>
          <p:nvPr/>
        </p:nvSpPr>
        <p:spPr>
          <a:xfrm>
            <a:off x="2720340" y="1097280"/>
            <a:ext cx="1481328" cy="365760"/>
          </a:xfrm>
          <a:prstGeom prst="rect">
            <a:avLst/>
          </a:prstGeom>
          <a:noFill/>
          <a:ln/>
        </p:spPr>
        <p:txBody>
          <a:bodyPr wrap="square" lIns="0" tIns="0" rIns="0" bIns="0" rtlCol="0" anchor="ctr"/>
          <a:lstStyle/>
          <a:p>
            <a:pPr algn="ctr" indent="0" marL="0">
              <a:buNone/>
            </a:pPr>
            <a:r>
              <a:rPr lang="en-US" sz="1050" b="1" dirty="0">
                <a:solidFill>
                  <a:srgbClr val="E8EEF7"/>
                </a:solidFill>
                <a:latin typeface="Calibri" pitchFamily="34" charset="0"/>
                <a:ea typeface="Calibri" pitchFamily="34" charset="-122"/>
                <a:cs typeface="Calibri" pitchFamily="34" charset="-120"/>
              </a:rPr>
              <a:t>clean-up</a:t>
            </a:r>
            <a:endParaRPr lang="en-US" sz="1050" dirty="0"/>
          </a:p>
        </p:txBody>
      </p:sp>
      <p:sp>
        <p:nvSpPr>
          <p:cNvPr id="9" name="Text 7"/>
          <p:cNvSpPr txBox="1"/>
          <p:nvPr/>
        </p:nvSpPr>
        <p:spPr>
          <a:xfrm>
            <a:off x="4219956"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475988" y="1078992"/>
            <a:ext cx="1481328" cy="402336"/>
          </a:xfrm>
          <a:prstGeom prst="roundRect">
            <a:avLst>
              <a:gd name="adj" fmla="val 15909"/>
            </a:avLst>
          </a:prstGeom>
          <a:solidFill>
            <a:srgbClr val="13233B"/>
          </a:solidFill>
          <a:ln w="9525">
            <a:solidFill>
              <a:srgbClr val="2A3D58"/>
            </a:solidFill>
            <a:prstDash val="solid"/>
          </a:ln>
        </p:spPr>
      </p:sp>
      <p:sp>
        <p:nvSpPr>
          <p:cNvPr id="11" name="Text 9"/>
          <p:cNvSpPr txBox="1"/>
          <p:nvPr/>
        </p:nvSpPr>
        <p:spPr>
          <a:xfrm>
            <a:off x="4475988"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10-s chunks</a:t>
            </a:r>
            <a:endParaRPr lang="en-US" sz="1050" dirty="0"/>
          </a:p>
        </p:txBody>
      </p:sp>
      <p:sp>
        <p:nvSpPr>
          <p:cNvPr id="12" name="Text 10"/>
          <p:cNvSpPr txBox="1"/>
          <p:nvPr/>
        </p:nvSpPr>
        <p:spPr>
          <a:xfrm>
            <a:off x="5975604"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31636" y="1078992"/>
            <a:ext cx="1481328" cy="402336"/>
          </a:xfrm>
          <a:prstGeom prst="roundRect">
            <a:avLst>
              <a:gd name="adj" fmla="val 15909"/>
            </a:avLst>
          </a:prstGeom>
          <a:solidFill>
            <a:srgbClr val="13233B"/>
          </a:solidFill>
          <a:ln w="9525">
            <a:solidFill>
              <a:srgbClr val="2A3D58"/>
            </a:solidFill>
            <a:prstDash val="solid"/>
          </a:ln>
        </p:spPr>
      </p:sp>
      <p:sp>
        <p:nvSpPr>
          <p:cNvPr id="14" name="Text 12"/>
          <p:cNvSpPr txBox="1"/>
          <p:nvPr/>
        </p:nvSpPr>
        <p:spPr>
          <a:xfrm>
            <a:off x="6231636"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74 measures</a:t>
            </a:r>
            <a:endParaRPr lang="en-US" sz="1050" dirty="0"/>
          </a:p>
        </p:txBody>
      </p:sp>
      <p:sp>
        <p:nvSpPr>
          <p:cNvPr id="15" name="Text 13"/>
          <p:cNvSpPr txBox="1"/>
          <p:nvPr/>
        </p:nvSpPr>
        <p:spPr>
          <a:xfrm>
            <a:off x="7731252"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7987284" y="1078992"/>
            <a:ext cx="1481328" cy="402336"/>
          </a:xfrm>
          <a:prstGeom prst="roundRect">
            <a:avLst>
              <a:gd name="adj" fmla="val 15909"/>
            </a:avLst>
          </a:prstGeom>
          <a:solidFill>
            <a:srgbClr val="13233B"/>
          </a:solidFill>
          <a:ln w="9525">
            <a:solidFill>
              <a:srgbClr val="2A3D58"/>
            </a:solidFill>
            <a:prstDash val="solid"/>
          </a:ln>
        </p:spPr>
      </p:sp>
      <p:sp>
        <p:nvSpPr>
          <p:cNvPr id="17" name="Text 15"/>
          <p:cNvSpPr txBox="1"/>
          <p:nvPr/>
        </p:nvSpPr>
        <p:spPr>
          <a:xfrm>
            <a:off x="7987284"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model</a:t>
            </a:r>
            <a:endParaRPr lang="en-US" sz="1050" dirty="0"/>
          </a:p>
        </p:txBody>
      </p:sp>
      <p:sp>
        <p:nvSpPr>
          <p:cNvPr id="18" name="Text 16"/>
          <p:cNvSpPr txBox="1"/>
          <p:nvPr/>
        </p:nvSpPr>
        <p:spPr>
          <a:xfrm>
            <a:off x="9486900"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9742932" y="1078992"/>
            <a:ext cx="1481328" cy="402336"/>
          </a:xfrm>
          <a:prstGeom prst="roundRect">
            <a:avLst>
              <a:gd name="adj" fmla="val 15909"/>
            </a:avLst>
          </a:prstGeom>
          <a:solidFill>
            <a:srgbClr val="13233B"/>
          </a:solidFill>
          <a:ln w="9525">
            <a:solidFill>
              <a:srgbClr val="2A3D58"/>
            </a:solidFill>
            <a:prstDash val="solid"/>
          </a:ln>
        </p:spPr>
      </p:sp>
      <p:sp>
        <p:nvSpPr>
          <p:cNvPr id="20" name="Text 18"/>
          <p:cNvSpPr txBox="1"/>
          <p:nvPr/>
        </p:nvSpPr>
        <p:spPr>
          <a:xfrm>
            <a:off x="974293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indication</a:t>
            </a:r>
            <a:endParaRPr lang="en-US" sz="1050" dirty="0"/>
          </a:p>
        </p:txBody>
      </p:sp>
      <p:sp>
        <p:nvSpPr>
          <p:cNvPr id="21" name="Shape 19"/>
          <p:cNvSpPr/>
          <p:nvPr/>
        </p:nvSpPr>
        <p:spPr>
          <a:xfrm>
            <a:off x="5591556" y="1783080"/>
            <a:ext cx="1005840" cy="1005840"/>
          </a:xfrm>
          <a:prstGeom prst="ellipse">
            <a:avLst/>
          </a:prstGeom>
          <a:solidFill>
            <a:srgbClr val="182B47"/>
          </a:solidFill>
          <a:ln w="15875">
            <a:solidFill>
              <a:srgbClr val="FF8C42"/>
            </a:solidFill>
            <a:prstDash val="solid"/>
          </a:ln>
          <a:effectLst>
            <a:outerShdw sx="100000" sy="100000" kx="0" ky="0" algn="bl" rotWithShape="0" blurRad="88900" dist="25400" dir="5400000">
              <a:srgbClr val="000000">
                <a:alpha val="35000"/>
              </a:srgbClr>
            </a:outerShdw>
          </a:effectLst>
        </p:spPr>
      </p:sp>
      <p:pic>
        <p:nvPicPr>
          <p:cNvPr id="22" name="Image 0" descr="C:\Users\MShaheen\Documents\parkinsons_voice_project\report\defence\figs\ic_ban.png">    </p:cNvPr>
          <p:cNvPicPr>
            <a:picLocks noChangeAspect="1"/>
          </p:cNvPicPr>
          <p:nvPr/>
        </p:nvPicPr>
        <p:blipFill>
          <a:blip r:embed="rId2"/>
          <a:stretch>
            <a:fillRect/>
          </a:stretch>
        </p:blipFill>
        <p:spPr>
          <a:xfrm>
            <a:off x="5853074" y="2044598"/>
            <a:ext cx="482803" cy="482803"/>
          </a:xfrm>
          <a:prstGeom prst="rect">
            <a:avLst/>
          </a:prstGeom>
        </p:spPr>
      </p:pic>
      <p:sp>
        <p:nvSpPr>
          <p:cNvPr id="23" name="Text 20"/>
          <p:cNvSpPr txBox="1"/>
          <p:nvPr/>
        </p:nvSpPr>
        <p:spPr>
          <a:xfrm>
            <a:off x="1463040" y="2926080"/>
            <a:ext cx="9262872" cy="1097280"/>
          </a:xfrm>
          <a:prstGeom prst="rect">
            <a:avLst/>
          </a:prstGeom>
          <a:noFill/>
          <a:ln/>
        </p:spPr>
        <p:txBody>
          <a:bodyPr wrap="square" lIns="0" tIns="0" rIns="0" bIns="0" rtlCol="0" anchor="ctr"/>
          <a:lstStyle/>
          <a:p>
            <a:pPr algn="ctr" indent="0" marL="0">
              <a:lnSpc>
                <a:spcPts val="4000"/>
              </a:lnSpc>
              <a:buNone/>
            </a:pPr>
            <a:r>
              <a:rPr lang="en-US" sz="2600" dirty="0">
                <a:solidFill>
                  <a:srgbClr val="E8EEF7"/>
                </a:solidFill>
                <a:latin typeface="Cambria" pitchFamily="34" charset="0"/>
                <a:ea typeface="Cambria" pitchFamily="34" charset="-122"/>
                <a:cs typeface="Cambria" pitchFamily="34" charset="-120"/>
              </a:rPr>
              <a:t>Denoising suppresses irregularity.
</a:t>
            </a:r>
            <a:pPr algn="ctr" indent="0" marL="0">
              <a:lnSpc>
                <a:spcPts val="4000"/>
              </a:lnSpc>
              <a:buNone/>
            </a:pPr>
            <a:r>
              <a:rPr lang="en-US" sz="2600" dirty="0">
                <a:solidFill>
                  <a:srgbClr val="E8EEF7"/>
                </a:solidFill>
                <a:latin typeface="Cambria" pitchFamily="34" charset="0"/>
                <a:ea typeface="Cambria" pitchFamily="34" charset="-122"/>
                <a:cs typeface="Cambria" pitchFamily="34" charset="-120"/>
              </a:rPr>
              <a:t>Irregularity </a:t>
            </a:r>
            <a:pPr algn="ctr" indent="0" marL="0">
              <a:lnSpc>
                <a:spcPts val="4000"/>
              </a:lnSpc>
              <a:buNone/>
            </a:pPr>
            <a:r>
              <a:rPr lang="en-US" sz="2600" i="1" dirty="0">
                <a:solidFill>
                  <a:srgbClr val="E8EEF7"/>
                </a:solidFill>
                <a:latin typeface="Cambria" pitchFamily="34" charset="0"/>
                <a:ea typeface="Cambria" pitchFamily="34" charset="-122"/>
                <a:cs typeface="Cambria" pitchFamily="34" charset="-120"/>
              </a:rPr>
              <a:t>is</a:t>
            </a:r>
            <a:pPr algn="ctr" indent="0" marL="0">
              <a:lnSpc>
                <a:spcPts val="4000"/>
              </a:lnSpc>
              <a:buNone/>
            </a:pPr>
            <a:r>
              <a:rPr lang="en-US" sz="2600" dirty="0">
                <a:solidFill>
                  <a:srgbClr val="E8EEF7"/>
                </a:solidFill>
                <a:latin typeface="Cambria" pitchFamily="34" charset="0"/>
                <a:ea typeface="Cambria" pitchFamily="34" charset="-122"/>
                <a:cs typeface="Cambria" pitchFamily="34" charset="-120"/>
              </a:rPr>
              <a:t> the evidence.</a:t>
            </a:r>
            <a:endParaRPr lang="en-US" sz="2600" dirty="0"/>
          </a:p>
        </p:txBody>
      </p:sp>
      <p:sp>
        <p:nvSpPr>
          <p:cNvPr id="24" name="Shape 21"/>
          <p:cNvSpPr/>
          <p:nvPr/>
        </p:nvSpPr>
        <p:spPr>
          <a:xfrm>
            <a:off x="2194560" y="4114800"/>
            <a:ext cx="7799832" cy="777240"/>
          </a:xfrm>
          <a:prstGeom prst="roundRect">
            <a:avLst>
              <a:gd name="adj" fmla="val 10588"/>
            </a:avLst>
          </a:prstGeom>
          <a:solidFill>
            <a:srgbClr val="182B47"/>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25" name="Text 22"/>
          <p:cNvSpPr txBox="1"/>
          <p:nvPr/>
        </p:nvSpPr>
        <p:spPr>
          <a:xfrm>
            <a:off x="2194560" y="4114800"/>
            <a:ext cx="7799832" cy="777240"/>
          </a:xfrm>
          <a:prstGeom prst="rect">
            <a:avLst/>
          </a:prstGeom>
          <a:noFill/>
          <a:ln/>
        </p:spPr>
        <p:txBody>
          <a:bodyPr wrap="square" lIns="1270" tIns="1270" rIns="1270" bIns="1270" rtlCol="0" anchor="ctr"/>
          <a:lstStyle/>
          <a:p>
            <a:pPr algn="ctr" indent="0" marL="0">
              <a:buNone/>
            </a:pPr>
            <a:r>
              <a:rPr lang="en-US" sz="1700" b="1" dirty="0">
                <a:solidFill>
                  <a:srgbClr val="FF8C42"/>
                </a:solidFill>
                <a:latin typeface="Calibri" pitchFamily="34" charset="0"/>
                <a:ea typeface="Calibri" pitchFamily="34" charset="-122"/>
                <a:cs typeface="Calibri" pitchFamily="34" charset="-120"/>
              </a:rPr>
              <a:t>Cleaning would make a disordered voice look artificially healthy.</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A student with the exam questions proves nothing</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8</a:t>
            </a:r>
            <a:endParaRPr lang="en-US" sz="1000" dirty="0"/>
          </a:p>
        </p:txBody>
      </p:sp>
      <p:sp>
        <p:nvSpPr>
          <p:cNvPr id="4" name="Shape 2"/>
          <p:cNvSpPr/>
          <p:nvPr/>
        </p:nvSpPr>
        <p:spPr>
          <a:xfrm>
            <a:off x="1188720" y="1783080"/>
            <a:ext cx="2103120" cy="2743200"/>
          </a:xfrm>
          <a:prstGeom prst="roundRect">
            <a:avLst>
              <a:gd name="adj" fmla="val 3478"/>
            </a:avLst>
          </a:prstGeom>
          <a:solidFill>
            <a:srgbClr val="13233B">
              <a:alpha val="40000"/>
            </a:srgbClr>
          </a:solidFill>
          <a:ln w="15875">
            <a:solidFill>
              <a:srgbClr val="2A3D58"/>
            </a:solidFill>
            <a:prstDash val="solid"/>
          </a:ln>
        </p:spPr>
      </p:sp>
      <p:sp>
        <p:nvSpPr>
          <p:cNvPr id="5" name="Text 3"/>
          <p:cNvSpPr txBox="1"/>
          <p:nvPr/>
        </p:nvSpPr>
        <p:spPr>
          <a:xfrm>
            <a:off x="1188720" y="1874520"/>
            <a:ext cx="2103120" cy="320040"/>
          </a:xfrm>
          <a:prstGeom prst="rect">
            <a:avLst/>
          </a:prstGeom>
          <a:noFill/>
          <a:ln/>
        </p:spPr>
        <p:txBody>
          <a:bodyPr wrap="square" lIns="0" tIns="0" rIns="0" bIns="0" rtlCol="0" anchor="ctr"/>
          <a:lstStyle/>
          <a:p>
            <a:pPr algn="ctr" indent="0" marL="0">
              <a:buNone/>
            </a:pPr>
            <a:r>
              <a:rPr lang="en-US" sz="1250" i="1" dirty="0">
                <a:solidFill>
                  <a:srgbClr val="9DB0C7"/>
                </a:solidFill>
                <a:latin typeface="Calibri" pitchFamily="34" charset="0"/>
                <a:ea typeface="Calibri" pitchFamily="34" charset="-122"/>
                <a:cs typeface="Calibri" pitchFamily="34" charset="-120"/>
              </a:rPr>
              <a:t>one person</a:t>
            </a:r>
            <a:endParaRPr lang="en-US" sz="1250" dirty="0"/>
          </a:p>
        </p:txBody>
      </p:sp>
      <p:sp>
        <p:nvSpPr>
          <p:cNvPr id="6" name="Shape 4"/>
          <p:cNvSpPr/>
          <p:nvPr/>
        </p:nvSpPr>
        <p:spPr>
          <a:xfrm>
            <a:off x="1417320" y="2286000"/>
            <a:ext cx="1645920" cy="777240"/>
          </a:xfrm>
          <a:prstGeom prst="roundRect">
            <a:avLst>
              <a:gd name="adj" fmla="val 10588"/>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7" name="Text 5"/>
          <p:cNvSpPr txBox="1"/>
          <p:nvPr/>
        </p:nvSpPr>
        <p:spPr>
          <a:xfrm>
            <a:off x="1417320" y="2286000"/>
            <a:ext cx="1645920" cy="777240"/>
          </a:xfrm>
          <a:prstGeom prst="rect">
            <a:avLst/>
          </a:prstGeom>
          <a:noFill/>
          <a:ln/>
        </p:spPr>
        <p:txBody>
          <a:bodyPr wrap="square" lIns="0" tIns="0" rIns="0" bIns="0" rtlCol="0" anchor="ctr"/>
          <a:lstStyle/>
          <a:p>
            <a:pPr algn="ctr" indent="0" marL="0">
              <a:buNone/>
            </a:pPr>
            <a:r>
              <a:rPr lang="en-US" sz="1400" dirty="0">
                <a:solidFill>
                  <a:srgbClr val="E8EEF7"/>
                </a:solidFill>
                <a:latin typeface="Calibri" pitchFamily="34" charset="0"/>
                <a:ea typeface="Calibri" pitchFamily="34" charset="-122"/>
                <a:cs typeface="Calibri" pitchFamily="34" charset="-120"/>
              </a:rPr>
              <a:t>recording 1</a:t>
            </a:r>
            <a:endParaRPr lang="en-US" sz="1400" dirty="0"/>
          </a:p>
        </p:txBody>
      </p:sp>
      <p:sp>
        <p:nvSpPr>
          <p:cNvPr id="8" name="Shape 6"/>
          <p:cNvSpPr/>
          <p:nvPr/>
        </p:nvSpPr>
        <p:spPr>
          <a:xfrm>
            <a:off x="1417320" y="3383280"/>
            <a:ext cx="1645920" cy="777240"/>
          </a:xfrm>
          <a:prstGeom prst="roundRect">
            <a:avLst>
              <a:gd name="adj" fmla="val 10588"/>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9" name="Text 7"/>
          <p:cNvSpPr txBox="1"/>
          <p:nvPr/>
        </p:nvSpPr>
        <p:spPr>
          <a:xfrm>
            <a:off x="1417320" y="3383280"/>
            <a:ext cx="1645920" cy="777240"/>
          </a:xfrm>
          <a:prstGeom prst="rect">
            <a:avLst/>
          </a:prstGeom>
          <a:noFill/>
          <a:ln/>
        </p:spPr>
        <p:txBody>
          <a:bodyPr wrap="square" lIns="0" tIns="0" rIns="0" bIns="0" rtlCol="0" anchor="ctr"/>
          <a:lstStyle/>
          <a:p>
            <a:pPr algn="ctr" indent="0" marL="0">
              <a:buNone/>
            </a:pPr>
            <a:r>
              <a:rPr lang="en-US" sz="1400" dirty="0">
                <a:solidFill>
                  <a:srgbClr val="E8EEF7"/>
                </a:solidFill>
                <a:latin typeface="Calibri" pitchFamily="34" charset="0"/>
                <a:ea typeface="Calibri" pitchFamily="34" charset="-122"/>
                <a:cs typeface="Calibri" pitchFamily="34" charset="-120"/>
              </a:rPr>
              <a:t>recording 2</a:t>
            </a:r>
            <a:endParaRPr lang="en-US" sz="1400" dirty="0"/>
          </a:p>
        </p:txBody>
      </p:sp>
      <p:sp>
        <p:nvSpPr>
          <p:cNvPr id="10" name="Shape 8"/>
          <p:cNvSpPr/>
          <p:nvPr/>
        </p:nvSpPr>
        <p:spPr>
          <a:xfrm>
            <a:off x="6675120" y="2011680"/>
            <a:ext cx="1737360" cy="731520"/>
          </a:xfrm>
          <a:prstGeom prst="roundRect">
            <a:avLst>
              <a:gd name="adj" fmla="val 11250"/>
            </a:avLst>
          </a:prstGeom>
          <a:solidFill>
            <a:srgbClr val="182B47"/>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1" name="Text 9"/>
          <p:cNvSpPr txBox="1"/>
          <p:nvPr/>
        </p:nvSpPr>
        <p:spPr>
          <a:xfrm>
            <a:off x="6675120" y="2011680"/>
            <a:ext cx="1737360" cy="731520"/>
          </a:xfrm>
          <a:prstGeom prst="rect">
            <a:avLst/>
          </a:prstGeom>
          <a:noFill/>
          <a:ln/>
        </p:spPr>
        <p:txBody>
          <a:bodyPr wrap="square" lIns="0" tIns="0" rIns="0" bIns="0" rtlCol="0" anchor="ctr"/>
          <a:lstStyle/>
          <a:p>
            <a:pPr algn="ctr" indent="0" marL="0">
              <a:buNone/>
            </a:pPr>
            <a:r>
              <a:rPr lang="en-US" sz="1500" b="1" dirty="0">
                <a:solidFill>
                  <a:srgbClr val="FF8C42"/>
                </a:solidFill>
                <a:latin typeface="Calibri" pitchFamily="34" charset="0"/>
                <a:ea typeface="Calibri" pitchFamily="34" charset="-122"/>
                <a:cs typeface="Calibri" pitchFamily="34" charset="-120"/>
              </a:rPr>
              <a:t>training</a:t>
            </a:r>
            <a:endParaRPr lang="en-US" sz="1500" dirty="0"/>
          </a:p>
        </p:txBody>
      </p:sp>
      <p:sp>
        <p:nvSpPr>
          <p:cNvPr id="12" name="Shape 10"/>
          <p:cNvSpPr/>
          <p:nvPr/>
        </p:nvSpPr>
        <p:spPr>
          <a:xfrm>
            <a:off x="6675120" y="3246120"/>
            <a:ext cx="1737360" cy="731520"/>
          </a:xfrm>
          <a:prstGeom prst="roundRect">
            <a:avLst>
              <a:gd name="adj" fmla="val 11250"/>
            </a:avLst>
          </a:prstGeom>
          <a:solidFill>
            <a:srgbClr val="182B47"/>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3" name="Text 11"/>
          <p:cNvSpPr txBox="1"/>
          <p:nvPr/>
        </p:nvSpPr>
        <p:spPr>
          <a:xfrm>
            <a:off x="6675120" y="3246120"/>
            <a:ext cx="1737360" cy="731520"/>
          </a:xfrm>
          <a:prstGeom prst="rect">
            <a:avLst/>
          </a:prstGeom>
          <a:noFill/>
          <a:ln/>
        </p:spPr>
        <p:txBody>
          <a:bodyPr wrap="square" lIns="0" tIns="0" rIns="0" bIns="0" rtlCol="0" anchor="ctr"/>
          <a:lstStyle/>
          <a:p>
            <a:pPr algn="ctr" indent="0" marL="0">
              <a:buNone/>
            </a:pPr>
            <a:r>
              <a:rPr lang="en-US" sz="1500" b="1" dirty="0">
                <a:solidFill>
                  <a:srgbClr val="FF8C42"/>
                </a:solidFill>
                <a:latin typeface="Calibri" pitchFamily="34" charset="0"/>
                <a:ea typeface="Calibri" pitchFamily="34" charset="-122"/>
                <a:cs typeface="Calibri" pitchFamily="34" charset="-120"/>
              </a:rPr>
              <a:t>test</a:t>
            </a:r>
            <a:endParaRPr lang="en-US" sz="1500" dirty="0"/>
          </a:p>
        </p:txBody>
      </p:sp>
      <p:sp>
        <p:nvSpPr>
          <p:cNvPr id="14" name="Shape 12"/>
          <p:cNvSpPr/>
          <p:nvPr/>
        </p:nvSpPr>
        <p:spPr>
          <a:xfrm flipV="1">
            <a:off x="3063240" y="2377440"/>
            <a:ext cx="3611880" cy="301752"/>
          </a:xfrm>
          <a:prstGeom prst="line">
            <a:avLst/>
          </a:prstGeom>
          <a:noFill/>
          <a:ln w="27940">
            <a:solidFill>
              <a:srgbClr val="FF8C42"/>
            </a:solidFill>
            <a:prstDash val="solid"/>
            <a:tailEnd type="arrow"/>
          </a:ln>
        </p:spPr>
      </p:sp>
      <p:sp>
        <p:nvSpPr>
          <p:cNvPr id="15" name="Shape 13"/>
          <p:cNvSpPr/>
          <p:nvPr/>
        </p:nvSpPr>
        <p:spPr>
          <a:xfrm flipV="1">
            <a:off x="3063240" y="3611880"/>
            <a:ext cx="3611880" cy="164592"/>
          </a:xfrm>
          <a:prstGeom prst="line">
            <a:avLst/>
          </a:prstGeom>
          <a:noFill/>
          <a:ln w="27940">
            <a:solidFill>
              <a:srgbClr val="FF8C42"/>
            </a:solidFill>
            <a:prstDash val="solid"/>
            <a:tailEnd type="arrow"/>
          </a:ln>
        </p:spPr>
      </p:sp>
      <p:sp>
        <p:nvSpPr>
          <p:cNvPr id="16" name="Text 14"/>
          <p:cNvSpPr txBox="1"/>
          <p:nvPr/>
        </p:nvSpPr>
        <p:spPr>
          <a:xfrm>
            <a:off x="8778240" y="1965960"/>
            <a:ext cx="2926080" cy="1005840"/>
          </a:xfrm>
          <a:prstGeom prst="rect">
            <a:avLst/>
          </a:prstGeom>
          <a:noFill/>
          <a:ln/>
        </p:spPr>
        <p:txBody>
          <a:bodyPr wrap="square" lIns="0" tIns="0" rIns="0" bIns="0" rtlCol="0" anchor="ctr"/>
          <a:lstStyle/>
          <a:p>
            <a:pPr algn="l" indent="0" marL="0">
              <a:buNone/>
            </a:pPr>
            <a:r>
              <a:rPr lang="en-US" sz="1600" dirty="0">
                <a:solidFill>
                  <a:srgbClr val="E8EEF7"/>
                </a:solidFill>
                <a:latin typeface="Calibri" pitchFamily="34" charset="0"/>
                <a:ea typeface="Calibri" pitchFamily="34" charset="-122"/>
                <a:cs typeface="Calibri" pitchFamily="34" charset="-120"/>
              </a:rPr>
              <a:t>the model can win by</a:t>
            </a:r>
            <a:endParaRPr lang="en-US" sz="1600" dirty="0"/>
          </a:p>
          <a:p>
            <a:pPr algn="l" indent="0" marL="0">
              <a:buNone/>
            </a:pPr>
            <a:r>
              <a:rPr lang="en-US" sz="1600" dirty="0">
                <a:solidFill>
                  <a:srgbClr val="E8EEF7"/>
                </a:solidFill>
                <a:latin typeface="Calibri" pitchFamily="34" charset="0"/>
                <a:ea typeface="Calibri" pitchFamily="34" charset="-122"/>
                <a:cs typeface="Calibri" pitchFamily="34" charset="-120"/>
              </a:rPr>
              <a:t>recognising the </a:t>
            </a:r>
            <a:endParaRPr lang="en-US" sz="1600" dirty="0"/>
          </a:p>
          <a:p>
            <a:pPr algn="l" indent="0" marL="0">
              <a:buNone/>
            </a:pPr>
            <a:r>
              <a:rPr lang="en-US" sz="1600" b="1" i="1" dirty="0">
                <a:solidFill>
                  <a:srgbClr val="FF8C42"/>
                </a:solidFill>
                <a:latin typeface="Calibri" pitchFamily="34" charset="0"/>
                <a:ea typeface="Calibri" pitchFamily="34" charset="-122"/>
                <a:cs typeface="Calibri" pitchFamily="34" charset="-120"/>
              </a:rPr>
              <a:t>person</a:t>
            </a:r>
            <a:endParaRPr lang="en-US" sz="1600" dirty="0"/>
          </a:p>
        </p:txBody>
      </p:sp>
      <p:sp>
        <p:nvSpPr>
          <p:cNvPr id="17" name="Text 15"/>
          <p:cNvSpPr txBox="1"/>
          <p:nvPr/>
        </p:nvSpPr>
        <p:spPr>
          <a:xfrm>
            <a:off x="822960" y="4572000"/>
            <a:ext cx="10543032" cy="502920"/>
          </a:xfrm>
          <a:prstGeom prst="rect">
            <a:avLst/>
          </a:prstGeom>
          <a:noFill/>
          <a:ln/>
        </p:spPr>
        <p:txBody>
          <a:bodyPr wrap="square" lIns="0" tIns="0" rIns="0" bIns="0" rtlCol="0" anchor="ctr"/>
          <a:lstStyle/>
          <a:p>
            <a:pPr algn="ctr" indent="0" marL="0">
              <a:buNone/>
            </a:pPr>
            <a:r>
              <a:rPr lang="en-US" sz="1900" dirty="0">
                <a:solidFill>
                  <a:srgbClr val="E8EEF7"/>
                </a:solidFill>
                <a:latin typeface="Cambria" pitchFamily="34" charset="0"/>
                <a:ea typeface="Cambria" pitchFamily="34" charset="-122"/>
                <a:cs typeface="Cambria" pitchFamily="34" charset="-120"/>
              </a:rPr>
              <a:t>This is </a:t>
            </a:r>
            <a:pPr algn="ctr" indent="0" marL="0">
              <a:buNone/>
            </a:pPr>
            <a:r>
              <a:rPr lang="en-US" sz="1900" b="1" dirty="0">
                <a:solidFill>
                  <a:srgbClr val="FF8C42"/>
                </a:solidFill>
                <a:latin typeface="Cambria" pitchFamily="34" charset="0"/>
                <a:ea typeface="Cambria" pitchFamily="34" charset="-122"/>
                <a:cs typeface="Cambria" pitchFamily="34" charset="-120"/>
              </a:rPr>
              <a:t>data leakage</a:t>
            </a:r>
            <a:pPr algn="ctr" indent="0" marL="0">
              <a:buNone/>
            </a:pPr>
            <a:r>
              <a:rPr lang="en-US" sz="1900" dirty="0">
                <a:solidFill>
                  <a:srgbClr val="E8EEF7"/>
                </a:solidFill>
                <a:latin typeface="Cambria" pitchFamily="34" charset="0"/>
                <a:ea typeface="Cambria" pitchFamily="34" charset="-122"/>
                <a:cs typeface="Cambria" pitchFamily="34" charset="-120"/>
              </a:rPr>
              <a:t>.  Our program halts if it ever happens.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Validation design decides the number</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9</a:t>
            </a:r>
            <a:endParaRPr lang="en-US" sz="1000" dirty="0"/>
          </a:p>
        </p:txBody>
      </p:sp>
      <p:sp>
        <p:nvSpPr>
          <p:cNvPr id="4" name="Text 2"/>
          <p:cNvSpPr txBox="1"/>
          <p:nvPr/>
        </p:nvSpPr>
        <p:spPr>
          <a:xfrm>
            <a:off x="822960" y="1828800"/>
            <a:ext cx="10543032" cy="1828800"/>
          </a:xfrm>
          <a:prstGeom prst="rect">
            <a:avLst/>
          </a:prstGeom>
          <a:noFill/>
          <a:ln/>
        </p:spPr>
        <p:txBody>
          <a:bodyPr wrap="square" lIns="0" tIns="0" rIns="0" bIns="0" rtlCol="0" anchor="ctr"/>
          <a:lstStyle/>
          <a:p>
            <a:pPr algn="ctr" indent="0" marL="0">
              <a:buNone/>
            </a:pPr>
            <a:r>
              <a:rPr lang="en-US" sz="11000" b="1" dirty="0">
                <a:solidFill>
                  <a:srgbClr val="E8EEF7"/>
                </a:solidFill>
                <a:latin typeface="Cambria" pitchFamily="34" charset="0"/>
                <a:ea typeface="Cambria" pitchFamily="34" charset="-122"/>
                <a:cs typeface="Cambria" pitchFamily="34" charset="-120"/>
              </a:rPr>
              <a:t>0.909</a:t>
            </a:r>
            <a:endParaRPr lang="en-US" sz="11000" dirty="0"/>
          </a:p>
        </p:txBody>
      </p:sp>
      <p:sp>
        <p:nvSpPr>
          <p:cNvPr id="5" name="Text 3"/>
          <p:cNvSpPr txBox="1"/>
          <p:nvPr/>
        </p:nvSpPr>
        <p:spPr>
          <a:xfrm>
            <a:off x="822960" y="3794760"/>
            <a:ext cx="10543032" cy="411480"/>
          </a:xfrm>
          <a:prstGeom prst="rect">
            <a:avLst/>
          </a:prstGeom>
          <a:noFill/>
          <a:ln/>
        </p:spPr>
        <p:txBody>
          <a:bodyPr wrap="square" lIns="0" tIns="0" rIns="0" bIns="0" rtlCol="0" anchor="ctr"/>
          <a:lstStyle/>
          <a:p>
            <a:pPr algn="ctr" indent="0" marL="0">
              <a:buNone/>
            </a:pPr>
            <a:r>
              <a:rPr lang="en-US" sz="1600" dirty="0">
                <a:solidFill>
                  <a:srgbClr val="9DB0C7"/>
                </a:solidFill>
                <a:latin typeface="Calibri" pitchFamily="34" charset="0"/>
                <a:ea typeface="Calibri" pitchFamily="34" charset="-122"/>
                <a:cs typeface="Calibri" pitchFamily="34" charset="-120"/>
              </a:rPr>
              <a:t>balanced accuracy</a:t>
            </a:r>
            <a:endParaRPr lang="en-US" sz="1600" dirty="0"/>
          </a:p>
        </p:txBody>
      </p:sp>
      <p:sp>
        <p:nvSpPr>
          <p:cNvPr id="6" name="Text 4"/>
          <p:cNvSpPr txBox="1"/>
          <p:nvPr/>
        </p:nvSpPr>
        <p:spPr>
          <a:xfrm>
            <a:off x="822960" y="4434840"/>
            <a:ext cx="10543032" cy="457200"/>
          </a:xfrm>
          <a:prstGeom prst="rect">
            <a:avLst/>
          </a:prstGeom>
          <a:noFill/>
          <a:ln/>
        </p:spPr>
        <p:txBody>
          <a:bodyPr wrap="square" lIns="0" tIns="0" rIns="0" bIns="0" rtlCol="0" anchor="ctr"/>
          <a:lstStyle/>
          <a:p>
            <a:pPr algn="ctr" indent="0" marL="0">
              <a:buNone/>
            </a:pPr>
            <a:r>
              <a:rPr lang="en-US" sz="1900" i="1" dirty="0">
                <a:solidFill>
                  <a:srgbClr val="9DB0C7"/>
                </a:solidFill>
                <a:latin typeface="Cambria" pitchFamily="34" charset="0"/>
                <a:ea typeface="Cambria" pitchFamily="34" charset="-122"/>
                <a:cs typeface="Cambria" pitchFamily="34" charset="-120"/>
              </a:rPr>
              <a:t>an impressive result?</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Validation design decides the number</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10</a:t>
            </a:r>
            <a:endParaRPr lang="en-US" sz="1000" dirty="0"/>
          </a:p>
        </p:txBody>
      </p:sp>
      <p:sp>
        <p:nvSpPr>
          <p:cNvPr id="4" name="Text 2"/>
          <p:cNvSpPr txBox="1"/>
          <p:nvPr/>
        </p:nvSpPr>
        <p:spPr>
          <a:xfrm>
            <a:off x="731520" y="1417320"/>
            <a:ext cx="4206240" cy="1051560"/>
          </a:xfrm>
          <a:prstGeom prst="rect">
            <a:avLst/>
          </a:prstGeom>
          <a:noFill/>
          <a:ln/>
        </p:spPr>
        <p:txBody>
          <a:bodyPr wrap="square" lIns="0" tIns="0" rIns="0" bIns="0" rtlCol="0" anchor="ctr"/>
          <a:lstStyle/>
          <a:p>
            <a:pPr algn="ctr" indent="0" marL="0">
              <a:buNone/>
            </a:pPr>
            <a:r>
              <a:rPr lang="en-US" sz="6000" b="1" dirty="0">
                <a:solidFill>
                  <a:srgbClr val="FF8C42"/>
                </a:solidFill>
                <a:latin typeface="Cambria" pitchFamily="34" charset="0"/>
                <a:ea typeface="Cambria" pitchFamily="34" charset="-122"/>
                <a:cs typeface="Cambria" pitchFamily="34" charset="-120"/>
              </a:rPr>
              <a:t>0.909</a:t>
            </a:r>
            <a:endParaRPr lang="en-US" sz="6000" dirty="0"/>
          </a:p>
        </p:txBody>
      </p:sp>
      <p:sp>
        <p:nvSpPr>
          <p:cNvPr id="5" name="Text 3"/>
          <p:cNvSpPr txBox="1"/>
          <p:nvPr/>
        </p:nvSpPr>
        <p:spPr>
          <a:xfrm>
            <a:off x="731520" y="2468880"/>
            <a:ext cx="4206240" cy="365760"/>
          </a:xfrm>
          <a:prstGeom prst="rect">
            <a:avLst/>
          </a:prstGeom>
          <a:noFill/>
          <a:ln/>
        </p:spPr>
        <p:txBody>
          <a:bodyPr wrap="square" lIns="0" tIns="0" rIns="0" bIns="0" rtlCol="0" anchor="ctr"/>
          <a:lstStyle/>
          <a:p>
            <a:pPr algn="ctr" indent="0" marL="0">
              <a:buNone/>
            </a:pPr>
            <a:r>
              <a:rPr lang="en-US" sz="1300" b="1" dirty="0">
                <a:solidFill>
                  <a:srgbClr val="FF8C42"/>
                </a:solidFill>
                <a:latin typeface="Calibri" pitchFamily="34" charset="0"/>
                <a:ea typeface="Calibri" pitchFamily="34" charset="-122"/>
                <a:cs typeface="Calibri" pitchFamily="34" charset="-120"/>
              </a:rPr>
              <a:t>deliberately wrong split — demonstration only</a:t>
            </a:r>
            <a:endParaRPr lang="en-US" sz="1300" dirty="0"/>
          </a:p>
        </p:txBody>
      </p:sp>
      <p:sp>
        <p:nvSpPr>
          <p:cNvPr id="6" name="Text 4"/>
          <p:cNvSpPr txBox="1"/>
          <p:nvPr/>
        </p:nvSpPr>
        <p:spPr>
          <a:xfrm>
            <a:off x="731520" y="3063240"/>
            <a:ext cx="4206240" cy="1051560"/>
          </a:xfrm>
          <a:prstGeom prst="rect">
            <a:avLst/>
          </a:prstGeom>
          <a:noFill/>
          <a:ln/>
        </p:spPr>
        <p:txBody>
          <a:bodyPr wrap="square" lIns="0" tIns="0" rIns="0" bIns="0" rtlCol="0" anchor="ctr"/>
          <a:lstStyle/>
          <a:p>
            <a:pPr algn="ctr" indent="0" marL="0">
              <a:buNone/>
            </a:pPr>
            <a:r>
              <a:rPr lang="en-US" sz="6000" b="1" dirty="0">
                <a:solidFill>
                  <a:srgbClr val="5AB4F0"/>
                </a:solidFill>
                <a:latin typeface="Cambria" pitchFamily="34" charset="0"/>
                <a:ea typeface="Cambria" pitchFamily="34" charset="-122"/>
                <a:cs typeface="Cambria" pitchFamily="34" charset="-120"/>
              </a:rPr>
              <a:t>0.775</a:t>
            </a:r>
            <a:endParaRPr lang="en-US" sz="6000" dirty="0"/>
          </a:p>
        </p:txBody>
      </p:sp>
      <p:sp>
        <p:nvSpPr>
          <p:cNvPr id="7" name="Text 5"/>
          <p:cNvSpPr txBox="1"/>
          <p:nvPr/>
        </p:nvSpPr>
        <p:spPr>
          <a:xfrm>
            <a:off x="731520" y="4114800"/>
            <a:ext cx="4206240" cy="365760"/>
          </a:xfrm>
          <a:prstGeom prst="rect">
            <a:avLst/>
          </a:prstGeom>
          <a:noFill/>
          <a:ln/>
        </p:spPr>
        <p:txBody>
          <a:bodyPr wrap="square" lIns="0" tIns="0" rIns="0" bIns="0" rtlCol="0" anchor="ctr"/>
          <a:lstStyle/>
          <a:p>
            <a:pPr algn="ctr" indent="0" marL="0">
              <a:buNone/>
            </a:pPr>
            <a:r>
              <a:rPr lang="en-US" sz="1300" dirty="0">
                <a:solidFill>
                  <a:srgbClr val="5AB4F0"/>
                </a:solidFill>
                <a:latin typeface="Calibri" pitchFamily="34" charset="0"/>
                <a:ea typeface="Calibri" pitchFamily="34" charset="-122"/>
                <a:cs typeface="Calibri" pitchFamily="34" charset="-120"/>
              </a:rPr>
              <a:t>correct split, same model</a:t>
            </a:r>
            <a:endParaRPr lang="en-US" sz="1300" dirty="0"/>
          </a:p>
        </p:txBody>
      </p:sp>
      <p:sp>
        <p:nvSpPr>
          <p:cNvPr id="8" name="Shape 6"/>
          <p:cNvSpPr/>
          <p:nvPr/>
        </p:nvSpPr>
        <p:spPr>
          <a:xfrm>
            <a:off x="5715000" y="2926080"/>
            <a:ext cx="5029200" cy="0"/>
          </a:xfrm>
          <a:prstGeom prst="line">
            <a:avLst/>
          </a:prstGeom>
          <a:noFill/>
          <a:ln w="12700">
            <a:solidFill>
              <a:srgbClr val="9DB0C7"/>
            </a:solidFill>
            <a:prstDash val="dash"/>
          </a:ln>
        </p:spPr>
      </p:sp>
      <p:sp>
        <p:nvSpPr>
          <p:cNvPr id="9" name="Shape 7"/>
          <p:cNvSpPr/>
          <p:nvPr/>
        </p:nvSpPr>
        <p:spPr>
          <a:xfrm>
            <a:off x="6035040" y="2171700"/>
            <a:ext cx="1554480" cy="2125980"/>
          </a:xfrm>
          <a:prstGeom prst="roundRect">
            <a:avLst>
              <a:gd name="adj" fmla="val 2941"/>
            </a:avLst>
          </a:prstGeom>
          <a:solidFill>
            <a:srgbClr val="5AB4F0">
              <a:alpha val="85000"/>
            </a:srgbClr>
          </a:solidFill>
          <a:ln/>
        </p:spPr>
      </p:sp>
      <p:sp>
        <p:nvSpPr>
          <p:cNvPr id="10" name="Text 8"/>
          <p:cNvSpPr txBox="1"/>
          <p:nvPr/>
        </p:nvSpPr>
        <p:spPr>
          <a:xfrm>
            <a:off x="5852160" y="1714500"/>
            <a:ext cx="1920240" cy="411480"/>
          </a:xfrm>
          <a:prstGeom prst="rect">
            <a:avLst/>
          </a:prstGeom>
          <a:noFill/>
          <a:ln/>
        </p:spPr>
        <p:txBody>
          <a:bodyPr wrap="square" lIns="0" tIns="0" rIns="0" bIns="0" rtlCol="0" anchor="ctr"/>
          <a:lstStyle/>
          <a:p>
            <a:pPr algn="ctr" indent="0" marL="0">
              <a:buNone/>
            </a:pPr>
            <a:r>
              <a:rPr lang="en-US" sz="2100" b="1" dirty="0">
                <a:solidFill>
                  <a:srgbClr val="5AB4F0"/>
                </a:solidFill>
                <a:latin typeface="Cambria" pitchFamily="34" charset="0"/>
                <a:ea typeface="Cambria" pitchFamily="34" charset="-122"/>
                <a:cs typeface="Cambria" pitchFamily="34" charset="-120"/>
              </a:rPr>
              <a:t>0.775</a:t>
            </a:r>
            <a:endParaRPr lang="en-US" sz="2100" dirty="0"/>
          </a:p>
        </p:txBody>
      </p:sp>
      <p:sp>
        <p:nvSpPr>
          <p:cNvPr id="11" name="Text 9"/>
          <p:cNvSpPr txBox="1"/>
          <p:nvPr/>
        </p:nvSpPr>
        <p:spPr>
          <a:xfrm>
            <a:off x="5623560" y="4407408"/>
            <a:ext cx="2377440" cy="594360"/>
          </a:xfrm>
          <a:prstGeom prst="rect">
            <a:avLst/>
          </a:prstGeom>
          <a:noFill/>
          <a:ln/>
        </p:spPr>
        <p:txBody>
          <a:bodyPr wrap="square" lIns="0" tIns="0" rIns="0" bIns="0" rtlCol="0" anchor="ctr"/>
          <a:lstStyle/>
          <a:p>
            <a:pPr algn="ctr" indent="0" marL="0">
              <a:buNone/>
            </a:pPr>
            <a:r>
              <a:rPr lang="en-US" sz="1150" dirty="0">
                <a:solidFill>
                  <a:srgbClr val="9DB0C7"/>
                </a:solidFill>
                <a:latin typeface="Calibri" pitchFamily="34" charset="0"/>
                <a:ea typeface="Calibri" pitchFamily="34" charset="-122"/>
                <a:cs typeface="Calibri" pitchFamily="34" charset="-120"/>
              </a:rPr>
              <a:t>correct split</a:t>
            </a:r>
            <a:endParaRPr lang="en-US" sz="1150" dirty="0"/>
          </a:p>
          <a:p>
            <a:pPr algn="ctr" indent="0" marL="0">
              <a:buNone/>
            </a:pPr>
            <a:r>
              <a:rPr lang="en-US" sz="1150" dirty="0">
                <a:solidFill>
                  <a:srgbClr val="9DB0C7"/>
                </a:solidFill>
                <a:latin typeface="Calibri" pitchFamily="34" charset="0"/>
                <a:ea typeface="Calibri" pitchFamily="34" charset="-122"/>
                <a:cs typeface="Calibri" pitchFamily="34" charset="-120"/>
              </a:rPr>
              <a:t>grouped by subject</a:t>
            </a:r>
            <a:endParaRPr lang="en-US" sz="1150" dirty="0"/>
          </a:p>
        </p:txBody>
      </p:sp>
      <p:sp>
        <p:nvSpPr>
          <p:cNvPr id="12" name="Shape 10"/>
          <p:cNvSpPr/>
          <p:nvPr/>
        </p:nvSpPr>
        <p:spPr>
          <a:xfrm>
            <a:off x="8869680" y="1804111"/>
            <a:ext cx="1554480" cy="2493569"/>
          </a:xfrm>
          <a:prstGeom prst="roundRect">
            <a:avLst>
              <a:gd name="adj" fmla="val 2941"/>
            </a:avLst>
          </a:prstGeom>
          <a:solidFill>
            <a:srgbClr val="FF8C42">
              <a:alpha val="85000"/>
            </a:srgbClr>
          </a:solidFill>
          <a:ln/>
        </p:spPr>
      </p:sp>
      <p:sp>
        <p:nvSpPr>
          <p:cNvPr id="13" name="Text 11"/>
          <p:cNvSpPr txBox="1"/>
          <p:nvPr/>
        </p:nvSpPr>
        <p:spPr>
          <a:xfrm>
            <a:off x="8686800" y="1346911"/>
            <a:ext cx="1920240" cy="411480"/>
          </a:xfrm>
          <a:prstGeom prst="rect">
            <a:avLst/>
          </a:prstGeom>
          <a:noFill/>
          <a:ln/>
        </p:spPr>
        <p:txBody>
          <a:bodyPr wrap="square" lIns="0" tIns="0" rIns="0" bIns="0" rtlCol="0" anchor="ctr"/>
          <a:lstStyle/>
          <a:p>
            <a:pPr algn="ctr" indent="0" marL="0">
              <a:buNone/>
            </a:pPr>
            <a:r>
              <a:rPr lang="en-US" sz="2100" b="1" dirty="0">
                <a:solidFill>
                  <a:srgbClr val="FF8C42"/>
                </a:solidFill>
                <a:latin typeface="Cambria" pitchFamily="34" charset="0"/>
                <a:ea typeface="Cambria" pitchFamily="34" charset="-122"/>
                <a:cs typeface="Cambria" pitchFamily="34" charset="-120"/>
              </a:rPr>
              <a:t>0.909</a:t>
            </a:r>
            <a:endParaRPr lang="en-US" sz="2100" dirty="0"/>
          </a:p>
        </p:txBody>
      </p:sp>
      <p:sp>
        <p:nvSpPr>
          <p:cNvPr id="14" name="Text 12"/>
          <p:cNvSpPr txBox="1"/>
          <p:nvPr/>
        </p:nvSpPr>
        <p:spPr>
          <a:xfrm>
            <a:off x="8458200" y="4407408"/>
            <a:ext cx="2377440" cy="594360"/>
          </a:xfrm>
          <a:prstGeom prst="rect">
            <a:avLst/>
          </a:prstGeom>
          <a:noFill/>
          <a:ln/>
        </p:spPr>
        <p:txBody>
          <a:bodyPr wrap="square" lIns="0" tIns="0" rIns="0" bIns="0" rtlCol="0" anchor="ctr"/>
          <a:lstStyle/>
          <a:p>
            <a:pPr algn="ctr" indent="0" marL="0">
              <a:buNone/>
            </a:pPr>
            <a:r>
              <a:rPr lang="en-US" sz="1150" dirty="0">
                <a:solidFill>
                  <a:srgbClr val="9DB0C7"/>
                </a:solidFill>
                <a:latin typeface="Calibri" pitchFamily="34" charset="0"/>
                <a:ea typeface="Calibri" pitchFamily="34" charset="-122"/>
                <a:cs typeface="Calibri" pitchFamily="34" charset="-120"/>
              </a:rPr>
              <a:t>wrong split</a:t>
            </a:r>
            <a:endParaRPr lang="en-US" sz="1150" dirty="0"/>
          </a:p>
          <a:p>
            <a:pPr algn="ctr" indent="0" marL="0">
              <a:buNone/>
            </a:pPr>
            <a:r>
              <a:rPr lang="en-US" sz="1150" dirty="0">
                <a:solidFill>
                  <a:srgbClr val="9DB0C7"/>
                </a:solidFill>
                <a:latin typeface="Calibri" pitchFamily="34" charset="0"/>
                <a:ea typeface="Calibri" pitchFamily="34" charset="-122"/>
                <a:cs typeface="Calibri" pitchFamily="34" charset="-120"/>
              </a:rPr>
              <a:t>chunks cross sides</a:t>
            </a:r>
            <a:endParaRPr lang="en-US" sz="1150" dirty="0"/>
          </a:p>
        </p:txBody>
      </p:sp>
      <p:sp>
        <p:nvSpPr>
          <p:cNvPr id="15" name="Text 13"/>
          <p:cNvSpPr txBox="1"/>
          <p:nvPr/>
        </p:nvSpPr>
        <p:spPr>
          <a:xfrm>
            <a:off x="822960" y="5669280"/>
            <a:ext cx="10543032" cy="502920"/>
          </a:xfrm>
          <a:prstGeom prst="rect">
            <a:avLst/>
          </a:prstGeom>
          <a:noFill/>
          <a:ln/>
        </p:spPr>
        <p:txBody>
          <a:bodyPr wrap="square" lIns="0" tIns="0" rIns="0" bIns="0" rtlCol="0" anchor="ctr"/>
          <a:lstStyle/>
          <a:p>
            <a:pPr algn="ctr" indent="0" marL="0">
              <a:buNone/>
            </a:pPr>
            <a:r>
              <a:rPr lang="en-US" sz="1800" dirty="0">
                <a:solidFill>
                  <a:srgbClr val="E8EEF7"/>
                </a:solidFill>
                <a:latin typeface="Cambria" pitchFamily="34" charset="0"/>
                <a:ea typeface="Cambria" pitchFamily="34" charset="-122"/>
                <a:cs typeface="Cambria" pitchFamily="34" charset="-120"/>
              </a:rPr>
              <a:t>The difference is </a:t>
            </a:r>
            <a:pPr algn="ctr" indent="0" marL="0">
              <a:buNone/>
            </a:pPr>
            <a:r>
              <a:rPr lang="en-US" sz="1800" b="1" dirty="0">
                <a:solidFill>
                  <a:srgbClr val="FF8C42"/>
                </a:solidFill>
                <a:latin typeface="Cambria" pitchFamily="34" charset="0"/>
                <a:ea typeface="Cambria" pitchFamily="34" charset="-122"/>
                <a:cs typeface="Cambria" pitchFamily="34" charset="-120"/>
              </a:rPr>
              <a:t>memorisation</a:t>
            </a:r>
            <a:pPr algn="ctr" indent="0" marL="0">
              <a:buNone/>
            </a:pPr>
            <a:r>
              <a:rPr lang="en-US" sz="1800" dirty="0">
                <a:solidFill>
                  <a:srgbClr val="E8EEF7"/>
                </a:solidFill>
                <a:latin typeface="Cambria" pitchFamily="34" charset="0"/>
                <a:ea typeface="Cambria" pitchFamily="34" charset="-122"/>
                <a:cs typeface="Cambria" pitchFamily="34" charset="-120"/>
              </a:rPr>
              <a:t>, not detection — and it is why 95%+ results exist.</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The rules were fixed before the experiments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11</a:t>
            </a:r>
            <a:endParaRPr lang="en-US" sz="1000" dirty="0"/>
          </a:p>
        </p:txBody>
      </p:sp>
      <p:sp>
        <p:nvSpPr>
          <p:cNvPr id="4" name="Shape 2"/>
          <p:cNvSpPr/>
          <p:nvPr/>
        </p:nvSpPr>
        <p:spPr>
          <a:xfrm>
            <a:off x="699516" y="1645920"/>
            <a:ext cx="5120640" cy="868680"/>
          </a:xfrm>
          <a:prstGeom prst="roundRect">
            <a:avLst>
              <a:gd name="adj" fmla="val 9474"/>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864108" y="1815084"/>
            <a:ext cx="530352" cy="530352"/>
          </a:xfrm>
          <a:prstGeom prst="ellipse">
            <a:avLst/>
          </a:prstGeom>
          <a:solidFill>
            <a:srgbClr val="182B47"/>
          </a:solidFill>
          <a:ln w="15875">
            <a:solidFill>
              <a:srgbClr val="5AB4F0"/>
            </a:solidFill>
            <a:prstDash val="solid"/>
          </a:ln>
          <a:effectLst>
            <a:outerShdw sx="100000" sy="100000" kx="0" ky="0" algn="bl" rotWithShape="0" blurRad="88900" dist="25400" dir="5400000">
              <a:srgbClr val="000000">
                <a:alpha val="35000"/>
              </a:srgbClr>
            </a:outerShdw>
          </a:effectLst>
        </p:spPr>
      </p:sp>
      <p:pic>
        <p:nvPicPr>
          <p:cNvPr id="6" name="Image 0" descr="C:\Users\MShaheen\Documents\parkinsons_voice_project\report\defence\figs\ic_scale.png">    </p:cNvPr>
          <p:cNvPicPr>
            <a:picLocks noChangeAspect="1"/>
          </p:cNvPicPr>
          <p:nvPr/>
        </p:nvPicPr>
        <p:blipFill>
          <a:blip r:embed="rId2"/>
          <a:stretch>
            <a:fillRect/>
          </a:stretch>
        </p:blipFill>
        <p:spPr>
          <a:xfrm>
            <a:off x="1002000" y="1952976"/>
            <a:ext cx="254569" cy="254569"/>
          </a:xfrm>
          <a:prstGeom prst="rect">
            <a:avLst/>
          </a:prstGeom>
        </p:spPr>
      </p:pic>
      <p:sp>
        <p:nvSpPr>
          <p:cNvPr id="7" name="Text 4"/>
          <p:cNvSpPr txBox="1"/>
          <p:nvPr/>
        </p:nvSpPr>
        <p:spPr>
          <a:xfrm>
            <a:off x="1568196" y="1645920"/>
            <a:ext cx="4069080" cy="868680"/>
          </a:xfrm>
          <a:prstGeom prst="rect">
            <a:avLst/>
          </a:prstGeom>
          <a:noFill/>
          <a:ln/>
        </p:spPr>
        <p:txBody>
          <a:bodyPr wrap="square" lIns="0" tIns="0" rIns="0" bIns="0" rtlCol="0" anchor="ctr"/>
          <a:lstStyle/>
          <a:p>
            <a:pPr algn="l" indent="0" marL="0">
              <a:buNone/>
            </a:pPr>
            <a:r>
              <a:rPr lang="en-US" sz="1500" dirty="0">
                <a:solidFill>
                  <a:srgbClr val="E8EEF7"/>
                </a:solidFill>
                <a:latin typeface="Calibri" pitchFamily="34" charset="0"/>
                <a:ea typeface="Calibri" pitchFamily="34" charset="-122"/>
                <a:cs typeface="Calibri" pitchFamily="34" charset="-120"/>
              </a:rPr>
              <a:t>identical splits for every variant</a:t>
            </a:r>
            <a:endParaRPr lang="en-US" sz="1500" dirty="0"/>
          </a:p>
        </p:txBody>
      </p:sp>
      <p:sp>
        <p:nvSpPr>
          <p:cNvPr id="8" name="Shape 5"/>
          <p:cNvSpPr/>
          <p:nvPr/>
        </p:nvSpPr>
        <p:spPr>
          <a:xfrm>
            <a:off x="6368796" y="1645920"/>
            <a:ext cx="5120640" cy="868680"/>
          </a:xfrm>
          <a:prstGeom prst="roundRect">
            <a:avLst>
              <a:gd name="adj" fmla="val 9474"/>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9" name="Shape 6"/>
          <p:cNvSpPr/>
          <p:nvPr/>
        </p:nvSpPr>
        <p:spPr>
          <a:xfrm>
            <a:off x="6533388" y="1815084"/>
            <a:ext cx="530352" cy="530352"/>
          </a:xfrm>
          <a:prstGeom prst="ellipse">
            <a:avLst/>
          </a:prstGeom>
          <a:solidFill>
            <a:srgbClr val="182B47"/>
          </a:solidFill>
          <a:ln w="15875">
            <a:solidFill>
              <a:srgbClr val="5AB4F0"/>
            </a:solidFill>
            <a:prstDash val="solid"/>
          </a:ln>
          <a:effectLst>
            <a:outerShdw sx="100000" sy="100000" kx="0" ky="0" algn="bl" rotWithShape="0" blurRad="88900" dist="25400" dir="5400000">
              <a:srgbClr val="000000">
                <a:alpha val="35000"/>
              </a:srgbClr>
            </a:outerShdw>
          </a:effectLst>
        </p:spPr>
      </p:sp>
      <p:pic>
        <p:nvPicPr>
          <p:cNvPr id="10" name="Image 1" descr="C:\Users\MShaheen\Documents\parkinsons_voice_project\report\defence\figs\ic_chart.png">    </p:cNvPr>
          <p:cNvPicPr>
            <a:picLocks noChangeAspect="1"/>
          </p:cNvPicPr>
          <p:nvPr/>
        </p:nvPicPr>
        <p:blipFill>
          <a:blip r:embed="rId3"/>
          <a:stretch>
            <a:fillRect/>
          </a:stretch>
        </p:blipFill>
        <p:spPr>
          <a:xfrm>
            <a:off x="6671280" y="1952976"/>
            <a:ext cx="254569" cy="254569"/>
          </a:xfrm>
          <a:prstGeom prst="rect">
            <a:avLst/>
          </a:prstGeom>
        </p:spPr>
      </p:pic>
      <p:sp>
        <p:nvSpPr>
          <p:cNvPr id="11" name="Text 7"/>
          <p:cNvSpPr txBox="1"/>
          <p:nvPr/>
        </p:nvSpPr>
        <p:spPr>
          <a:xfrm>
            <a:off x="7237476" y="1645920"/>
            <a:ext cx="4069080" cy="868680"/>
          </a:xfrm>
          <a:prstGeom prst="rect">
            <a:avLst/>
          </a:prstGeom>
          <a:noFill/>
          <a:ln/>
        </p:spPr>
        <p:txBody>
          <a:bodyPr wrap="square" lIns="0" tIns="0" rIns="0" bIns="0" rtlCol="0" anchor="ctr"/>
          <a:lstStyle/>
          <a:p>
            <a:pPr algn="l" indent="0" marL="0">
              <a:buNone/>
            </a:pPr>
            <a:r>
              <a:rPr lang="en-US" sz="1500" dirty="0">
                <a:solidFill>
                  <a:srgbClr val="E8EEF7"/>
                </a:solidFill>
                <a:latin typeface="Calibri" pitchFamily="34" charset="0"/>
                <a:ea typeface="Calibri" pitchFamily="34" charset="-122"/>
                <a:cs typeface="Calibri" pitchFamily="34" charset="-120"/>
              </a:rPr>
              <a:t>adoption margin: +0.02</a:t>
            </a:r>
            <a:endParaRPr lang="en-US" sz="1500" dirty="0"/>
          </a:p>
        </p:txBody>
      </p:sp>
      <p:sp>
        <p:nvSpPr>
          <p:cNvPr id="12" name="Shape 8"/>
          <p:cNvSpPr/>
          <p:nvPr/>
        </p:nvSpPr>
        <p:spPr>
          <a:xfrm>
            <a:off x="699516" y="2971800"/>
            <a:ext cx="5120640" cy="868680"/>
          </a:xfrm>
          <a:prstGeom prst="roundRect">
            <a:avLst>
              <a:gd name="adj" fmla="val 9474"/>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3" name="Shape 9"/>
          <p:cNvSpPr/>
          <p:nvPr/>
        </p:nvSpPr>
        <p:spPr>
          <a:xfrm>
            <a:off x="864108" y="3140964"/>
            <a:ext cx="530352" cy="530352"/>
          </a:xfrm>
          <a:prstGeom prst="ellipse">
            <a:avLst/>
          </a:prstGeom>
          <a:solidFill>
            <a:srgbClr val="182B47"/>
          </a:solidFill>
          <a:ln w="15875">
            <a:solidFill>
              <a:srgbClr val="FF8C42"/>
            </a:solidFill>
            <a:prstDash val="solid"/>
          </a:ln>
          <a:effectLst>
            <a:outerShdw sx="100000" sy="100000" kx="0" ky="0" algn="bl" rotWithShape="0" blurRad="88900" dist="25400" dir="5400000">
              <a:srgbClr val="000000">
                <a:alpha val="35000"/>
              </a:srgbClr>
            </a:outerShdw>
          </a:effectLst>
        </p:spPr>
      </p:sp>
      <p:pic>
        <p:nvPicPr>
          <p:cNvPr id="14" name="Image 2" descr="C:\Users\MShaheen\Documents\parkinsons_voice_project\report\defence\figs\ic_warn.png">    </p:cNvPr>
          <p:cNvPicPr>
            <a:picLocks noChangeAspect="1"/>
          </p:cNvPicPr>
          <p:nvPr/>
        </p:nvPicPr>
        <p:blipFill>
          <a:blip r:embed="rId4"/>
          <a:stretch>
            <a:fillRect/>
          </a:stretch>
        </p:blipFill>
        <p:spPr>
          <a:xfrm>
            <a:off x="1002000" y="3278856"/>
            <a:ext cx="254569" cy="254569"/>
          </a:xfrm>
          <a:prstGeom prst="rect">
            <a:avLst/>
          </a:prstGeom>
        </p:spPr>
      </p:pic>
      <p:sp>
        <p:nvSpPr>
          <p:cNvPr id="15" name="Text 10"/>
          <p:cNvSpPr txBox="1"/>
          <p:nvPr/>
        </p:nvSpPr>
        <p:spPr>
          <a:xfrm>
            <a:off x="1568196" y="2971800"/>
            <a:ext cx="4069080" cy="868680"/>
          </a:xfrm>
          <a:prstGeom prst="rect">
            <a:avLst/>
          </a:prstGeom>
          <a:noFill/>
          <a:ln/>
        </p:spPr>
        <p:txBody>
          <a:bodyPr wrap="square" lIns="0" tIns="0" rIns="0" bIns="0" rtlCol="0" anchor="ctr"/>
          <a:lstStyle/>
          <a:p>
            <a:pPr algn="l" indent="0" marL="0">
              <a:buNone/>
            </a:pPr>
            <a:r>
              <a:rPr lang="en-US" sz="1500" dirty="0">
                <a:solidFill>
                  <a:srgbClr val="E8EEF7"/>
                </a:solidFill>
                <a:latin typeface="Calibri" pitchFamily="34" charset="0"/>
                <a:ea typeface="Calibri" pitchFamily="34" charset="-122"/>
                <a:cs typeface="Calibri" pitchFamily="34" charset="-120"/>
              </a:rPr>
              <a:t>any result ≥ 0.95: stop, investigate</a:t>
            </a:r>
            <a:endParaRPr lang="en-US" sz="1500" dirty="0"/>
          </a:p>
        </p:txBody>
      </p:sp>
      <p:sp>
        <p:nvSpPr>
          <p:cNvPr id="16" name="Shape 11"/>
          <p:cNvSpPr/>
          <p:nvPr/>
        </p:nvSpPr>
        <p:spPr>
          <a:xfrm>
            <a:off x="6368796" y="2971800"/>
            <a:ext cx="5120640" cy="868680"/>
          </a:xfrm>
          <a:prstGeom prst="roundRect">
            <a:avLst>
              <a:gd name="adj" fmla="val 9474"/>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7" name="Shape 12"/>
          <p:cNvSpPr/>
          <p:nvPr/>
        </p:nvSpPr>
        <p:spPr>
          <a:xfrm>
            <a:off x="6533388" y="3140964"/>
            <a:ext cx="530352" cy="530352"/>
          </a:xfrm>
          <a:prstGeom prst="ellipse">
            <a:avLst/>
          </a:prstGeom>
          <a:solidFill>
            <a:srgbClr val="182B47"/>
          </a:solidFill>
          <a:ln w="15875">
            <a:solidFill>
              <a:srgbClr val="5AB4F0"/>
            </a:solidFill>
            <a:prstDash val="solid"/>
          </a:ln>
          <a:effectLst>
            <a:outerShdw sx="100000" sy="100000" kx="0" ky="0" algn="bl" rotWithShape="0" blurRad="88900" dist="25400" dir="5400000">
              <a:srgbClr val="000000">
                <a:alpha val="35000"/>
              </a:srgbClr>
            </a:outerShdw>
          </a:effectLst>
        </p:spPr>
      </p:sp>
      <p:pic>
        <p:nvPicPr>
          <p:cNvPr id="18" name="Image 3" descr="C:\Users\MShaheen\Documents\parkinsons_voice_project\report\defence\figs\ic_check.png">    </p:cNvPr>
          <p:cNvPicPr>
            <a:picLocks noChangeAspect="1"/>
          </p:cNvPicPr>
          <p:nvPr/>
        </p:nvPicPr>
        <p:blipFill>
          <a:blip r:embed="rId5"/>
          <a:stretch>
            <a:fillRect/>
          </a:stretch>
        </p:blipFill>
        <p:spPr>
          <a:xfrm>
            <a:off x="6671280" y="3278856"/>
            <a:ext cx="254569" cy="254569"/>
          </a:xfrm>
          <a:prstGeom prst="rect">
            <a:avLst/>
          </a:prstGeom>
        </p:spPr>
      </p:pic>
      <p:sp>
        <p:nvSpPr>
          <p:cNvPr id="19" name="Text 13"/>
          <p:cNvSpPr txBox="1"/>
          <p:nvPr/>
        </p:nvSpPr>
        <p:spPr>
          <a:xfrm>
            <a:off x="7237476" y="2971800"/>
            <a:ext cx="4069080" cy="868680"/>
          </a:xfrm>
          <a:prstGeom prst="rect">
            <a:avLst/>
          </a:prstGeom>
          <a:noFill/>
          <a:ln/>
        </p:spPr>
        <p:txBody>
          <a:bodyPr wrap="square" lIns="0" tIns="0" rIns="0" bIns="0" rtlCol="0" anchor="ctr"/>
          <a:lstStyle/>
          <a:p>
            <a:pPr algn="l" indent="0" marL="0">
              <a:buNone/>
            </a:pPr>
            <a:r>
              <a:rPr lang="en-US" sz="1500" dirty="0">
                <a:solidFill>
                  <a:srgbClr val="E8EEF7"/>
                </a:solidFill>
                <a:latin typeface="Calibri" pitchFamily="34" charset="0"/>
                <a:ea typeface="Calibri" pitchFamily="34" charset="-122"/>
                <a:cs typeface="Calibri" pitchFamily="34" charset="-120"/>
              </a:rPr>
              <a:t>all 19 configurations reported</a:t>
            </a:r>
            <a:endParaRPr lang="en-US" sz="1500" dirty="0"/>
          </a:p>
        </p:txBody>
      </p:sp>
      <p:sp>
        <p:nvSpPr>
          <p:cNvPr id="20" name="Shape 14"/>
          <p:cNvSpPr/>
          <p:nvPr/>
        </p:nvSpPr>
        <p:spPr>
          <a:xfrm>
            <a:off x="2011680" y="4206240"/>
            <a:ext cx="8165592" cy="1051560"/>
          </a:xfrm>
          <a:prstGeom prst="roundRect">
            <a:avLst>
              <a:gd name="adj" fmla="val 7826"/>
            </a:avLst>
          </a:prstGeom>
          <a:solidFill>
            <a:srgbClr val="182B47"/>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21" name="Text 15"/>
          <p:cNvSpPr txBox="1"/>
          <p:nvPr/>
        </p:nvSpPr>
        <p:spPr>
          <a:xfrm>
            <a:off x="2011680" y="4206240"/>
            <a:ext cx="8165592" cy="1051560"/>
          </a:xfrm>
          <a:prstGeom prst="rect">
            <a:avLst/>
          </a:prstGeom>
          <a:noFill/>
          <a:ln/>
        </p:spPr>
        <p:txBody>
          <a:bodyPr wrap="square" lIns="1905" tIns="1905" rIns="1905" bIns="1905" rtlCol="0" anchor="ctr"/>
          <a:lstStyle/>
          <a:p>
            <a:pPr algn="ctr" indent="0" marL="0">
              <a:buNone/>
            </a:pPr>
            <a:r>
              <a:rPr lang="en-US" sz="2000" dirty="0">
                <a:solidFill>
                  <a:srgbClr val="E8EEF7"/>
                </a:solidFill>
                <a:latin typeface="Cambria" pitchFamily="34" charset="0"/>
                <a:ea typeface="Cambria" pitchFamily="34" charset="-122"/>
                <a:cs typeface="Cambria" pitchFamily="34" charset="-120"/>
              </a:rPr>
              <a:t>Best score </a:t>
            </a:r>
            <a:pPr algn="ctr" indent="0" marL="0">
              <a:buNone/>
            </a:pPr>
            <a:r>
              <a:rPr lang="en-US" sz="2000" b="1" dirty="0">
                <a:solidFill>
                  <a:srgbClr val="FF8C42"/>
                </a:solidFill>
                <a:latin typeface="Cambria" pitchFamily="34" charset="0"/>
                <a:ea typeface="Cambria" pitchFamily="34" charset="-122"/>
                <a:cs typeface="Cambria" pitchFamily="34" charset="-120"/>
              </a:rPr>
              <a:t>0.840</a:t>
            </a:r>
            <a:pPr algn="ctr" indent="0" marL="0">
              <a:buNone/>
            </a:pPr>
            <a:r>
              <a:rPr lang="en-US" sz="2000" dirty="0">
                <a:solidFill>
                  <a:srgbClr val="E8EEF7"/>
                </a:solidFill>
                <a:latin typeface="Cambria" pitchFamily="34" charset="0"/>
                <a:ea typeface="Cambria" pitchFamily="34" charset="-122"/>
                <a:cs typeface="Cambria" pitchFamily="34" charset="-120"/>
              </a:rPr>
              <a:t> — </a:t>
            </a:r>
            <a:pPr algn="ctr" indent="0" marL="0">
              <a:buNone/>
            </a:pPr>
            <a:r>
              <a:rPr lang="en-US" sz="2000" b="1" dirty="0">
                <a:solidFill>
                  <a:srgbClr val="E8EEF7"/>
                </a:solidFill>
                <a:latin typeface="Cambria" pitchFamily="34" charset="0"/>
                <a:ea typeface="Cambria" pitchFamily="34" charset="-122"/>
                <a:cs typeface="Cambria" pitchFamily="34" charset="-120"/>
              </a:rPr>
              <a:t>rejected.</a:t>
            </a:r>
            <a:pPr algn="ctr" indent="0" marL="0">
              <a:buNone/>
            </a:pPr>
            <a:r>
              <a:rPr lang="en-US" sz="2000" dirty="0">
                <a:solidFill>
                  <a:srgbClr val="9DB0C7"/>
                </a:solidFill>
                <a:latin typeface="Cambria" pitchFamily="34" charset="0"/>
                <a:ea typeface="Cambria" pitchFamily="34" charset="-122"/>
                <a:cs typeface="Cambria" pitchFamily="34" charset="-120"/>
              </a:rPr>
              <a:t>  It won by 0.018: less than the noise.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Nineteen configurations — the winner chosen by rule</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12</a:t>
            </a:r>
            <a:endParaRPr lang="en-US" sz="1000" dirty="0"/>
          </a:p>
        </p:txBody>
      </p:sp>
      <p:sp>
        <p:nvSpPr>
          <p:cNvPr id="4" name="Shape 2"/>
          <p:cNvSpPr/>
          <p:nvPr/>
        </p:nvSpPr>
        <p:spPr>
          <a:xfrm>
            <a:off x="8401377" y="1618488"/>
            <a:ext cx="933994" cy="4407408"/>
          </a:xfrm>
          <a:prstGeom prst="rect">
            <a:avLst/>
          </a:prstGeom>
          <a:solidFill>
            <a:srgbClr val="5AB4F0">
              <a:alpha val="12000"/>
            </a:srgbClr>
          </a:solidFill>
          <a:ln/>
        </p:spPr>
      </p:sp>
      <p:sp>
        <p:nvSpPr>
          <p:cNvPr id="5" name="Text 3"/>
          <p:cNvSpPr txBox="1"/>
          <p:nvPr/>
        </p:nvSpPr>
        <p:spPr>
          <a:xfrm>
            <a:off x="7898457" y="1307592"/>
            <a:ext cx="1939834" cy="27432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adoption margin +0.02</a:t>
            </a:r>
            <a:endParaRPr lang="en-US" sz="1050" dirty="0"/>
          </a:p>
        </p:txBody>
      </p:sp>
      <p:sp>
        <p:nvSpPr>
          <p:cNvPr id="6" name="Text 4"/>
          <p:cNvSpPr txBox="1"/>
          <p:nvPr/>
        </p:nvSpPr>
        <p:spPr>
          <a:xfrm>
            <a:off x="548640" y="1856232"/>
            <a:ext cx="3886200" cy="365760"/>
          </a:xfrm>
          <a:prstGeom prst="rect">
            <a:avLst/>
          </a:prstGeom>
          <a:noFill/>
          <a:ln/>
        </p:spPr>
        <p:txBody>
          <a:bodyPr wrap="square" lIns="0" tIns="0" rIns="0" bIns="0" rtlCol="0" anchor="ctr"/>
          <a:lstStyle/>
          <a:p>
            <a:pPr algn="r" indent="0" marL="0">
              <a:buNone/>
            </a:pPr>
            <a:r>
              <a:rPr lang="en-US" sz="1250" dirty="0">
                <a:solidFill>
                  <a:srgbClr val="9DB0C7"/>
                </a:solidFill>
                <a:latin typeface="Calibri" pitchFamily="34" charset="0"/>
                <a:ea typeface="Calibri" pitchFamily="34" charset="-122"/>
                <a:cs typeface="Calibri" pitchFamily="34" charset="-120"/>
              </a:rPr>
              <a:t>baseline phase — SVM (V0)</a:t>
            </a:r>
            <a:endParaRPr lang="en-US" sz="1250" dirty="0"/>
          </a:p>
        </p:txBody>
      </p:sp>
      <p:sp>
        <p:nvSpPr>
          <p:cNvPr id="7" name="Shape 5"/>
          <p:cNvSpPr/>
          <p:nvPr/>
        </p:nvSpPr>
        <p:spPr>
          <a:xfrm>
            <a:off x="4572000" y="2039112"/>
            <a:ext cx="1867989" cy="0"/>
          </a:xfrm>
          <a:prstGeom prst="line">
            <a:avLst/>
          </a:prstGeom>
          <a:noFill/>
          <a:ln w="17780">
            <a:solidFill>
              <a:srgbClr val="9DB0C7"/>
            </a:solidFill>
            <a:prstDash val="solid"/>
          </a:ln>
        </p:spPr>
      </p:sp>
      <p:sp>
        <p:nvSpPr>
          <p:cNvPr id="8" name="Shape 6"/>
          <p:cNvSpPr/>
          <p:nvPr/>
        </p:nvSpPr>
        <p:spPr>
          <a:xfrm>
            <a:off x="6357693" y="1956816"/>
            <a:ext cx="164592" cy="164592"/>
          </a:xfrm>
          <a:prstGeom prst="ellipse">
            <a:avLst/>
          </a:prstGeom>
          <a:solidFill>
            <a:srgbClr val="9DB0C7"/>
          </a:solidFill>
          <a:ln/>
        </p:spPr>
      </p:sp>
      <p:sp>
        <p:nvSpPr>
          <p:cNvPr id="9" name="Text 7"/>
          <p:cNvSpPr txBox="1"/>
          <p:nvPr/>
        </p:nvSpPr>
        <p:spPr>
          <a:xfrm>
            <a:off x="6568005" y="1847088"/>
            <a:ext cx="777240" cy="384048"/>
          </a:xfrm>
          <a:prstGeom prst="rect">
            <a:avLst/>
          </a:prstGeom>
          <a:noFill/>
          <a:ln/>
        </p:spPr>
        <p:txBody>
          <a:bodyPr wrap="square" lIns="0" tIns="0" rIns="0" bIns="0" rtlCol="0" anchor="ctr"/>
          <a:lstStyle/>
          <a:p>
            <a:pPr indent="0" marL="0">
              <a:buNone/>
            </a:pPr>
            <a:r>
              <a:rPr lang="en-US" sz="1300" b="1" dirty="0">
                <a:solidFill>
                  <a:srgbClr val="9DB0C7"/>
                </a:solidFill>
                <a:latin typeface="Cambria" pitchFamily="34" charset="0"/>
                <a:ea typeface="Cambria" pitchFamily="34" charset="-122"/>
                <a:cs typeface="Cambria" pitchFamily="34" charset="-120"/>
              </a:rPr>
              <a:t>0.780</a:t>
            </a:r>
            <a:endParaRPr lang="en-US" sz="1300" dirty="0"/>
          </a:p>
        </p:txBody>
      </p:sp>
      <p:sp>
        <p:nvSpPr>
          <p:cNvPr id="10" name="Text 8"/>
          <p:cNvSpPr txBox="1"/>
          <p:nvPr/>
        </p:nvSpPr>
        <p:spPr>
          <a:xfrm>
            <a:off x="548640" y="2514600"/>
            <a:ext cx="3886200" cy="365760"/>
          </a:xfrm>
          <a:prstGeom prst="rect">
            <a:avLst/>
          </a:prstGeom>
          <a:noFill/>
          <a:ln/>
        </p:spPr>
        <p:txBody>
          <a:bodyPr wrap="square" lIns="0" tIns="0" rIns="0" bIns="0" rtlCol="0" anchor="ctr"/>
          <a:lstStyle/>
          <a:p>
            <a:pPr algn="r" indent="0" marL="0">
              <a:buNone/>
            </a:pPr>
            <a:r>
              <a:rPr lang="en-US" sz="1250" dirty="0">
                <a:solidFill>
                  <a:srgbClr val="9DB0C7"/>
                </a:solidFill>
                <a:latin typeface="Calibri" pitchFamily="34" charset="0"/>
                <a:ea typeface="Calibri" pitchFamily="34" charset="-122"/>
                <a:cs typeface="Calibri" pitchFamily="34" charset="-120"/>
              </a:rPr>
              <a:t>chunk features — SVM (V1)</a:t>
            </a:r>
            <a:endParaRPr lang="en-US" sz="1250" dirty="0"/>
          </a:p>
        </p:txBody>
      </p:sp>
      <p:sp>
        <p:nvSpPr>
          <p:cNvPr id="11" name="Shape 9"/>
          <p:cNvSpPr/>
          <p:nvPr/>
        </p:nvSpPr>
        <p:spPr>
          <a:xfrm>
            <a:off x="4572000" y="2697480"/>
            <a:ext cx="3549178" cy="0"/>
          </a:xfrm>
          <a:prstGeom prst="line">
            <a:avLst/>
          </a:prstGeom>
          <a:noFill/>
          <a:ln w="17780">
            <a:solidFill>
              <a:srgbClr val="9DB0C7"/>
            </a:solidFill>
            <a:prstDash val="solid"/>
          </a:ln>
        </p:spPr>
      </p:sp>
      <p:sp>
        <p:nvSpPr>
          <p:cNvPr id="12" name="Shape 10"/>
          <p:cNvSpPr/>
          <p:nvPr/>
        </p:nvSpPr>
        <p:spPr>
          <a:xfrm>
            <a:off x="8038882" y="2615184"/>
            <a:ext cx="164592" cy="164592"/>
          </a:xfrm>
          <a:prstGeom prst="ellipse">
            <a:avLst/>
          </a:prstGeom>
          <a:solidFill>
            <a:srgbClr val="9DB0C7"/>
          </a:solidFill>
          <a:ln/>
        </p:spPr>
      </p:sp>
      <p:sp>
        <p:nvSpPr>
          <p:cNvPr id="13" name="Text 11"/>
          <p:cNvSpPr txBox="1"/>
          <p:nvPr/>
        </p:nvSpPr>
        <p:spPr>
          <a:xfrm>
            <a:off x="8249194" y="2505456"/>
            <a:ext cx="777240" cy="384048"/>
          </a:xfrm>
          <a:prstGeom prst="rect">
            <a:avLst/>
          </a:prstGeom>
          <a:noFill/>
          <a:ln/>
        </p:spPr>
        <p:txBody>
          <a:bodyPr wrap="square" lIns="0" tIns="0" rIns="0" bIns="0" rtlCol="0" anchor="ctr"/>
          <a:lstStyle/>
          <a:p>
            <a:pPr indent="0" marL="0">
              <a:buNone/>
            </a:pPr>
            <a:r>
              <a:rPr lang="en-US" sz="1300" b="1" dirty="0">
                <a:solidFill>
                  <a:srgbClr val="9DB0C7"/>
                </a:solidFill>
                <a:latin typeface="Cambria" pitchFamily="34" charset="0"/>
                <a:ea typeface="Cambria" pitchFamily="34" charset="-122"/>
                <a:cs typeface="Cambria" pitchFamily="34" charset="-120"/>
              </a:rPr>
              <a:t>0.816</a:t>
            </a:r>
            <a:endParaRPr lang="en-US" sz="1300" dirty="0"/>
          </a:p>
        </p:txBody>
      </p:sp>
      <p:sp>
        <p:nvSpPr>
          <p:cNvPr id="14" name="Text 12"/>
          <p:cNvSpPr txBox="1"/>
          <p:nvPr/>
        </p:nvSpPr>
        <p:spPr>
          <a:xfrm>
            <a:off x="548640" y="3172968"/>
            <a:ext cx="3886200" cy="365760"/>
          </a:xfrm>
          <a:prstGeom prst="rect">
            <a:avLst/>
          </a:prstGeom>
          <a:noFill/>
          <a:ln/>
        </p:spPr>
        <p:txBody>
          <a:bodyPr wrap="square" lIns="0" tIns="0" rIns="0" bIns="0" rtlCol="0" anchor="ctr"/>
          <a:lstStyle/>
          <a:p>
            <a:pPr algn="r" indent="0" marL="0">
              <a:buNone/>
            </a:pPr>
            <a:r>
              <a:rPr lang="en-US" sz="1250" dirty="0">
                <a:solidFill>
                  <a:srgbClr val="9DB0C7"/>
                </a:solidFill>
                <a:latin typeface="Calibri" pitchFamily="34" charset="0"/>
                <a:ea typeface="Calibri" pitchFamily="34" charset="-122"/>
                <a:cs typeface="Calibri" pitchFamily="34" charset="-120"/>
              </a:rPr>
              <a:t>chunk features — tuned RF (V4)</a:t>
            </a:r>
            <a:endParaRPr lang="en-US" sz="1250" dirty="0"/>
          </a:p>
        </p:txBody>
      </p:sp>
      <p:sp>
        <p:nvSpPr>
          <p:cNvPr id="15" name="Shape 13"/>
          <p:cNvSpPr/>
          <p:nvPr/>
        </p:nvSpPr>
        <p:spPr>
          <a:xfrm>
            <a:off x="4572000" y="3355848"/>
            <a:ext cx="3455779" cy="0"/>
          </a:xfrm>
          <a:prstGeom prst="line">
            <a:avLst/>
          </a:prstGeom>
          <a:noFill/>
          <a:ln w="17780">
            <a:solidFill>
              <a:srgbClr val="9DB0C7"/>
            </a:solidFill>
            <a:prstDash val="solid"/>
          </a:ln>
        </p:spPr>
      </p:sp>
      <p:sp>
        <p:nvSpPr>
          <p:cNvPr id="16" name="Shape 14"/>
          <p:cNvSpPr/>
          <p:nvPr/>
        </p:nvSpPr>
        <p:spPr>
          <a:xfrm>
            <a:off x="7945483" y="3273552"/>
            <a:ext cx="164592" cy="164592"/>
          </a:xfrm>
          <a:prstGeom prst="ellipse">
            <a:avLst/>
          </a:prstGeom>
          <a:solidFill>
            <a:srgbClr val="9DB0C7"/>
          </a:solidFill>
          <a:ln/>
        </p:spPr>
      </p:sp>
      <p:sp>
        <p:nvSpPr>
          <p:cNvPr id="17" name="Text 15"/>
          <p:cNvSpPr txBox="1"/>
          <p:nvPr/>
        </p:nvSpPr>
        <p:spPr>
          <a:xfrm>
            <a:off x="8155795" y="3163824"/>
            <a:ext cx="777240" cy="384048"/>
          </a:xfrm>
          <a:prstGeom prst="rect">
            <a:avLst/>
          </a:prstGeom>
          <a:noFill/>
          <a:ln/>
        </p:spPr>
        <p:txBody>
          <a:bodyPr wrap="square" lIns="0" tIns="0" rIns="0" bIns="0" rtlCol="0" anchor="ctr"/>
          <a:lstStyle/>
          <a:p>
            <a:pPr indent="0" marL="0">
              <a:buNone/>
            </a:pPr>
            <a:r>
              <a:rPr lang="en-US" sz="1300" b="1" dirty="0">
                <a:solidFill>
                  <a:srgbClr val="9DB0C7"/>
                </a:solidFill>
                <a:latin typeface="Cambria" pitchFamily="34" charset="0"/>
                <a:ea typeface="Cambria" pitchFamily="34" charset="-122"/>
                <a:cs typeface="Cambria" pitchFamily="34" charset="-120"/>
              </a:rPr>
              <a:t>0.814</a:t>
            </a:r>
            <a:endParaRPr lang="en-US" sz="1300" dirty="0"/>
          </a:p>
        </p:txBody>
      </p:sp>
      <p:sp>
        <p:nvSpPr>
          <p:cNvPr id="18" name="Text 16"/>
          <p:cNvSpPr txBox="1"/>
          <p:nvPr/>
        </p:nvSpPr>
        <p:spPr>
          <a:xfrm>
            <a:off x="548640" y="3831336"/>
            <a:ext cx="3886200" cy="365760"/>
          </a:xfrm>
          <a:prstGeom prst="rect">
            <a:avLst/>
          </a:prstGeom>
          <a:noFill/>
          <a:ln/>
        </p:spPr>
        <p:txBody>
          <a:bodyPr wrap="square" lIns="0" tIns="0" rIns="0" bIns="0" rtlCol="0" anchor="ctr"/>
          <a:lstStyle/>
          <a:p>
            <a:pPr algn="r" indent="0" marL="0">
              <a:buNone/>
            </a:pPr>
            <a:r>
              <a:rPr lang="en-US" sz="1250" dirty="0">
                <a:solidFill>
                  <a:srgbClr val="9DB0C7"/>
                </a:solidFill>
                <a:latin typeface="Calibri" pitchFamily="34" charset="0"/>
                <a:ea typeface="Calibri" pitchFamily="34" charset="-122"/>
                <a:cs typeface="Calibri" pitchFamily="34" charset="-120"/>
              </a:rPr>
              <a:t>mean+std features — SVM (V6)</a:t>
            </a:r>
            <a:endParaRPr lang="en-US" sz="1250" dirty="0"/>
          </a:p>
        </p:txBody>
      </p:sp>
      <p:sp>
        <p:nvSpPr>
          <p:cNvPr id="19" name="Shape 17"/>
          <p:cNvSpPr/>
          <p:nvPr/>
        </p:nvSpPr>
        <p:spPr>
          <a:xfrm>
            <a:off x="4572000" y="4014216"/>
            <a:ext cx="3922776" cy="0"/>
          </a:xfrm>
          <a:prstGeom prst="line">
            <a:avLst/>
          </a:prstGeom>
          <a:noFill/>
          <a:ln w="17780">
            <a:solidFill>
              <a:srgbClr val="9DB0C7"/>
            </a:solidFill>
            <a:prstDash val="solid"/>
          </a:ln>
        </p:spPr>
      </p:sp>
      <p:sp>
        <p:nvSpPr>
          <p:cNvPr id="20" name="Shape 18"/>
          <p:cNvSpPr/>
          <p:nvPr/>
        </p:nvSpPr>
        <p:spPr>
          <a:xfrm>
            <a:off x="8412480" y="3931920"/>
            <a:ext cx="164592" cy="164592"/>
          </a:xfrm>
          <a:prstGeom prst="ellipse">
            <a:avLst/>
          </a:prstGeom>
          <a:solidFill>
            <a:srgbClr val="9DB0C7"/>
          </a:solidFill>
          <a:ln/>
        </p:spPr>
      </p:sp>
      <p:sp>
        <p:nvSpPr>
          <p:cNvPr id="21" name="Text 19"/>
          <p:cNvSpPr txBox="1"/>
          <p:nvPr/>
        </p:nvSpPr>
        <p:spPr>
          <a:xfrm>
            <a:off x="8622792" y="3822192"/>
            <a:ext cx="777240" cy="384048"/>
          </a:xfrm>
          <a:prstGeom prst="rect">
            <a:avLst/>
          </a:prstGeom>
          <a:noFill/>
          <a:ln/>
        </p:spPr>
        <p:txBody>
          <a:bodyPr wrap="square" lIns="0" tIns="0" rIns="0" bIns="0" rtlCol="0" anchor="ctr"/>
          <a:lstStyle/>
          <a:p>
            <a:pPr indent="0" marL="0">
              <a:buNone/>
            </a:pPr>
            <a:r>
              <a:rPr lang="en-US" sz="1300" b="1" dirty="0">
                <a:solidFill>
                  <a:srgbClr val="9DB0C7"/>
                </a:solidFill>
                <a:latin typeface="Cambria" pitchFamily="34" charset="0"/>
                <a:ea typeface="Cambria" pitchFamily="34" charset="-122"/>
                <a:cs typeface="Cambria" pitchFamily="34" charset="-120"/>
              </a:rPr>
              <a:t>0.824</a:t>
            </a:r>
            <a:endParaRPr lang="en-US" sz="1300" dirty="0"/>
          </a:p>
        </p:txBody>
      </p:sp>
      <p:sp>
        <p:nvSpPr>
          <p:cNvPr id="22" name="Text 20"/>
          <p:cNvSpPr txBox="1"/>
          <p:nvPr/>
        </p:nvSpPr>
        <p:spPr>
          <a:xfrm>
            <a:off x="548640" y="4489704"/>
            <a:ext cx="3886200" cy="365760"/>
          </a:xfrm>
          <a:prstGeom prst="rect">
            <a:avLst/>
          </a:prstGeom>
          <a:noFill/>
          <a:ln/>
        </p:spPr>
        <p:txBody>
          <a:bodyPr wrap="square" lIns="0" tIns="0" rIns="0" bIns="0" rtlCol="0" anchor="ctr"/>
          <a:lstStyle/>
          <a:p>
            <a:pPr algn="r" indent="0" marL="0">
              <a:buNone/>
            </a:pPr>
            <a:r>
              <a:rPr lang="en-US" sz="1250" dirty="0">
                <a:solidFill>
                  <a:srgbClr val="9DB0C7"/>
                </a:solidFill>
                <a:latin typeface="Calibri" pitchFamily="34" charset="0"/>
                <a:ea typeface="Calibri" pitchFamily="34" charset="-122"/>
                <a:cs typeface="Calibri" pitchFamily="34" charset="-120"/>
              </a:rPr>
              <a:t>tuned SVM+RF ensemble (V5)</a:t>
            </a:r>
            <a:endParaRPr lang="en-US" sz="1250" dirty="0"/>
          </a:p>
        </p:txBody>
      </p:sp>
      <p:sp>
        <p:nvSpPr>
          <p:cNvPr id="23" name="Shape 21"/>
          <p:cNvSpPr/>
          <p:nvPr/>
        </p:nvSpPr>
        <p:spPr>
          <a:xfrm>
            <a:off x="4572000" y="4672584"/>
            <a:ext cx="4669971" cy="0"/>
          </a:xfrm>
          <a:prstGeom prst="line">
            <a:avLst/>
          </a:prstGeom>
          <a:noFill/>
          <a:ln w="17780">
            <a:solidFill>
              <a:srgbClr val="FF8C42"/>
            </a:solidFill>
            <a:prstDash val="solid"/>
          </a:ln>
        </p:spPr>
      </p:sp>
      <p:sp>
        <p:nvSpPr>
          <p:cNvPr id="24" name="Shape 22"/>
          <p:cNvSpPr/>
          <p:nvPr/>
        </p:nvSpPr>
        <p:spPr>
          <a:xfrm>
            <a:off x="9159675" y="4590288"/>
            <a:ext cx="164592" cy="164592"/>
          </a:xfrm>
          <a:prstGeom prst="ellipse">
            <a:avLst/>
          </a:prstGeom>
          <a:solidFill>
            <a:srgbClr val="FF8C42"/>
          </a:solidFill>
          <a:ln/>
        </p:spPr>
      </p:sp>
      <p:sp>
        <p:nvSpPr>
          <p:cNvPr id="25" name="Text 23"/>
          <p:cNvSpPr txBox="1"/>
          <p:nvPr/>
        </p:nvSpPr>
        <p:spPr>
          <a:xfrm>
            <a:off x="9369987" y="4480560"/>
            <a:ext cx="777240" cy="384048"/>
          </a:xfrm>
          <a:prstGeom prst="rect">
            <a:avLst/>
          </a:prstGeom>
          <a:noFill/>
          <a:ln/>
        </p:spPr>
        <p:txBody>
          <a:bodyPr wrap="square" lIns="0" tIns="0" rIns="0" bIns="0" rtlCol="0" anchor="ctr"/>
          <a:lstStyle/>
          <a:p>
            <a:pPr indent="0" marL="0">
              <a:buNone/>
            </a:pPr>
            <a:r>
              <a:rPr lang="en-US" sz="1300" b="1" dirty="0">
                <a:solidFill>
                  <a:srgbClr val="FF8C42"/>
                </a:solidFill>
                <a:latin typeface="Cambria" pitchFamily="34" charset="0"/>
                <a:ea typeface="Cambria" pitchFamily="34" charset="-122"/>
                <a:cs typeface="Cambria" pitchFamily="34" charset="-120"/>
              </a:rPr>
              <a:t>0.840</a:t>
            </a:r>
            <a:endParaRPr lang="en-US" sz="1300" dirty="0"/>
          </a:p>
        </p:txBody>
      </p:sp>
      <p:sp>
        <p:nvSpPr>
          <p:cNvPr id="26" name="Text 24"/>
          <p:cNvSpPr txBox="1"/>
          <p:nvPr/>
        </p:nvSpPr>
        <p:spPr>
          <a:xfrm>
            <a:off x="10110651" y="4480560"/>
            <a:ext cx="1874520" cy="384048"/>
          </a:xfrm>
          <a:prstGeom prst="rect">
            <a:avLst/>
          </a:prstGeom>
          <a:noFill/>
          <a:ln/>
        </p:spPr>
        <p:txBody>
          <a:bodyPr wrap="square" lIns="0" tIns="0" rIns="0" bIns="0" rtlCol="0" anchor="ctr"/>
          <a:lstStyle/>
          <a:p>
            <a:pPr indent="0" marL="0">
              <a:buNone/>
            </a:pPr>
            <a:r>
              <a:rPr lang="en-US" sz="1100" i="1" dirty="0">
                <a:solidFill>
                  <a:srgbClr val="FF8C42"/>
                </a:solidFill>
                <a:latin typeface="Calibri" pitchFamily="34" charset="0"/>
                <a:ea typeface="Calibri" pitchFamily="34" charset="-122"/>
                <a:cs typeface="Calibri" pitchFamily="34" charset="-120"/>
              </a:rPr>
              <a:t>rejected (+0.018)</a:t>
            </a:r>
            <a:endParaRPr lang="en-US" sz="1100" dirty="0"/>
          </a:p>
        </p:txBody>
      </p:sp>
      <p:sp>
        <p:nvSpPr>
          <p:cNvPr id="27" name="Text 25"/>
          <p:cNvSpPr txBox="1"/>
          <p:nvPr/>
        </p:nvSpPr>
        <p:spPr>
          <a:xfrm>
            <a:off x="548640" y="5148072"/>
            <a:ext cx="3886200" cy="365760"/>
          </a:xfrm>
          <a:prstGeom prst="rect">
            <a:avLst/>
          </a:prstGeom>
          <a:noFill/>
          <a:ln/>
        </p:spPr>
        <p:txBody>
          <a:bodyPr wrap="square" lIns="0" tIns="0" rIns="0" bIns="0" rtlCol="0" anchor="ctr"/>
          <a:lstStyle/>
          <a:p>
            <a:pPr algn="r" indent="0" marL="0">
              <a:buNone/>
            </a:pPr>
            <a:r>
              <a:rPr lang="en-US" sz="1350" b="1" dirty="0">
                <a:solidFill>
                  <a:srgbClr val="E8EEF7"/>
                </a:solidFill>
                <a:latin typeface="Calibri" pitchFamily="34" charset="0"/>
                <a:ea typeface="Calibri" pitchFamily="34" charset="-122"/>
                <a:cs typeface="Calibri" pitchFamily="34" charset="-120"/>
              </a:rPr>
              <a:t>chunk features — Random Forest (V1)</a:t>
            </a:r>
            <a:endParaRPr lang="en-US" sz="1350" dirty="0"/>
          </a:p>
        </p:txBody>
      </p:sp>
      <p:sp>
        <p:nvSpPr>
          <p:cNvPr id="28" name="Shape 26"/>
          <p:cNvSpPr/>
          <p:nvPr/>
        </p:nvSpPr>
        <p:spPr>
          <a:xfrm>
            <a:off x="4572000" y="5330952"/>
            <a:ext cx="3829377" cy="0"/>
          </a:xfrm>
          <a:prstGeom prst="line">
            <a:avLst/>
          </a:prstGeom>
          <a:noFill/>
          <a:ln w="33020">
            <a:solidFill>
              <a:srgbClr val="5AB4F0"/>
            </a:solidFill>
            <a:prstDash val="solid"/>
          </a:ln>
        </p:spPr>
      </p:sp>
      <p:sp>
        <p:nvSpPr>
          <p:cNvPr id="29" name="Shape 27"/>
          <p:cNvSpPr/>
          <p:nvPr/>
        </p:nvSpPr>
        <p:spPr>
          <a:xfrm>
            <a:off x="8319081" y="5248656"/>
            <a:ext cx="164592" cy="164592"/>
          </a:xfrm>
          <a:prstGeom prst="ellipse">
            <a:avLst/>
          </a:prstGeom>
          <a:solidFill>
            <a:srgbClr val="5AB4F0"/>
          </a:solidFill>
          <a:ln/>
        </p:spPr>
      </p:sp>
      <p:sp>
        <p:nvSpPr>
          <p:cNvPr id="30" name="Text 28"/>
          <p:cNvSpPr txBox="1"/>
          <p:nvPr/>
        </p:nvSpPr>
        <p:spPr>
          <a:xfrm>
            <a:off x="8529393" y="5138928"/>
            <a:ext cx="777240" cy="384048"/>
          </a:xfrm>
          <a:prstGeom prst="rect">
            <a:avLst/>
          </a:prstGeom>
          <a:noFill/>
          <a:ln/>
        </p:spPr>
        <p:txBody>
          <a:bodyPr wrap="square" lIns="0" tIns="0" rIns="0" bIns="0" rtlCol="0" anchor="ctr"/>
          <a:lstStyle/>
          <a:p>
            <a:pPr indent="0" marL="0">
              <a:buNone/>
            </a:pPr>
            <a:r>
              <a:rPr lang="en-US" sz="1600" b="1" dirty="0">
                <a:solidFill>
                  <a:srgbClr val="5AB4F0"/>
                </a:solidFill>
                <a:latin typeface="Cambria" pitchFamily="34" charset="0"/>
                <a:ea typeface="Cambria" pitchFamily="34" charset="-122"/>
                <a:cs typeface="Cambria" pitchFamily="34" charset="-120"/>
              </a:rPr>
              <a:t>0.822</a:t>
            </a:r>
            <a:endParaRPr lang="en-US" sz="1600" dirty="0"/>
          </a:p>
        </p:txBody>
      </p:sp>
      <p:sp>
        <p:nvSpPr>
          <p:cNvPr id="31" name="Text 29"/>
          <p:cNvSpPr txBox="1"/>
          <p:nvPr/>
        </p:nvSpPr>
        <p:spPr>
          <a:xfrm>
            <a:off x="9270057" y="5138928"/>
            <a:ext cx="1874520" cy="384048"/>
          </a:xfrm>
          <a:prstGeom prst="rect">
            <a:avLst/>
          </a:prstGeom>
          <a:noFill/>
          <a:ln/>
        </p:spPr>
        <p:txBody>
          <a:bodyPr wrap="square" lIns="0" tIns="0" rIns="0" bIns="0" rtlCol="0" anchor="ctr"/>
          <a:lstStyle/>
          <a:p>
            <a:pPr indent="0" marL="0">
              <a:buNone/>
            </a:pPr>
            <a:r>
              <a:rPr lang="en-US" sz="1100" i="1" dirty="0">
                <a:solidFill>
                  <a:srgbClr val="5AB4F0"/>
                </a:solidFill>
                <a:latin typeface="Calibri" pitchFamily="34" charset="0"/>
                <a:ea typeface="Calibri" pitchFamily="34" charset="-122"/>
                <a:cs typeface="Calibri" pitchFamily="34" charset="-120"/>
              </a:rPr>
              <a:t>selected</a:t>
            </a:r>
            <a:endParaRPr lang="en-US" sz="1100" dirty="0"/>
          </a:p>
        </p:txBody>
      </p:sp>
      <p:sp>
        <p:nvSpPr>
          <p:cNvPr id="32" name="Shape 30"/>
          <p:cNvSpPr/>
          <p:nvPr/>
        </p:nvSpPr>
        <p:spPr>
          <a:xfrm>
            <a:off x="5038997" y="5971032"/>
            <a:ext cx="914" cy="109728"/>
          </a:xfrm>
          <a:prstGeom prst="line">
            <a:avLst/>
          </a:prstGeom>
          <a:noFill/>
          <a:ln w="12700">
            <a:solidFill>
              <a:srgbClr val="9DB0C7"/>
            </a:solidFill>
            <a:prstDash val="solid"/>
          </a:ln>
        </p:spPr>
      </p:sp>
      <p:sp>
        <p:nvSpPr>
          <p:cNvPr id="33" name="Text 31"/>
          <p:cNvSpPr txBox="1"/>
          <p:nvPr/>
        </p:nvSpPr>
        <p:spPr>
          <a:xfrm>
            <a:off x="4673237" y="6099048"/>
            <a:ext cx="731520" cy="274320"/>
          </a:xfrm>
          <a:prstGeom prst="rect">
            <a:avLst/>
          </a:prstGeom>
          <a:noFill/>
          <a:ln/>
        </p:spPr>
        <p:txBody>
          <a:bodyPr wrap="square" lIns="0" tIns="0" rIns="0" bIns="0" rtlCol="0" anchor="ctr"/>
          <a:lstStyle/>
          <a:p>
            <a:pPr algn="ctr" indent="0" marL="0">
              <a:buNone/>
            </a:pPr>
            <a:r>
              <a:rPr lang="en-US" sz="1100" dirty="0">
                <a:solidFill>
                  <a:srgbClr val="9DB0C7"/>
                </a:solidFill>
                <a:latin typeface="Calibri" pitchFamily="34" charset="0"/>
                <a:ea typeface="Calibri" pitchFamily="34" charset="-122"/>
                <a:cs typeface="Calibri" pitchFamily="34" charset="-120"/>
              </a:rPr>
              <a:t>0.75</a:t>
            </a:r>
            <a:endParaRPr lang="en-US" sz="1100" dirty="0"/>
          </a:p>
        </p:txBody>
      </p:sp>
      <p:sp>
        <p:nvSpPr>
          <p:cNvPr id="34" name="Shape 32"/>
          <p:cNvSpPr/>
          <p:nvPr/>
        </p:nvSpPr>
        <p:spPr>
          <a:xfrm>
            <a:off x="7373983" y="5971032"/>
            <a:ext cx="914" cy="109728"/>
          </a:xfrm>
          <a:prstGeom prst="line">
            <a:avLst/>
          </a:prstGeom>
          <a:noFill/>
          <a:ln w="12700">
            <a:solidFill>
              <a:srgbClr val="9DB0C7"/>
            </a:solidFill>
            <a:prstDash val="solid"/>
          </a:ln>
        </p:spPr>
      </p:sp>
      <p:sp>
        <p:nvSpPr>
          <p:cNvPr id="35" name="Text 33"/>
          <p:cNvSpPr txBox="1"/>
          <p:nvPr/>
        </p:nvSpPr>
        <p:spPr>
          <a:xfrm>
            <a:off x="7008223" y="6099048"/>
            <a:ext cx="731520" cy="274320"/>
          </a:xfrm>
          <a:prstGeom prst="rect">
            <a:avLst/>
          </a:prstGeom>
          <a:noFill/>
          <a:ln/>
        </p:spPr>
        <p:txBody>
          <a:bodyPr wrap="square" lIns="0" tIns="0" rIns="0" bIns="0" rtlCol="0" anchor="ctr"/>
          <a:lstStyle/>
          <a:p>
            <a:pPr algn="ctr" indent="0" marL="0">
              <a:buNone/>
            </a:pPr>
            <a:r>
              <a:rPr lang="en-US" sz="1100" dirty="0">
                <a:solidFill>
                  <a:srgbClr val="9DB0C7"/>
                </a:solidFill>
                <a:latin typeface="Calibri" pitchFamily="34" charset="0"/>
                <a:ea typeface="Calibri" pitchFamily="34" charset="-122"/>
                <a:cs typeface="Calibri" pitchFamily="34" charset="-120"/>
              </a:rPr>
              <a:t>0.80</a:t>
            </a:r>
            <a:endParaRPr lang="en-US" sz="1100" dirty="0"/>
          </a:p>
        </p:txBody>
      </p:sp>
      <p:sp>
        <p:nvSpPr>
          <p:cNvPr id="36" name="Shape 34"/>
          <p:cNvSpPr/>
          <p:nvPr/>
        </p:nvSpPr>
        <p:spPr>
          <a:xfrm>
            <a:off x="9708969" y="5971032"/>
            <a:ext cx="914" cy="109728"/>
          </a:xfrm>
          <a:prstGeom prst="line">
            <a:avLst/>
          </a:prstGeom>
          <a:noFill/>
          <a:ln w="12700">
            <a:solidFill>
              <a:srgbClr val="9DB0C7"/>
            </a:solidFill>
            <a:prstDash val="solid"/>
          </a:ln>
        </p:spPr>
      </p:sp>
      <p:sp>
        <p:nvSpPr>
          <p:cNvPr id="37" name="Text 35"/>
          <p:cNvSpPr txBox="1"/>
          <p:nvPr/>
        </p:nvSpPr>
        <p:spPr>
          <a:xfrm>
            <a:off x="9343209" y="6099048"/>
            <a:ext cx="731520" cy="274320"/>
          </a:xfrm>
          <a:prstGeom prst="rect">
            <a:avLst/>
          </a:prstGeom>
          <a:noFill/>
          <a:ln/>
        </p:spPr>
        <p:txBody>
          <a:bodyPr wrap="square" lIns="0" tIns="0" rIns="0" bIns="0" rtlCol="0" anchor="ctr"/>
          <a:lstStyle/>
          <a:p>
            <a:pPr algn="ctr" indent="0" marL="0">
              <a:buNone/>
            </a:pPr>
            <a:r>
              <a:rPr lang="en-US" sz="1100" dirty="0">
                <a:solidFill>
                  <a:srgbClr val="9DB0C7"/>
                </a:solidFill>
                <a:latin typeface="Calibri" pitchFamily="34" charset="0"/>
                <a:ea typeface="Calibri" pitchFamily="34" charset="-122"/>
                <a:cs typeface="Calibri" pitchFamily="34" charset="-120"/>
              </a:rPr>
              <a:t>0.85</a:t>
            </a:r>
            <a:endParaRPr lang="en-US" sz="1100" dirty="0"/>
          </a:p>
        </p:txBody>
      </p:sp>
      <p:sp>
        <p:nvSpPr>
          <p:cNvPr id="38" name="Text 36"/>
          <p:cNvSpPr txBox="1"/>
          <p:nvPr/>
        </p:nvSpPr>
        <p:spPr>
          <a:xfrm>
            <a:off x="822960" y="6501384"/>
            <a:ext cx="10543032" cy="365760"/>
          </a:xfrm>
          <a:prstGeom prst="rect">
            <a:avLst/>
          </a:prstGeom>
          <a:noFill/>
          <a:ln/>
        </p:spPr>
        <p:txBody>
          <a:bodyPr wrap="square" lIns="0" tIns="0" rIns="0" bIns="0" rtlCol="0" anchor="ctr"/>
          <a:lstStyle/>
          <a:p>
            <a:pPr algn="ctr" indent="0" marL="0">
              <a:buNone/>
            </a:pPr>
            <a:r>
              <a:rPr lang="en-US" sz="1250" i="1" dirty="0">
                <a:solidFill>
                  <a:srgbClr val="9DB0C7"/>
                </a:solidFill>
                <a:latin typeface="Calibri" pitchFamily="34" charset="0"/>
                <a:ea typeface="Calibri" pitchFamily="34" charset="-122"/>
                <a:cs typeface="Calibri" pitchFamily="34" charset="-120"/>
              </a:rPr>
              <a:t>subject-level balanced accuracy, 3-seed mean — six of the 19 configurations shown; all are reported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Judged on people it has never heard</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13</a:t>
            </a:r>
            <a:endParaRPr lang="en-US" sz="1000" dirty="0"/>
          </a:p>
        </p:txBody>
      </p:sp>
      <p:sp>
        <p:nvSpPr>
          <p:cNvPr id="4" name="Shape 2"/>
          <p:cNvSpPr/>
          <p:nvPr/>
        </p:nvSpPr>
        <p:spPr>
          <a:xfrm>
            <a:off x="964692" y="1078992"/>
            <a:ext cx="1481328" cy="402336"/>
          </a:xfrm>
          <a:prstGeom prst="roundRect">
            <a:avLst>
              <a:gd name="adj" fmla="val 15909"/>
            </a:avLst>
          </a:prstGeom>
          <a:solidFill>
            <a:srgbClr val="13233B"/>
          </a:solidFill>
          <a:ln w="9525">
            <a:solidFill>
              <a:srgbClr val="2A3D58"/>
            </a:solidFill>
            <a:prstDash val="solid"/>
          </a:ln>
        </p:spPr>
      </p:sp>
      <p:sp>
        <p:nvSpPr>
          <p:cNvPr id="5" name="Text 3"/>
          <p:cNvSpPr txBox="1"/>
          <p:nvPr/>
        </p:nvSpPr>
        <p:spPr>
          <a:xfrm>
            <a:off x="96469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raw audio</a:t>
            </a:r>
            <a:endParaRPr lang="en-US" sz="1050" dirty="0"/>
          </a:p>
        </p:txBody>
      </p:sp>
      <p:sp>
        <p:nvSpPr>
          <p:cNvPr id="6" name="Text 4"/>
          <p:cNvSpPr txBox="1"/>
          <p:nvPr/>
        </p:nvSpPr>
        <p:spPr>
          <a:xfrm>
            <a:off x="2464308"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720340" y="1078992"/>
            <a:ext cx="1481328" cy="402336"/>
          </a:xfrm>
          <a:prstGeom prst="roundRect">
            <a:avLst>
              <a:gd name="adj" fmla="val 15909"/>
            </a:avLst>
          </a:prstGeom>
          <a:solidFill>
            <a:srgbClr val="13233B"/>
          </a:solidFill>
          <a:ln w="9525">
            <a:solidFill>
              <a:srgbClr val="2A3D58"/>
            </a:solidFill>
            <a:prstDash val="solid"/>
          </a:ln>
        </p:spPr>
      </p:sp>
      <p:sp>
        <p:nvSpPr>
          <p:cNvPr id="8" name="Text 6"/>
          <p:cNvSpPr txBox="1"/>
          <p:nvPr/>
        </p:nvSpPr>
        <p:spPr>
          <a:xfrm>
            <a:off x="2720340"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clean-up</a:t>
            </a:r>
            <a:endParaRPr lang="en-US" sz="1050" dirty="0"/>
          </a:p>
        </p:txBody>
      </p:sp>
      <p:sp>
        <p:nvSpPr>
          <p:cNvPr id="9" name="Text 7"/>
          <p:cNvSpPr txBox="1"/>
          <p:nvPr/>
        </p:nvSpPr>
        <p:spPr>
          <a:xfrm>
            <a:off x="4219956"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475988" y="1078992"/>
            <a:ext cx="1481328" cy="402336"/>
          </a:xfrm>
          <a:prstGeom prst="roundRect">
            <a:avLst>
              <a:gd name="adj" fmla="val 15909"/>
            </a:avLst>
          </a:prstGeom>
          <a:solidFill>
            <a:srgbClr val="13233B"/>
          </a:solidFill>
          <a:ln w="9525">
            <a:solidFill>
              <a:srgbClr val="2A3D58"/>
            </a:solidFill>
            <a:prstDash val="solid"/>
          </a:ln>
        </p:spPr>
      </p:sp>
      <p:sp>
        <p:nvSpPr>
          <p:cNvPr id="11" name="Text 9"/>
          <p:cNvSpPr txBox="1"/>
          <p:nvPr/>
        </p:nvSpPr>
        <p:spPr>
          <a:xfrm>
            <a:off x="4475988"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10-s chunks</a:t>
            </a:r>
            <a:endParaRPr lang="en-US" sz="1050" dirty="0"/>
          </a:p>
        </p:txBody>
      </p:sp>
      <p:sp>
        <p:nvSpPr>
          <p:cNvPr id="12" name="Text 10"/>
          <p:cNvSpPr txBox="1"/>
          <p:nvPr/>
        </p:nvSpPr>
        <p:spPr>
          <a:xfrm>
            <a:off x="5975604"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31636" y="1078992"/>
            <a:ext cx="1481328" cy="402336"/>
          </a:xfrm>
          <a:prstGeom prst="roundRect">
            <a:avLst>
              <a:gd name="adj" fmla="val 15909"/>
            </a:avLst>
          </a:prstGeom>
          <a:solidFill>
            <a:srgbClr val="13233B"/>
          </a:solidFill>
          <a:ln w="9525">
            <a:solidFill>
              <a:srgbClr val="2A3D58"/>
            </a:solidFill>
            <a:prstDash val="solid"/>
          </a:ln>
        </p:spPr>
      </p:sp>
      <p:sp>
        <p:nvSpPr>
          <p:cNvPr id="14" name="Text 12"/>
          <p:cNvSpPr txBox="1"/>
          <p:nvPr/>
        </p:nvSpPr>
        <p:spPr>
          <a:xfrm>
            <a:off x="6231636"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74 measures</a:t>
            </a:r>
            <a:endParaRPr lang="en-US" sz="1050" dirty="0"/>
          </a:p>
        </p:txBody>
      </p:sp>
      <p:sp>
        <p:nvSpPr>
          <p:cNvPr id="15" name="Text 13"/>
          <p:cNvSpPr txBox="1"/>
          <p:nvPr/>
        </p:nvSpPr>
        <p:spPr>
          <a:xfrm>
            <a:off x="7731252"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7987284" y="1078992"/>
            <a:ext cx="1481328" cy="402336"/>
          </a:xfrm>
          <a:prstGeom prst="roundRect">
            <a:avLst>
              <a:gd name="adj" fmla="val 15909"/>
            </a:avLst>
          </a:prstGeom>
          <a:solidFill>
            <a:srgbClr val="5AB4F0">
              <a:alpha val="28000"/>
            </a:srgbClr>
          </a:solidFill>
          <a:ln w="19050">
            <a:solidFill>
              <a:srgbClr val="5AB4F0"/>
            </a:solidFill>
            <a:prstDash val="solid"/>
          </a:ln>
        </p:spPr>
      </p:sp>
      <p:sp>
        <p:nvSpPr>
          <p:cNvPr id="17" name="Text 15"/>
          <p:cNvSpPr txBox="1"/>
          <p:nvPr/>
        </p:nvSpPr>
        <p:spPr>
          <a:xfrm>
            <a:off x="7987284" y="1097280"/>
            <a:ext cx="1481328" cy="365760"/>
          </a:xfrm>
          <a:prstGeom prst="rect">
            <a:avLst/>
          </a:prstGeom>
          <a:noFill/>
          <a:ln/>
        </p:spPr>
        <p:txBody>
          <a:bodyPr wrap="square" lIns="0" tIns="0" rIns="0" bIns="0" rtlCol="0" anchor="ctr"/>
          <a:lstStyle/>
          <a:p>
            <a:pPr algn="ctr" indent="0" marL="0">
              <a:buNone/>
            </a:pPr>
            <a:r>
              <a:rPr lang="en-US" sz="1050" b="1" dirty="0">
                <a:solidFill>
                  <a:srgbClr val="E8EEF7"/>
                </a:solidFill>
                <a:latin typeface="Calibri" pitchFamily="34" charset="0"/>
                <a:ea typeface="Calibri" pitchFamily="34" charset="-122"/>
                <a:cs typeface="Calibri" pitchFamily="34" charset="-120"/>
              </a:rPr>
              <a:t>model</a:t>
            </a:r>
            <a:endParaRPr lang="en-US" sz="1050" dirty="0"/>
          </a:p>
        </p:txBody>
      </p:sp>
      <p:sp>
        <p:nvSpPr>
          <p:cNvPr id="18" name="Text 16"/>
          <p:cNvSpPr txBox="1"/>
          <p:nvPr/>
        </p:nvSpPr>
        <p:spPr>
          <a:xfrm>
            <a:off x="9486900"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9742932" y="1078992"/>
            <a:ext cx="1481328" cy="402336"/>
          </a:xfrm>
          <a:prstGeom prst="roundRect">
            <a:avLst>
              <a:gd name="adj" fmla="val 15909"/>
            </a:avLst>
          </a:prstGeom>
          <a:solidFill>
            <a:srgbClr val="13233B"/>
          </a:solidFill>
          <a:ln w="9525">
            <a:solidFill>
              <a:srgbClr val="2A3D58"/>
            </a:solidFill>
            <a:prstDash val="solid"/>
          </a:ln>
        </p:spPr>
      </p:sp>
      <p:sp>
        <p:nvSpPr>
          <p:cNvPr id="20" name="Text 18"/>
          <p:cNvSpPr txBox="1"/>
          <p:nvPr/>
        </p:nvSpPr>
        <p:spPr>
          <a:xfrm>
            <a:off x="974293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indication</a:t>
            </a:r>
            <a:endParaRPr lang="en-US" sz="1050" dirty="0"/>
          </a:p>
        </p:txBody>
      </p:sp>
      <p:sp>
        <p:nvSpPr>
          <p:cNvPr id="21" name="Text 19"/>
          <p:cNvSpPr txBox="1"/>
          <p:nvPr/>
        </p:nvSpPr>
        <p:spPr>
          <a:xfrm>
            <a:off x="731520" y="1920240"/>
            <a:ext cx="4846320" cy="914400"/>
          </a:xfrm>
          <a:prstGeom prst="rect">
            <a:avLst/>
          </a:prstGeom>
          <a:noFill/>
          <a:ln/>
        </p:spPr>
        <p:txBody>
          <a:bodyPr wrap="square" lIns="0" tIns="0" rIns="0" bIns="0" rtlCol="0" anchor="ctr"/>
          <a:lstStyle/>
          <a:p>
            <a:pPr algn="l" indent="0" marL="0">
              <a:buNone/>
            </a:pPr>
            <a:r>
              <a:rPr lang="en-US" sz="5200" b="1" dirty="0">
                <a:solidFill>
                  <a:srgbClr val="5AB4F0"/>
                </a:solidFill>
                <a:latin typeface="Cambria" pitchFamily="34" charset="0"/>
                <a:ea typeface="Cambria" pitchFamily="34" charset="-122"/>
                <a:cs typeface="Cambria" pitchFamily="34" charset="-120"/>
              </a:rPr>
              <a:t>0.822</a:t>
            </a:r>
            <a:pPr algn="l" indent="0" marL="0">
              <a:buNone/>
            </a:pPr>
            <a:r>
              <a:rPr lang="en-US" sz="2200" dirty="0">
                <a:solidFill>
                  <a:srgbClr val="9DB0C7"/>
                </a:solidFill>
                <a:latin typeface="Cambria" pitchFamily="34" charset="0"/>
                <a:ea typeface="Cambria" pitchFamily="34" charset="-122"/>
                <a:cs typeface="Cambria" pitchFamily="34" charset="-120"/>
              </a:rPr>
              <a:t>  ± 0.032</a:t>
            </a:r>
            <a:endParaRPr lang="en-US" sz="5200" dirty="0"/>
          </a:p>
        </p:txBody>
      </p:sp>
      <p:sp>
        <p:nvSpPr>
          <p:cNvPr id="22" name="Text 20"/>
          <p:cNvSpPr txBox="1"/>
          <p:nvPr/>
        </p:nvSpPr>
        <p:spPr>
          <a:xfrm>
            <a:off x="731520" y="2788920"/>
            <a:ext cx="4846320" cy="347472"/>
          </a:xfrm>
          <a:prstGeom prst="rect">
            <a:avLst/>
          </a:prstGeom>
          <a:noFill/>
          <a:ln/>
        </p:spPr>
        <p:txBody>
          <a:bodyPr wrap="square" lIns="0" tIns="0" rIns="0" bIns="0" rtlCol="0" anchor="ctr"/>
          <a:lstStyle/>
          <a:p>
            <a:pPr indent="0" marL="0">
              <a:buNone/>
            </a:pPr>
            <a:r>
              <a:rPr lang="en-US" sz="1300" dirty="0">
                <a:solidFill>
                  <a:srgbClr val="9DB0C7"/>
                </a:solidFill>
                <a:latin typeface="Calibri" pitchFamily="34" charset="0"/>
                <a:ea typeface="Calibri" pitchFamily="34" charset="-122"/>
                <a:cs typeface="Calibri" pitchFamily="34" charset="-120"/>
              </a:rPr>
              <a:t>balanced accuracy, per subject</a:t>
            </a:r>
            <a:endParaRPr lang="en-US" sz="1300" dirty="0"/>
          </a:p>
        </p:txBody>
      </p:sp>
      <p:sp>
        <p:nvSpPr>
          <p:cNvPr id="23" name="Shape 21"/>
          <p:cNvSpPr/>
          <p:nvPr/>
        </p:nvSpPr>
        <p:spPr>
          <a:xfrm>
            <a:off x="731520" y="3383280"/>
            <a:ext cx="1481328"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24" name="Text 22"/>
          <p:cNvSpPr txBox="1"/>
          <p:nvPr/>
        </p:nvSpPr>
        <p:spPr>
          <a:xfrm>
            <a:off x="731520" y="3456432"/>
            <a:ext cx="1481328" cy="457200"/>
          </a:xfrm>
          <a:prstGeom prst="rect">
            <a:avLst/>
          </a:prstGeom>
          <a:noFill/>
          <a:ln/>
        </p:spPr>
        <p:txBody>
          <a:bodyPr wrap="square" lIns="0" tIns="0" rIns="0" bIns="0" rtlCol="0" anchor="ctr"/>
          <a:lstStyle/>
          <a:p>
            <a:pPr algn="ctr" indent="0" marL="0">
              <a:buNone/>
            </a:pPr>
            <a:r>
              <a:rPr lang="en-US" sz="2200" b="1" dirty="0">
                <a:solidFill>
                  <a:srgbClr val="E8EEF7"/>
                </a:solidFill>
                <a:latin typeface="Cambria" pitchFamily="34" charset="0"/>
                <a:ea typeface="Cambria" pitchFamily="34" charset="-122"/>
                <a:cs typeface="Cambria" pitchFamily="34" charset="-120"/>
              </a:rPr>
              <a:t>0.771</a:t>
            </a:r>
            <a:endParaRPr lang="en-US" sz="2200" dirty="0"/>
          </a:p>
        </p:txBody>
      </p:sp>
      <p:sp>
        <p:nvSpPr>
          <p:cNvPr id="25" name="Text 23"/>
          <p:cNvSpPr txBox="1"/>
          <p:nvPr/>
        </p:nvSpPr>
        <p:spPr>
          <a:xfrm>
            <a:off x="731520" y="3931920"/>
            <a:ext cx="1481328" cy="320040"/>
          </a:xfrm>
          <a:prstGeom prst="rect">
            <a:avLst/>
          </a:prstGeom>
          <a:noFill/>
          <a:ln/>
        </p:spPr>
        <p:txBody>
          <a:bodyPr wrap="square" lIns="0" tIns="0" rIns="0" bIns="0" rtlCol="0" anchor="ctr"/>
          <a:lstStyle/>
          <a:p>
            <a:pPr algn="ctr" indent="0" marL="0">
              <a:buNone/>
            </a:pPr>
            <a:r>
              <a:rPr lang="en-US" sz="1150" dirty="0">
                <a:solidFill>
                  <a:srgbClr val="9DB0C7"/>
                </a:solidFill>
                <a:latin typeface="Calibri" pitchFamily="34" charset="0"/>
                <a:ea typeface="Calibri" pitchFamily="34" charset="-122"/>
                <a:cs typeface="Calibri" pitchFamily="34" charset="-120"/>
              </a:rPr>
              <a:t>sensitivity</a:t>
            </a:r>
            <a:endParaRPr lang="en-US" sz="1150" dirty="0"/>
          </a:p>
        </p:txBody>
      </p:sp>
      <p:sp>
        <p:nvSpPr>
          <p:cNvPr id="26" name="Shape 24"/>
          <p:cNvSpPr/>
          <p:nvPr/>
        </p:nvSpPr>
        <p:spPr>
          <a:xfrm>
            <a:off x="2414016" y="3383280"/>
            <a:ext cx="1481328"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27" name="Text 25"/>
          <p:cNvSpPr txBox="1"/>
          <p:nvPr/>
        </p:nvSpPr>
        <p:spPr>
          <a:xfrm>
            <a:off x="2414016" y="3456432"/>
            <a:ext cx="1481328" cy="457200"/>
          </a:xfrm>
          <a:prstGeom prst="rect">
            <a:avLst/>
          </a:prstGeom>
          <a:noFill/>
          <a:ln/>
        </p:spPr>
        <p:txBody>
          <a:bodyPr wrap="square" lIns="0" tIns="0" rIns="0" bIns="0" rtlCol="0" anchor="ctr"/>
          <a:lstStyle/>
          <a:p>
            <a:pPr algn="ctr" indent="0" marL="0">
              <a:buNone/>
            </a:pPr>
            <a:r>
              <a:rPr lang="en-US" sz="2200" b="1" dirty="0">
                <a:solidFill>
                  <a:srgbClr val="E8EEF7"/>
                </a:solidFill>
                <a:latin typeface="Cambria" pitchFamily="34" charset="0"/>
                <a:ea typeface="Cambria" pitchFamily="34" charset="-122"/>
                <a:cs typeface="Cambria" pitchFamily="34" charset="-120"/>
              </a:rPr>
              <a:t>0.873</a:t>
            </a:r>
            <a:endParaRPr lang="en-US" sz="2200" dirty="0"/>
          </a:p>
        </p:txBody>
      </p:sp>
      <p:sp>
        <p:nvSpPr>
          <p:cNvPr id="28" name="Text 26"/>
          <p:cNvSpPr txBox="1"/>
          <p:nvPr/>
        </p:nvSpPr>
        <p:spPr>
          <a:xfrm>
            <a:off x="2414016" y="3931920"/>
            <a:ext cx="1481328" cy="320040"/>
          </a:xfrm>
          <a:prstGeom prst="rect">
            <a:avLst/>
          </a:prstGeom>
          <a:noFill/>
          <a:ln/>
        </p:spPr>
        <p:txBody>
          <a:bodyPr wrap="square" lIns="0" tIns="0" rIns="0" bIns="0" rtlCol="0" anchor="ctr"/>
          <a:lstStyle/>
          <a:p>
            <a:pPr algn="ctr" indent="0" marL="0">
              <a:buNone/>
            </a:pPr>
            <a:r>
              <a:rPr lang="en-US" sz="1150" dirty="0">
                <a:solidFill>
                  <a:srgbClr val="9DB0C7"/>
                </a:solidFill>
                <a:latin typeface="Calibri" pitchFamily="34" charset="0"/>
                <a:ea typeface="Calibri" pitchFamily="34" charset="-122"/>
                <a:cs typeface="Calibri" pitchFamily="34" charset="-120"/>
              </a:rPr>
              <a:t>specificity</a:t>
            </a:r>
            <a:endParaRPr lang="en-US" sz="1150" dirty="0"/>
          </a:p>
        </p:txBody>
      </p:sp>
      <p:sp>
        <p:nvSpPr>
          <p:cNvPr id="29" name="Shape 27"/>
          <p:cNvSpPr/>
          <p:nvPr/>
        </p:nvSpPr>
        <p:spPr>
          <a:xfrm>
            <a:off x="4096512" y="3383280"/>
            <a:ext cx="1481328" cy="960120"/>
          </a:xfrm>
          <a:prstGeom prst="roundRect">
            <a:avLst>
              <a:gd name="adj" fmla="val 8571"/>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30" name="Text 28"/>
          <p:cNvSpPr txBox="1"/>
          <p:nvPr/>
        </p:nvSpPr>
        <p:spPr>
          <a:xfrm>
            <a:off x="4096512" y="3456432"/>
            <a:ext cx="1481328" cy="457200"/>
          </a:xfrm>
          <a:prstGeom prst="rect">
            <a:avLst/>
          </a:prstGeom>
          <a:noFill/>
          <a:ln/>
        </p:spPr>
        <p:txBody>
          <a:bodyPr wrap="square" lIns="0" tIns="0" rIns="0" bIns="0" rtlCol="0" anchor="ctr"/>
          <a:lstStyle/>
          <a:p>
            <a:pPr algn="ctr" indent="0" marL="0">
              <a:buNone/>
            </a:pPr>
            <a:r>
              <a:rPr lang="en-US" sz="2200" b="1" dirty="0">
                <a:solidFill>
                  <a:srgbClr val="E8EEF7"/>
                </a:solidFill>
                <a:latin typeface="Cambria" pitchFamily="34" charset="0"/>
                <a:ea typeface="Cambria" pitchFamily="34" charset="-122"/>
                <a:cs typeface="Cambria" pitchFamily="34" charset="-120"/>
              </a:rPr>
              <a:t>0.864</a:t>
            </a:r>
            <a:endParaRPr lang="en-US" sz="2200" dirty="0"/>
          </a:p>
        </p:txBody>
      </p:sp>
      <p:sp>
        <p:nvSpPr>
          <p:cNvPr id="31" name="Text 29"/>
          <p:cNvSpPr txBox="1"/>
          <p:nvPr/>
        </p:nvSpPr>
        <p:spPr>
          <a:xfrm>
            <a:off x="4096512" y="3931920"/>
            <a:ext cx="1481328" cy="320040"/>
          </a:xfrm>
          <a:prstGeom prst="rect">
            <a:avLst/>
          </a:prstGeom>
          <a:noFill/>
          <a:ln/>
        </p:spPr>
        <p:txBody>
          <a:bodyPr wrap="square" lIns="0" tIns="0" rIns="0" bIns="0" rtlCol="0" anchor="ctr"/>
          <a:lstStyle/>
          <a:p>
            <a:pPr algn="ctr" indent="0" marL="0">
              <a:buNone/>
            </a:pPr>
            <a:r>
              <a:rPr lang="en-US" sz="1150" dirty="0">
                <a:solidFill>
                  <a:srgbClr val="9DB0C7"/>
                </a:solidFill>
                <a:latin typeface="Calibri" pitchFamily="34" charset="0"/>
                <a:ea typeface="Calibri" pitchFamily="34" charset="-122"/>
                <a:cs typeface="Calibri" pitchFamily="34" charset="-120"/>
              </a:rPr>
              <a:t>AUC</a:t>
            </a:r>
            <a:endParaRPr lang="en-US" sz="1150" dirty="0"/>
          </a:p>
        </p:txBody>
      </p:sp>
      <p:sp>
        <p:nvSpPr>
          <p:cNvPr id="32" name="Text 30"/>
          <p:cNvSpPr txBox="1"/>
          <p:nvPr/>
        </p:nvSpPr>
        <p:spPr>
          <a:xfrm>
            <a:off x="731520" y="4709160"/>
            <a:ext cx="5029200" cy="685800"/>
          </a:xfrm>
          <a:prstGeom prst="rect">
            <a:avLst/>
          </a:prstGeom>
          <a:noFill/>
          <a:ln/>
        </p:spPr>
        <p:txBody>
          <a:bodyPr wrap="square" lIns="0" tIns="0" rIns="0" bIns="0" rtlCol="0" anchor="ctr"/>
          <a:lstStyle/>
          <a:p>
            <a:pPr indent="0" marL="0">
              <a:buNone/>
            </a:pPr>
            <a:r>
              <a:rPr lang="en-US" sz="1300" i="1" dirty="0">
                <a:solidFill>
                  <a:srgbClr val="9DB0C7"/>
                </a:solidFill>
                <a:latin typeface="Calibri" pitchFamily="34" charset="0"/>
                <a:ea typeface="Calibri" pitchFamily="34" charset="-122"/>
                <a:cs typeface="Calibri" pitchFamily="34" charset="-120"/>
              </a:rPr>
              <a:t>“always healthy” scores 0.575 accuracy, finds nobody — balanced accuracy 0.500.</a:t>
            </a:r>
            <a:endParaRPr lang="en-US" sz="1300" dirty="0"/>
          </a:p>
        </p:txBody>
      </p:sp>
      <p:sp>
        <p:nvSpPr>
          <p:cNvPr id="33" name="Shape 31"/>
          <p:cNvSpPr/>
          <p:nvPr/>
        </p:nvSpPr>
        <p:spPr>
          <a:xfrm>
            <a:off x="6126480" y="1783080"/>
            <a:ext cx="5486400" cy="4572000"/>
          </a:xfrm>
          <a:prstGeom prst="roundRect">
            <a:avLst>
              <a:gd name="adj" fmla="val 1800"/>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pic>
        <p:nvPicPr>
          <p:cNvPr id="34" name="Image 0" descr="C:\Users\MShaheen\Documents\parkinsons_voice_project\report\defence\figs\roc_dark.png">    </p:cNvPr>
          <p:cNvPicPr>
            <a:picLocks noChangeAspect="1"/>
          </p:cNvPicPr>
          <p:nvPr/>
        </p:nvPicPr>
        <p:blipFill>
          <a:blip r:embed="rId2"/>
          <a:stretch>
            <a:fillRect/>
          </a:stretch>
        </p:blipFill>
        <p:spPr>
          <a:xfrm>
            <a:off x="6355080" y="1965960"/>
            <a:ext cx="5029200" cy="4206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It rediscovered a known clinical sign</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14</a:t>
            </a:r>
            <a:endParaRPr lang="en-US" sz="1000" dirty="0"/>
          </a:p>
        </p:txBody>
      </p:sp>
      <p:sp>
        <p:nvSpPr>
          <p:cNvPr id="4" name="Shape 2"/>
          <p:cNvSpPr/>
          <p:nvPr/>
        </p:nvSpPr>
        <p:spPr>
          <a:xfrm>
            <a:off x="964692" y="1078992"/>
            <a:ext cx="1481328" cy="402336"/>
          </a:xfrm>
          <a:prstGeom prst="roundRect">
            <a:avLst>
              <a:gd name="adj" fmla="val 15909"/>
            </a:avLst>
          </a:prstGeom>
          <a:solidFill>
            <a:srgbClr val="13233B"/>
          </a:solidFill>
          <a:ln w="9525">
            <a:solidFill>
              <a:srgbClr val="2A3D58"/>
            </a:solidFill>
            <a:prstDash val="solid"/>
          </a:ln>
        </p:spPr>
      </p:sp>
      <p:sp>
        <p:nvSpPr>
          <p:cNvPr id="5" name="Text 3"/>
          <p:cNvSpPr txBox="1"/>
          <p:nvPr/>
        </p:nvSpPr>
        <p:spPr>
          <a:xfrm>
            <a:off x="96469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raw audio</a:t>
            </a:r>
            <a:endParaRPr lang="en-US" sz="1050" dirty="0"/>
          </a:p>
        </p:txBody>
      </p:sp>
      <p:sp>
        <p:nvSpPr>
          <p:cNvPr id="6" name="Text 4"/>
          <p:cNvSpPr txBox="1"/>
          <p:nvPr/>
        </p:nvSpPr>
        <p:spPr>
          <a:xfrm>
            <a:off x="2464308"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720340" y="1078992"/>
            <a:ext cx="1481328" cy="402336"/>
          </a:xfrm>
          <a:prstGeom prst="roundRect">
            <a:avLst>
              <a:gd name="adj" fmla="val 15909"/>
            </a:avLst>
          </a:prstGeom>
          <a:solidFill>
            <a:srgbClr val="13233B"/>
          </a:solidFill>
          <a:ln w="9525">
            <a:solidFill>
              <a:srgbClr val="2A3D58"/>
            </a:solidFill>
            <a:prstDash val="solid"/>
          </a:ln>
        </p:spPr>
      </p:sp>
      <p:sp>
        <p:nvSpPr>
          <p:cNvPr id="8" name="Text 6"/>
          <p:cNvSpPr txBox="1"/>
          <p:nvPr/>
        </p:nvSpPr>
        <p:spPr>
          <a:xfrm>
            <a:off x="2720340"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clean-up</a:t>
            </a:r>
            <a:endParaRPr lang="en-US" sz="1050" dirty="0"/>
          </a:p>
        </p:txBody>
      </p:sp>
      <p:sp>
        <p:nvSpPr>
          <p:cNvPr id="9" name="Text 7"/>
          <p:cNvSpPr txBox="1"/>
          <p:nvPr/>
        </p:nvSpPr>
        <p:spPr>
          <a:xfrm>
            <a:off x="4219956"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475988" y="1078992"/>
            <a:ext cx="1481328" cy="402336"/>
          </a:xfrm>
          <a:prstGeom prst="roundRect">
            <a:avLst>
              <a:gd name="adj" fmla="val 15909"/>
            </a:avLst>
          </a:prstGeom>
          <a:solidFill>
            <a:srgbClr val="13233B"/>
          </a:solidFill>
          <a:ln w="9525">
            <a:solidFill>
              <a:srgbClr val="2A3D58"/>
            </a:solidFill>
            <a:prstDash val="solid"/>
          </a:ln>
        </p:spPr>
      </p:sp>
      <p:sp>
        <p:nvSpPr>
          <p:cNvPr id="11" name="Text 9"/>
          <p:cNvSpPr txBox="1"/>
          <p:nvPr/>
        </p:nvSpPr>
        <p:spPr>
          <a:xfrm>
            <a:off x="4475988"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10-s chunks</a:t>
            </a:r>
            <a:endParaRPr lang="en-US" sz="1050" dirty="0"/>
          </a:p>
        </p:txBody>
      </p:sp>
      <p:sp>
        <p:nvSpPr>
          <p:cNvPr id="12" name="Text 10"/>
          <p:cNvSpPr txBox="1"/>
          <p:nvPr/>
        </p:nvSpPr>
        <p:spPr>
          <a:xfrm>
            <a:off x="5975604"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31636" y="1078992"/>
            <a:ext cx="1481328" cy="402336"/>
          </a:xfrm>
          <a:prstGeom prst="roundRect">
            <a:avLst>
              <a:gd name="adj" fmla="val 15909"/>
            </a:avLst>
          </a:prstGeom>
          <a:solidFill>
            <a:srgbClr val="13233B"/>
          </a:solidFill>
          <a:ln w="9525">
            <a:solidFill>
              <a:srgbClr val="2A3D58"/>
            </a:solidFill>
            <a:prstDash val="solid"/>
          </a:ln>
        </p:spPr>
      </p:sp>
      <p:sp>
        <p:nvSpPr>
          <p:cNvPr id="14" name="Text 12"/>
          <p:cNvSpPr txBox="1"/>
          <p:nvPr/>
        </p:nvSpPr>
        <p:spPr>
          <a:xfrm>
            <a:off x="6231636"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74 measures</a:t>
            </a:r>
            <a:endParaRPr lang="en-US" sz="1050" dirty="0"/>
          </a:p>
        </p:txBody>
      </p:sp>
      <p:sp>
        <p:nvSpPr>
          <p:cNvPr id="15" name="Text 13"/>
          <p:cNvSpPr txBox="1"/>
          <p:nvPr/>
        </p:nvSpPr>
        <p:spPr>
          <a:xfrm>
            <a:off x="7731252"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7987284" y="1078992"/>
            <a:ext cx="1481328" cy="402336"/>
          </a:xfrm>
          <a:prstGeom prst="roundRect">
            <a:avLst>
              <a:gd name="adj" fmla="val 15909"/>
            </a:avLst>
          </a:prstGeom>
          <a:solidFill>
            <a:srgbClr val="5AB4F0">
              <a:alpha val="28000"/>
            </a:srgbClr>
          </a:solidFill>
          <a:ln w="19050">
            <a:solidFill>
              <a:srgbClr val="5AB4F0"/>
            </a:solidFill>
            <a:prstDash val="solid"/>
          </a:ln>
        </p:spPr>
      </p:sp>
      <p:sp>
        <p:nvSpPr>
          <p:cNvPr id="17" name="Text 15"/>
          <p:cNvSpPr txBox="1"/>
          <p:nvPr/>
        </p:nvSpPr>
        <p:spPr>
          <a:xfrm>
            <a:off x="7987284" y="1097280"/>
            <a:ext cx="1481328" cy="365760"/>
          </a:xfrm>
          <a:prstGeom prst="rect">
            <a:avLst/>
          </a:prstGeom>
          <a:noFill/>
          <a:ln/>
        </p:spPr>
        <p:txBody>
          <a:bodyPr wrap="square" lIns="0" tIns="0" rIns="0" bIns="0" rtlCol="0" anchor="ctr"/>
          <a:lstStyle/>
          <a:p>
            <a:pPr algn="ctr" indent="0" marL="0">
              <a:buNone/>
            </a:pPr>
            <a:r>
              <a:rPr lang="en-US" sz="1050" b="1" dirty="0">
                <a:solidFill>
                  <a:srgbClr val="E8EEF7"/>
                </a:solidFill>
                <a:latin typeface="Calibri" pitchFamily="34" charset="0"/>
                <a:ea typeface="Calibri" pitchFamily="34" charset="-122"/>
                <a:cs typeface="Calibri" pitchFamily="34" charset="-120"/>
              </a:rPr>
              <a:t>model</a:t>
            </a:r>
            <a:endParaRPr lang="en-US" sz="1050" dirty="0"/>
          </a:p>
        </p:txBody>
      </p:sp>
      <p:sp>
        <p:nvSpPr>
          <p:cNvPr id="18" name="Text 16"/>
          <p:cNvSpPr txBox="1"/>
          <p:nvPr/>
        </p:nvSpPr>
        <p:spPr>
          <a:xfrm>
            <a:off x="9486900"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9742932" y="1078992"/>
            <a:ext cx="1481328" cy="402336"/>
          </a:xfrm>
          <a:prstGeom prst="roundRect">
            <a:avLst>
              <a:gd name="adj" fmla="val 15909"/>
            </a:avLst>
          </a:prstGeom>
          <a:solidFill>
            <a:srgbClr val="13233B"/>
          </a:solidFill>
          <a:ln w="9525">
            <a:solidFill>
              <a:srgbClr val="2A3D58"/>
            </a:solidFill>
            <a:prstDash val="solid"/>
          </a:ln>
        </p:spPr>
      </p:sp>
      <p:sp>
        <p:nvSpPr>
          <p:cNvPr id="20" name="Text 18"/>
          <p:cNvSpPr txBox="1"/>
          <p:nvPr/>
        </p:nvSpPr>
        <p:spPr>
          <a:xfrm>
            <a:off x="974293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indication</a:t>
            </a:r>
            <a:endParaRPr lang="en-US" sz="1050" dirty="0"/>
          </a:p>
        </p:txBody>
      </p:sp>
      <p:sp>
        <p:nvSpPr>
          <p:cNvPr id="21" name="Text 19"/>
          <p:cNvSpPr txBox="1"/>
          <p:nvPr/>
        </p:nvSpPr>
        <p:spPr>
          <a:xfrm>
            <a:off x="731520" y="2194560"/>
            <a:ext cx="4023360" cy="3108960"/>
          </a:xfrm>
          <a:prstGeom prst="rect">
            <a:avLst/>
          </a:prstGeom>
          <a:noFill/>
          <a:ln/>
        </p:spPr>
        <p:txBody>
          <a:bodyPr wrap="square" lIns="0" tIns="0" rIns="0" bIns="0" rtlCol="0" anchor="ctr"/>
          <a:lstStyle/>
          <a:p>
            <a:pPr algn="l" indent="0" marL="0">
              <a:lnSpc>
                <a:spcPts val="2600"/>
              </a:lnSpc>
              <a:buNone/>
            </a:pPr>
            <a:r>
              <a:rPr lang="en-US" sz="1700" dirty="0">
                <a:solidFill>
                  <a:srgbClr val="9DB0C7"/>
                </a:solidFill>
                <a:latin typeface="Cambria" pitchFamily="34" charset="0"/>
                <a:ea typeface="Cambria" pitchFamily="34" charset="-122"/>
                <a:cs typeface="Cambria" pitchFamily="34" charset="-120"/>
              </a:rPr>
              <a:t>Top measurement:
</a:t>
            </a:r>
            <a:pPr algn="l" indent="0" marL="0">
              <a:lnSpc>
                <a:spcPts val="2600"/>
              </a:lnSpc>
              <a:buNone/>
            </a:pPr>
            <a:r>
              <a:rPr lang="en-US" sz="3000" b="1" dirty="0">
                <a:solidFill>
                  <a:srgbClr val="5AB4F0"/>
                </a:solidFill>
                <a:latin typeface="Cambria" pitchFamily="34" charset="0"/>
                <a:ea typeface="Cambria" pitchFamily="34" charset="-122"/>
                <a:cs typeface="Cambria" pitchFamily="34" charset="-120"/>
              </a:rPr>
              <a:t>pitch range
</a:t>
            </a:r>
            <a:pPr algn="l" indent="0" marL="0">
              <a:lnSpc>
                <a:spcPts val="2600"/>
              </a:lnSpc>
              <a:buNone/>
            </a:pPr>
            <a:r>
              <a:rPr lang="en-US" sz="1500" dirty="0">
                <a:solidFill>
                  <a:srgbClr val="E8EEF7"/>
                </a:solidFill>
                <a:latin typeface="Cambria" pitchFamily="34" charset="0"/>
                <a:ea typeface="Cambria" pitchFamily="34" charset="-122"/>
                <a:cs typeface="Cambria" pitchFamily="34" charset="-120"/>
              </a:rPr>
              <a:t>the acoustic correlate of monotone speech — described by clinicians for decades.</a:t>
            </a:r>
            <a:endParaRPr lang="en-US" sz="1700" dirty="0"/>
          </a:p>
        </p:txBody>
      </p:sp>
      <p:sp>
        <p:nvSpPr>
          <p:cNvPr id="22" name="Shape 20"/>
          <p:cNvSpPr/>
          <p:nvPr/>
        </p:nvSpPr>
        <p:spPr>
          <a:xfrm>
            <a:off x="5029200" y="1783080"/>
            <a:ext cx="6583680" cy="4572000"/>
          </a:xfrm>
          <a:prstGeom prst="roundRect">
            <a:avLst>
              <a:gd name="adj" fmla="val 1800"/>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pic>
        <p:nvPicPr>
          <p:cNvPr id="23" name="Image 0" descr="C:\Users\MShaheen\Documents\parkinsons_voice_project\report\defence\figs\importance_dark.png">    </p:cNvPr>
          <p:cNvPicPr>
            <a:picLocks noChangeAspect="1"/>
          </p:cNvPicPr>
          <p:nvPr/>
        </p:nvPicPr>
        <p:blipFill>
          <a:blip r:embed="rId2"/>
          <a:stretch>
            <a:fillRect/>
          </a:stretch>
        </p:blipFill>
        <p:spPr>
          <a:xfrm>
            <a:off x="5257800" y="2011680"/>
            <a:ext cx="6126480" cy="4114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Italy: a frozen model, a trap, and a puzzle</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15</a:t>
            </a:r>
            <a:endParaRPr lang="en-US" sz="1000" dirty="0"/>
          </a:p>
        </p:txBody>
      </p:sp>
      <p:sp>
        <p:nvSpPr>
          <p:cNvPr id="4" name="Shape 2"/>
          <p:cNvSpPr/>
          <p:nvPr/>
        </p:nvSpPr>
        <p:spPr>
          <a:xfrm>
            <a:off x="964692" y="1078992"/>
            <a:ext cx="1481328" cy="402336"/>
          </a:xfrm>
          <a:prstGeom prst="roundRect">
            <a:avLst>
              <a:gd name="adj" fmla="val 15909"/>
            </a:avLst>
          </a:prstGeom>
          <a:solidFill>
            <a:srgbClr val="13233B"/>
          </a:solidFill>
          <a:ln w="9525">
            <a:solidFill>
              <a:srgbClr val="2A3D58"/>
            </a:solidFill>
            <a:prstDash val="solid"/>
          </a:ln>
        </p:spPr>
      </p:sp>
      <p:sp>
        <p:nvSpPr>
          <p:cNvPr id="5" name="Text 3"/>
          <p:cNvSpPr txBox="1"/>
          <p:nvPr/>
        </p:nvSpPr>
        <p:spPr>
          <a:xfrm>
            <a:off x="96469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raw audio</a:t>
            </a:r>
            <a:endParaRPr lang="en-US" sz="1050" dirty="0"/>
          </a:p>
        </p:txBody>
      </p:sp>
      <p:sp>
        <p:nvSpPr>
          <p:cNvPr id="6" name="Text 4"/>
          <p:cNvSpPr txBox="1"/>
          <p:nvPr/>
        </p:nvSpPr>
        <p:spPr>
          <a:xfrm>
            <a:off x="2464308"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2720340" y="1078992"/>
            <a:ext cx="1481328" cy="402336"/>
          </a:xfrm>
          <a:prstGeom prst="roundRect">
            <a:avLst>
              <a:gd name="adj" fmla="val 15909"/>
            </a:avLst>
          </a:prstGeom>
          <a:solidFill>
            <a:srgbClr val="13233B"/>
          </a:solidFill>
          <a:ln w="9525">
            <a:solidFill>
              <a:srgbClr val="2A3D58"/>
            </a:solidFill>
            <a:prstDash val="solid"/>
          </a:ln>
        </p:spPr>
      </p:sp>
      <p:sp>
        <p:nvSpPr>
          <p:cNvPr id="8" name="Text 6"/>
          <p:cNvSpPr txBox="1"/>
          <p:nvPr/>
        </p:nvSpPr>
        <p:spPr>
          <a:xfrm>
            <a:off x="2720340"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clean-up</a:t>
            </a:r>
            <a:endParaRPr lang="en-US" sz="1050" dirty="0"/>
          </a:p>
        </p:txBody>
      </p:sp>
      <p:sp>
        <p:nvSpPr>
          <p:cNvPr id="9" name="Text 7"/>
          <p:cNvSpPr txBox="1"/>
          <p:nvPr/>
        </p:nvSpPr>
        <p:spPr>
          <a:xfrm>
            <a:off x="4219956"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4475988" y="1078992"/>
            <a:ext cx="1481328" cy="402336"/>
          </a:xfrm>
          <a:prstGeom prst="roundRect">
            <a:avLst>
              <a:gd name="adj" fmla="val 15909"/>
            </a:avLst>
          </a:prstGeom>
          <a:solidFill>
            <a:srgbClr val="13233B"/>
          </a:solidFill>
          <a:ln w="9525">
            <a:solidFill>
              <a:srgbClr val="2A3D58"/>
            </a:solidFill>
            <a:prstDash val="solid"/>
          </a:ln>
        </p:spPr>
      </p:sp>
      <p:sp>
        <p:nvSpPr>
          <p:cNvPr id="11" name="Text 9"/>
          <p:cNvSpPr txBox="1"/>
          <p:nvPr/>
        </p:nvSpPr>
        <p:spPr>
          <a:xfrm>
            <a:off x="4475988"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10-s chunks</a:t>
            </a:r>
            <a:endParaRPr lang="en-US" sz="1050" dirty="0"/>
          </a:p>
        </p:txBody>
      </p:sp>
      <p:sp>
        <p:nvSpPr>
          <p:cNvPr id="12" name="Text 10"/>
          <p:cNvSpPr txBox="1"/>
          <p:nvPr/>
        </p:nvSpPr>
        <p:spPr>
          <a:xfrm>
            <a:off x="5975604"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31636" y="1078992"/>
            <a:ext cx="1481328" cy="402336"/>
          </a:xfrm>
          <a:prstGeom prst="roundRect">
            <a:avLst>
              <a:gd name="adj" fmla="val 15909"/>
            </a:avLst>
          </a:prstGeom>
          <a:solidFill>
            <a:srgbClr val="13233B"/>
          </a:solidFill>
          <a:ln w="9525">
            <a:solidFill>
              <a:srgbClr val="2A3D58"/>
            </a:solidFill>
            <a:prstDash val="solid"/>
          </a:ln>
        </p:spPr>
      </p:sp>
      <p:sp>
        <p:nvSpPr>
          <p:cNvPr id="14" name="Text 12"/>
          <p:cNvSpPr txBox="1"/>
          <p:nvPr/>
        </p:nvSpPr>
        <p:spPr>
          <a:xfrm>
            <a:off x="6231636"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74 measures</a:t>
            </a:r>
            <a:endParaRPr lang="en-US" sz="1050" dirty="0"/>
          </a:p>
        </p:txBody>
      </p:sp>
      <p:sp>
        <p:nvSpPr>
          <p:cNvPr id="15" name="Text 13"/>
          <p:cNvSpPr txBox="1"/>
          <p:nvPr/>
        </p:nvSpPr>
        <p:spPr>
          <a:xfrm>
            <a:off x="7731252"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7987284" y="1078992"/>
            <a:ext cx="1481328" cy="402336"/>
          </a:xfrm>
          <a:prstGeom prst="roundRect">
            <a:avLst>
              <a:gd name="adj" fmla="val 15909"/>
            </a:avLst>
          </a:prstGeom>
          <a:solidFill>
            <a:srgbClr val="5AB4F0">
              <a:alpha val="28000"/>
            </a:srgbClr>
          </a:solidFill>
          <a:ln w="19050">
            <a:solidFill>
              <a:srgbClr val="5AB4F0"/>
            </a:solidFill>
            <a:prstDash val="solid"/>
          </a:ln>
        </p:spPr>
      </p:sp>
      <p:sp>
        <p:nvSpPr>
          <p:cNvPr id="17" name="Text 15"/>
          <p:cNvSpPr txBox="1"/>
          <p:nvPr/>
        </p:nvSpPr>
        <p:spPr>
          <a:xfrm>
            <a:off x="7987284" y="1097280"/>
            <a:ext cx="1481328" cy="365760"/>
          </a:xfrm>
          <a:prstGeom prst="rect">
            <a:avLst/>
          </a:prstGeom>
          <a:noFill/>
          <a:ln/>
        </p:spPr>
        <p:txBody>
          <a:bodyPr wrap="square" lIns="0" tIns="0" rIns="0" bIns="0" rtlCol="0" anchor="ctr"/>
          <a:lstStyle/>
          <a:p>
            <a:pPr algn="ctr" indent="0" marL="0">
              <a:buNone/>
            </a:pPr>
            <a:r>
              <a:rPr lang="en-US" sz="1050" b="1" dirty="0">
                <a:solidFill>
                  <a:srgbClr val="E8EEF7"/>
                </a:solidFill>
                <a:latin typeface="Calibri" pitchFamily="34" charset="0"/>
                <a:ea typeface="Calibri" pitchFamily="34" charset="-122"/>
                <a:cs typeface="Calibri" pitchFamily="34" charset="-120"/>
              </a:rPr>
              <a:t>model</a:t>
            </a:r>
            <a:endParaRPr lang="en-US" sz="1050" dirty="0"/>
          </a:p>
        </p:txBody>
      </p:sp>
      <p:sp>
        <p:nvSpPr>
          <p:cNvPr id="18" name="Text 16"/>
          <p:cNvSpPr txBox="1"/>
          <p:nvPr/>
        </p:nvSpPr>
        <p:spPr>
          <a:xfrm>
            <a:off x="9486900" y="1088136"/>
            <a:ext cx="237744" cy="402336"/>
          </a:xfrm>
          <a:prstGeom prst="rect">
            <a:avLst/>
          </a:prstGeom>
          <a:noFill/>
          <a:ln/>
        </p:spPr>
        <p:txBody>
          <a:bodyPr wrap="square" lIns="0" tIns="0" rIns="0" bIns="0" rtlCol="0" anchor="ctr"/>
          <a:lstStyle/>
          <a:p>
            <a:pPr algn="ctr" indent="0" marL="0">
              <a:buNone/>
            </a:pPr>
            <a:r>
              <a:rPr lang="en-US" sz="1400" dirty="0">
                <a:solidFill>
                  <a:srgbClr val="9DB0C7"/>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9742932" y="1078992"/>
            <a:ext cx="1481328" cy="402336"/>
          </a:xfrm>
          <a:prstGeom prst="roundRect">
            <a:avLst>
              <a:gd name="adj" fmla="val 15909"/>
            </a:avLst>
          </a:prstGeom>
          <a:solidFill>
            <a:srgbClr val="13233B"/>
          </a:solidFill>
          <a:ln w="9525">
            <a:solidFill>
              <a:srgbClr val="2A3D58"/>
            </a:solidFill>
            <a:prstDash val="solid"/>
          </a:ln>
        </p:spPr>
      </p:sp>
      <p:sp>
        <p:nvSpPr>
          <p:cNvPr id="20" name="Text 18"/>
          <p:cNvSpPr txBox="1"/>
          <p:nvPr/>
        </p:nvSpPr>
        <p:spPr>
          <a:xfrm>
            <a:off x="9742932" y="1097280"/>
            <a:ext cx="1481328" cy="365760"/>
          </a:xfrm>
          <a:prstGeom prst="rect">
            <a:avLst/>
          </a:prstGeom>
          <a:noFill/>
          <a:ln/>
        </p:spPr>
        <p:txBody>
          <a:bodyPr wrap="square" lIns="0" tIns="0" rIns="0" bIns="0" rtlCol="0" anchor="ctr"/>
          <a:lstStyle/>
          <a:p>
            <a:pPr algn="ctr" indent="0" marL="0">
              <a:buNone/>
            </a:pPr>
            <a:r>
              <a:rPr lang="en-US" sz="1050" dirty="0">
                <a:solidFill>
                  <a:srgbClr val="9DB0C7"/>
                </a:solidFill>
                <a:latin typeface="Calibri" pitchFamily="34" charset="0"/>
                <a:ea typeface="Calibri" pitchFamily="34" charset="-122"/>
                <a:cs typeface="Calibri" pitchFamily="34" charset="-120"/>
              </a:rPr>
              <a:t>indication</a:t>
            </a:r>
            <a:endParaRPr lang="en-US" sz="1050" dirty="0"/>
          </a:p>
        </p:txBody>
      </p:sp>
      <p:sp>
        <p:nvSpPr>
          <p:cNvPr id="21" name="Text 19"/>
          <p:cNvSpPr txBox="1"/>
          <p:nvPr/>
        </p:nvSpPr>
        <p:spPr>
          <a:xfrm>
            <a:off x="731520" y="1965960"/>
            <a:ext cx="3931920" cy="1234440"/>
          </a:xfrm>
          <a:prstGeom prst="rect">
            <a:avLst/>
          </a:prstGeom>
          <a:noFill/>
          <a:ln/>
        </p:spPr>
        <p:txBody>
          <a:bodyPr wrap="square" lIns="0" tIns="0" rIns="0" bIns="0" rtlCol="0" anchor="ctr"/>
          <a:lstStyle/>
          <a:p>
            <a:pPr algn="l" indent="0" marL="0">
              <a:buNone/>
            </a:pPr>
            <a:r>
              <a:rPr lang="en-US" sz="1500" b="1" dirty="0">
                <a:solidFill>
                  <a:srgbClr val="FF8C42"/>
                </a:solidFill>
                <a:latin typeface="Calibri" pitchFamily="34" charset="0"/>
                <a:ea typeface="Calibri" pitchFamily="34" charset="-122"/>
                <a:cs typeface="Calibri" pitchFamily="34" charset="-120"/>
              </a:rPr>
              <a:t>Trap caught: </a:t>
            </a:r>
            <a:pPr algn="l" indent="0" marL="0">
              <a:buNone/>
            </a:pPr>
            <a:r>
              <a:rPr lang="en-US" sz="1500" dirty="0">
                <a:solidFill>
                  <a:srgbClr val="E8EEF7"/>
                </a:solidFill>
                <a:latin typeface="Calibri" pitchFamily="34" charset="0"/>
                <a:ea typeface="Calibri" pitchFamily="34" charset="-122"/>
                <a:cs typeface="Calibri" pitchFamily="34" charset="-120"/>
              </a:rPr>
              <a:t>every 44.1 kHz file was a patient. Band-limited all audio to 16 kHz.</a:t>
            </a:r>
            <a:endParaRPr lang="en-US" sz="1500" dirty="0"/>
          </a:p>
        </p:txBody>
      </p:sp>
      <p:sp>
        <p:nvSpPr>
          <p:cNvPr id="22" name="Text 20"/>
          <p:cNvSpPr txBox="1"/>
          <p:nvPr/>
        </p:nvSpPr>
        <p:spPr>
          <a:xfrm>
            <a:off x="731520" y="3337560"/>
            <a:ext cx="3931920" cy="1234440"/>
          </a:xfrm>
          <a:prstGeom prst="rect">
            <a:avLst/>
          </a:prstGeom>
          <a:noFill/>
          <a:ln/>
        </p:spPr>
        <p:txBody>
          <a:bodyPr wrap="square" lIns="0" tIns="0" rIns="0" bIns="0" rtlCol="0" anchor="ctr"/>
          <a:lstStyle/>
          <a:p>
            <a:pPr algn="l" indent="0" marL="0">
              <a:buNone/>
            </a:pPr>
            <a:r>
              <a:rPr lang="en-US" sz="1500" b="1" dirty="0">
                <a:solidFill>
                  <a:srgbClr val="5AB4F0"/>
                </a:solidFill>
                <a:latin typeface="Calibri" pitchFamily="34" charset="0"/>
                <a:ea typeface="Calibri" pitchFamily="34" charset="-122"/>
                <a:cs typeface="Calibri" pitchFamily="34" charset="-120"/>
              </a:rPr>
              <a:t>Result: </a:t>
            </a:r>
            <a:pPr algn="l" indent="0" marL="0">
              <a:buNone/>
            </a:pPr>
            <a:r>
              <a:rPr lang="en-US" sz="1500" dirty="0">
                <a:solidFill>
                  <a:srgbClr val="E8EEF7"/>
                </a:solidFill>
                <a:latin typeface="Calibri" pitchFamily="34" charset="0"/>
                <a:ea typeface="Calibri" pitchFamily="34" charset="-122"/>
                <a:cs typeface="Calibri" pitchFamily="34" charset="-120"/>
              </a:rPr>
              <a:t>AUC 0.701, balanced accuracy 0.629.</a:t>
            </a:r>
            <a:endParaRPr lang="en-US" sz="1500" dirty="0"/>
          </a:p>
        </p:txBody>
      </p:sp>
      <p:sp>
        <p:nvSpPr>
          <p:cNvPr id="23" name="Text 21"/>
          <p:cNvSpPr txBox="1"/>
          <p:nvPr/>
        </p:nvSpPr>
        <p:spPr>
          <a:xfrm>
            <a:off x="731520" y="4709160"/>
            <a:ext cx="3931920" cy="1234440"/>
          </a:xfrm>
          <a:prstGeom prst="rect">
            <a:avLst/>
          </a:prstGeom>
          <a:noFill/>
          <a:ln/>
        </p:spPr>
        <p:txBody>
          <a:bodyPr wrap="square" lIns="0" tIns="0" rIns="0" bIns="0" rtlCol="0" anchor="ctr"/>
          <a:lstStyle/>
          <a:p>
            <a:pPr algn="l" indent="0" marL="0">
              <a:buNone/>
            </a:pPr>
            <a:r>
              <a:rPr lang="en-US" sz="1500" b="1" dirty="0">
                <a:solidFill>
                  <a:srgbClr val="FF8C42"/>
                </a:solidFill>
                <a:latin typeface="Calibri" pitchFamily="34" charset="0"/>
                <a:ea typeface="Calibri" pitchFamily="34" charset="-122"/>
                <a:cs typeface="Calibri" pitchFamily="34" charset="-120"/>
              </a:rPr>
              <a:t>Puzzle: </a:t>
            </a:r>
            <a:pPr algn="l" indent="0" marL="0">
              <a:buNone/>
            </a:pPr>
            <a:r>
              <a:rPr lang="en-US" sz="1500" dirty="0">
                <a:solidFill>
                  <a:srgbClr val="E8EEF7"/>
                </a:solidFill>
                <a:latin typeface="Calibri" pitchFamily="34" charset="0"/>
                <a:ea typeface="Calibri" pitchFamily="34" charset="-122"/>
                <a:cs typeface="Calibri" pitchFamily="34" charset="-120"/>
              </a:rPr>
              <a:t>healthy young 0.626 &gt; patients 0.566. Why?</a:t>
            </a:r>
            <a:endParaRPr lang="en-US" sz="1500" dirty="0"/>
          </a:p>
        </p:txBody>
      </p:sp>
      <p:sp>
        <p:nvSpPr>
          <p:cNvPr id="24" name="Shape 22"/>
          <p:cNvSpPr/>
          <p:nvPr/>
        </p:nvSpPr>
        <p:spPr>
          <a:xfrm>
            <a:off x="4937760" y="1783080"/>
            <a:ext cx="6720840" cy="4480560"/>
          </a:xfrm>
          <a:prstGeom prst="roundRect">
            <a:avLst>
              <a:gd name="adj" fmla="val 1837"/>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pic>
        <p:nvPicPr>
          <p:cNvPr id="25" name="Image 0" descr="C:\Users\MShaheen\Documents\parkinsons_voice_project\report\defence\figs\external_dark.png">    </p:cNvPr>
          <p:cNvPicPr>
            <a:picLocks noChangeAspect="1"/>
          </p:cNvPicPr>
          <p:nvPr/>
        </p:nvPicPr>
        <p:blipFill>
          <a:blip r:embed="rId2"/>
          <a:stretch>
            <a:fillRect/>
          </a:stretch>
        </p:blipFill>
        <p:spPr>
          <a:xfrm>
            <a:off x="5166360" y="2103120"/>
            <a:ext cx="6263640" cy="38404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A system that refuses to guess</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16</a:t>
            </a:r>
            <a:endParaRPr lang="en-US" sz="1000" dirty="0"/>
          </a:p>
        </p:txBody>
      </p:sp>
      <p:sp>
        <p:nvSpPr>
          <p:cNvPr id="4" name="Shape 2"/>
          <p:cNvSpPr/>
          <p:nvPr/>
        </p:nvSpPr>
        <p:spPr>
          <a:xfrm>
            <a:off x="731520" y="1691640"/>
            <a:ext cx="5760720" cy="4389120"/>
          </a:xfrm>
          <a:prstGeom prst="roundRect">
            <a:avLst>
              <a:gd name="adj" fmla="val 1875"/>
            </a:avLst>
          </a:prstGeom>
          <a:solidFill>
            <a:srgbClr val="FFFFFF"/>
          </a:solidFill>
          <a:ln w="9525">
            <a:solidFill>
              <a:srgbClr val="2A3D58"/>
            </a:solidFill>
            <a:prstDash val="solid"/>
          </a:ln>
          <a:effectLst>
            <a:outerShdw sx="100000" sy="100000" kx="0" ky="0" algn="bl" rotWithShape="0" blurRad="101600" dist="38100" dir="5400000">
              <a:srgbClr val="000000">
                <a:alpha val="35000"/>
              </a:srgbClr>
            </a:outerShdw>
          </a:effectLst>
        </p:spPr>
      </p:sp>
      <p:pic>
        <p:nvPicPr>
          <p:cNvPr id="5" name="Image 0" descr="C:\Users\MShaheen\Documents\parkinsons_voice_project\report\figures\app_result.png">    </p:cNvPr>
          <p:cNvPicPr>
            <a:picLocks noChangeAspect="1"/>
          </p:cNvPicPr>
          <p:nvPr/>
        </p:nvPicPr>
        <p:blipFill>
          <a:blip r:embed="rId2"/>
          <a:stretch>
            <a:fillRect/>
          </a:stretch>
        </p:blipFill>
        <p:spPr>
          <a:xfrm>
            <a:off x="960120" y="1920240"/>
            <a:ext cx="5303520" cy="3633295"/>
          </a:xfrm>
          <a:prstGeom prst="rect">
            <a:avLst/>
          </a:prstGeom>
        </p:spPr>
      </p:pic>
      <p:sp>
        <p:nvSpPr>
          <p:cNvPr id="6" name="Text 3"/>
          <p:cNvSpPr txBox="1"/>
          <p:nvPr/>
        </p:nvSpPr>
        <p:spPr>
          <a:xfrm>
            <a:off x="6583680" y="2468880"/>
            <a:ext cx="4937760" cy="73152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scores 0.35–0.65 ⇒ </a:t>
            </a:r>
            <a:pPr algn="l" indent="0" marL="0">
              <a:buNone/>
            </a:pPr>
            <a:r>
              <a:rPr lang="en-US" sz="1700" b="1" dirty="0">
                <a:solidFill>
                  <a:srgbClr val="E8EEF7"/>
                </a:solidFill>
                <a:latin typeface="Calibri" pitchFamily="34" charset="0"/>
                <a:ea typeface="Calibri" pitchFamily="34" charset="-122"/>
                <a:cs typeface="Calibri" pitchFamily="34" charset="-120"/>
              </a:rPr>
              <a:t>“inconclusive”</a:t>
            </a:r>
            <a:endParaRPr lang="en-US" sz="1700" dirty="0"/>
          </a:p>
        </p:txBody>
      </p:sp>
      <p:sp>
        <p:nvSpPr>
          <p:cNvPr id="7" name="Text 4"/>
          <p:cNvSpPr txBox="1"/>
          <p:nvPr/>
        </p:nvSpPr>
        <p:spPr>
          <a:xfrm>
            <a:off x="6583680" y="3429000"/>
            <a:ext cx="4937760" cy="73152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b="1" dirty="0">
                <a:solidFill>
                  <a:srgbClr val="5AB4F0"/>
                </a:solidFill>
                <a:latin typeface="Calibri" pitchFamily="34" charset="0"/>
                <a:ea typeface="Calibri" pitchFamily="34" charset="-122"/>
                <a:cs typeface="Calibri" pitchFamily="34" charset="-120"/>
              </a:rPr>
              <a:t>100% of elderly healthy Italian speakers</a:t>
            </a:r>
            <a:pPr algn="l" indent="0" marL="0">
              <a:buNone/>
            </a:pPr>
            <a:r>
              <a:rPr lang="en-US" sz="1700" dirty="0">
                <a:solidFill>
                  <a:srgbClr val="E8EEF7"/>
                </a:solidFill>
                <a:latin typeface="Calibri" pitchFamily="34" charset="0"/>
                <a:ea typeface="Calibri" pitchFamily="34" charset="-122"/>
                <a:cs typeface="Calibri" pitchFamily="34" charset="-120"/>
              </a:rPr>
              <a:t> landed there</a:t>
            </a:r>
            <a:endParaRPr lang="en-US" sz="1700" dirty="0"/>
          </a:p>
        </p:txBody>
      </p:sp>
      <p:sp>
        <p:nvSpPr>
          <p:cNvPr id="8" name="Text 5"/>
          <p:cNvSpPr txBox="1"/>
          <p:nvPr/>
        </p:nvSpPr>
        <p:spPr>
          <a:xfrm>
            <a:off x="6583680" y="4389120"/>
            <a:ext cx="4937760" cy="73152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declining to answer is a </a:t>
            </a:r>
            <a:pPr algn="l" indent="0" marL="0">
              <a:buNone/>
            </a:pPr>
            <a:r>
              <a:rPr lang="en-US" sz="1700" b="1" dirty="0">
                <a:solidFill>
                  <a:srgbClr val="5AB4F0"/>
                </a:solidFill>
                <a:latin typeface="Calibri" pitchFamily="34" charset="0"/>
                <a:ea typeface="Calibri" pitchFamily="34" charset="-122"/>
                <a:cs typeface="Calibri" pitchFamily="34" charset="-120"/>
              </a:rPr>
              <a:t>feature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9DB0C7"/>
                </a:solidFill>
                <a:latin typeface="Cambria" pitchFamily="34" charset="0"/>
                <a:ea typeface="Cambria" pitchFamily="34" charset="-122"/>
                <a:cs typeface="Cambria" pitchFamily="34" charset="-120"/>
              </a:rPr>
              <a:t>Optional: live demonstration</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17</a:t>
            </a:r>
            <a:endParaRPr lang="en-US" sz="1000" dirty="0"/>
          </a:p>
        </p:txBody>
      </p:sp>
      <p:sp>
        <p:nvSpPr>
          <p:cNvPr id="4" name="Shape 2"/>
          <p:cNvSpPr/>
          <p:nvPr/>
        </p:nvSpPr>
        <p:spPr>
          <a:xfrm>
            <a:off x="731520" y="1783080"/>
            <a:ext cx="5394960" cy="3291840"/>
          </a:xfrm>
          <a:prstGeom prst="roundRect">
            <a:avLst>
              <a:gd name="adj" fmla="val 2500"/>
            </a:avLst>
          </a:prstGeom>
          <a:solidFill>
            <a:srgbClr val="081018"/>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5" name="Text 3"/>
          <p:cNvSpPr txBox="1"/>
          <p:nvPr/>
        </p:nvSpPr>
        <p:spPr>
          <a:xfrm>
            <a:off x="1005840" y="2011680"/>
            <a:ext cx="4937760" cy="2926080"/>
          </a:xfrm>
          <a:prstGeom prst="rect">
            <a:avLst/>
          </a:prstGeom>
          <a:noFill/>
          <a:ln/>
        </p:spPr>
        <p:txBody>
          <a:bodyPr wrap="square" lIns="0" tIns="0" rIns="0" bIns="0" rtlCol="0" anchor="ctr"/>
          <a:lstStyle/>
          <a:p>
            <a:pPr algn="l" indent="0" marL="0">
              <a:lnSpc>
                <a:spcPts val="1900"/>
              </a:lnSpc>
              <a:buNone/>
            </a:pPr>
            <a:r>
              <a:rPr lang="en-US" sz="1250" dirty="0">
                <a:solidFill>
                  <a:srgbClr val="9DB0C7"/>
                </a:solidFill>
                <a:latin typeface="Consolas" pitchFamily="34" charset="0"/>
                <a:ea typeface="Consolas" pitchFamily="34" charset="-122"/>
                <a:cs typeface="Consolas" pitchFamily="34" charset="-120"/>
              </a:rPr>
              <a:t>$ python scripts/predict_file.py ID07_pd_2_0_0.wav
</a:t>
            </a:r>
            <a:pPr algn="l" indent="0" marL="0">
              <a:lnSpc>
                <a:spcPts val="1900"/>
              </a:lnSpc>
              <a:buNone/>
            </a:pPr>
            <a:r>
              <a:rPr lang="en-US" sz="1250" b="1" dirty="0">
                <a:solidFill>
                  <a:srgbClr val="E8EEF7"/>
                </a:solidFill>
                <a:latin typeface="Consolas" pitchFamily="34" charset="0"/>
                <a:ea typeface="Consolas" pitchFamily="34" charset="-122"/>
                <a:cs typeface="Consolas" pitchFamily="34" charset="-120"/>
              </a:rPr>
              <a:t>RESEARCH MODEL RESULT (non-diagnostic)
</a:t>
            </a:r>
            <a:pPr algn="l" indent="0" marL="0">
              <a:lnSpc>
                <a:spcPts val="1900"/>
              </a:lnSpc>
              <a:buNone/>
            </a:pPr>
            <a:r>
              <a:rPr lang="en-US" sz="1250" dirty="0">
                <a:solidFill>
                  <a:srgbClr val="9DB0C7"/>
                </a:solidFill>
                <a:latin typeface="Consolas" pitchFamily="34" charset="0"/>
                <a:ea typeface="Consolas" pitchFamily="34" charset="-122"/>
                <a:cs typeface="Consolas" pitchFamily="34" charset="-120"/>
              </a:rPr>
              <a:t>Duration: 147.7 s, original sample rate 44100 Hz
</a:t>
            </a:r>
            <a:pPr algn="l" indent="0" marL="0">
              <a:lnSpc>
                <a:spcPts val="1900"/>
              </a:lnSpc>
              <a:buNone/>
            </a:pPr>
            <a:r>
              <a:rPr lang="en-US" sz="1250" dirty="0">
                <a:solidFill>
                  <a:srgbClr val="E8EEF7"/>
                </a:solidFill>
                <a:latin typeface="Consolas" pitchFamily="34" charset="0"/>
                <a:ea typeface="Consolas" pitchFamily="34" charset="-122"/>
                <a:cs typeface="Consolas" pitchFamily="34" charset="-120"/>
              </a:rPr>
              <a:t>The acoustic pattern was classified by the
research model as closer to the PD class.
</a:t>
            </a:r>
            <a:pPr algn="l" indent="0" marL="0">
              <a:lnSpc>
                <a:spcPts val="1900"/>
              </a:lnSpc>
              <a:buNone/>
            </a:pPr>
            <a:r>
              <a:rPr lang="en-US" sz="1250" b="1" dirty="0">
                <a:solidFill>
                  <a:srgbClr val="5AB4F0"/>
                </a:solidFill>
                <a:latin typeface="Consolas" pitchFamily="34" charset="0"/>
                <a:ea typeface="Consolas" pitchFamily="34" charset="-122"/>
                <a:cs typeface="Consolas" pitchFamily="34" charset="-120"/>
              </a:rPr>
              <a:t>Model score for the PD class: 0.96</a:t>
            </a:r>
            <a:endParaRPr lang="en-US" sz="1250" dirty="0"/>
          </a:p>
        </p:txBody>
      </p:sp>
      <p:sp>
        <p:nvSpPr>
          <p:cNvPr id="6" name="Text 4"/>
          <p:cNvSpPr txBox="1"/>
          <p:nvPr/>
        </p:nvSpPr>
        <p:spPr>
          <a:xfrm>
            <a:off x="6492240" y="2240280"/>
            <a:ext cx="5029200" cy="777240"/>
          </a:xfrm>
          <a:prstGeom prst="rect">
            <a:avLst/>
          </a:prstGeom>
          <a:noFill/>
          <a:ln/>
        </p:spPr>
        <p:txBody>
          <a:bodyPr wrap="square" lIns="0" tIns="0" rIns="0" bIns="0" rtlCol="0" anchor="ctr"/>
          <a:lstStyle/>
          <a:p>
            <a:pPr algn="l" indent="0" marL="0">
              <a:buNone/>
            </a:pPr>
            <a:r>
              <a:rPr lang="en-US" sz="1600" dirty="0">
                <a:solidFill>
                  <a:srgbClr val="5AB4F0"/>
                </a:solidFill>
                <a:latin typeface="Calibri" pitchFamily="34" charset="0"/>
                <a:ea typeface="Calibri" pitchFamily="34" charset="-122"/>
                <a:cs typeface="Calibri" pitchFamily="34" charset="-120"/>
              </a:rPr>
              <a:t>▪  </a:t>
            </a:r>
            <a:pPr algn="l" indent="0" marL="0">
              <a:buNone/>
            </a:pPr>
            <a:r>
              <a:rPr lang="en-US" sz="1600" dirty="0">
                <a:solidFill>
                  <a:srgbClr val="E8EEF7"/>
                </a:solidFill>
                <a:latin typeface="Calibri" pitchFamily="34" charset="0"/>
                <a:ea typeface="Calibri" pitchFamily="34" charset="-122"/>
                <a:cs typeface="Calibri" pitchFamily="34" charset="-120"/>
              </a:rPr>
              <a:t>safest demo: a corpus recording, command line</a:t>
            </a:r>
            <a:endParaRPr lang="en-US" sz="1600" dirty="0"/>
          </a:p>
        </p:txBody>
      </p:sp>
      <p:sp>
        <p:nvSpPr>
          <p:cNvPr id="7" name="Text 5"/>
          <p:cNvSpPr txBox="1"/>
          <p:nvPr/>
        </p:nvSpPr>
        <p:spPr>
          <a:xfrm>
            <a:off x="6492240" y="3108960"/>
            <a:ext cx="5029200" cy="777240"/>
          </a:xfrm>
          <a:prstGeom prst="rect">
            <a:avLst/>
          </a:prstGeom>
          <a:noFill/>
          <a:ln/>
        </p:spPr>
        <p:txBody>
          <a:bodyPr wrap="square" lIns="0" tIns="0" rIns="0" bIns="0" rtlCol="0" anchor="ctr"/>
          <a:lstStyle/>
          <a:p>
            <a:pPr algn="l" indent="0" marL="0">
              <a:buNone/>
            </a:pPr>
            <a:r>
              <a:rPr lang="en-US" sz="1600" dirty="0">
                <a:solidFill>
                  <a:srgbClr val="5AB4F0"/>
                </a:solidFill>
                <a:latin typeface="Calibri" pitchFamily="34" charset="0"/>
                <a:ea typeface="Calibri" pitchFamily="34" charset="-122"/>
                <a:cs typeface="Calibri" pitchFamily="34" charset="-120"/>
              </a:rPr>
              <a:t>▪  </a:t>
            </a:r>
            <a:pPr algn="l" indent="0" marL="0">
              <a:buNone/>
            </a:pPr>
            <a:r>
              <a:rPr lang="en-US" sz="1600" dirty="0">
                <a:solidFill>
                  <a:srgbClr val="E8EEF7"/>
                </a:solidFill>
                <a:latin typeface="Calibri" pitchFamily="34" charset="0"/>
                <a:ea typeface="Calibri" pitchFamily="34" charset="-122"/>
                <a:cs typeface="Calibri" pitchFamily="34" charset="-120"/>
              </a:rPr>
              <a:t>analysis takes about one minute</a:t>
            </a:r>
            <a:endParaRPr lang="en-US" sz="1600" dirty="0"/>
          </a:p>
        </p:txBody>
      </p:sp>
      <p:sp>
        <p:nvSpPr>
          <p:cNvPr id="8" name="Text 6"/>
          <p:cNvSpPr txBox="1"/>
          <p:nvPr/>
        </p:nvSpPr>
        <p:spPr>
          <a:xfrm>
            <a:off x="6492240" y="3977640"/>
            <a:ext cx="5029200" cy="777240"/>
          </a:xfrm>
          <a:prstGeom prst="rect">
            <a:avLst/>
          </a:prstGeom>
          <a:noFill/>
          <a:ln/>
        </p:spPr>
        <p:txBody>
          <a:bodyPr wrap="square" lIns="0" tIns="0" rIns="0" bIns="0" rtlCol="0" anchor="ctr"/>
          <a:lstStyle/>
          <a:p>
            <a:pPr algn="l" indent="0" marL="0">
              <a:buNone/>
            </a:pPr>
            <a:r>
              <a:rPr lang="en-US" sz="1600" dirty="0">
                <a:solidFill>
                  <a:srgbClr val="5AB4F0"/>
                </a:solidFill>
                <a:latin typeface="Calibri" pitchFamily="34" charset="0"/>
                <a:ea typeface="Calibri" pitchFamily="34" charset="-122"/>
                <a:cs typeface="Calibri" pitchFamily="34" charset="-120"/>
              </a:rPr>
              <a:t>▪  </a:t>
            </a:r>
            <a:pPr algn="l" indent="0" marL="0">
              <a:buNone/>
            </a:pPr>
            <a:r>
              <a:rPr lang="en-US" sz="1600" dirty="0">
                <a:solidFill>
                  <a:srgbClr val="E8EEF7"/>
                </a:solidFill>
                <a:latin typeface="Calibri" pitchFamily="34" charset="0"/>
                <a:ea typeface="Calibri" pitchFamily="34" charset="-122"/>
                <a:cs typeface="Calibri" pitchFamily="34" charset="-120"/>
              </a:rPr>
              <a:t>fallback: the screenshots on the previous slide carry the same content</a:t>
            </a:r>
            <a:endParaRPr lang="en-US" sz="1600" dirty="0"/>
          </a:p>
        </p:txBody>
      </p:sp>
      <p:sp>
        <p:nvSpPr>
          <p:cNvPr id="9" name="Text 7"/>
          <p:cNvSpPr txBox="1"/>
          <p:nvPr/>
        </p:nvSpPr>
        <p:spPr>
          <a:xfrm>
            <a:off x="822960" y="5394960"/>
            <a:ext cx="10543032" cy="365760"/>
          </a:xfrm>
          <a:prstGeom prst="rect">
            <a:avLst/>
          </a:prstGeom>
          <a:noFill/>
          <a:ln/>
        </p:spPr>
        <p:txBody>
          <a:bodyPr wrap="square" lIns="0" tIns="0" rIns="0" bIns="0" rtlCol="0" anchor="ctr"/>
          <a:lstStyle/>
          <a:p>
            <a:pPr algn="ctr" indent="0" marL="0">
              <a:buNone/>
            </a:pPr>
            <a:r>
              <a:rPr lang="en-US" sz="1300" i="1" dirty="0">
                <a:solidFill>
                  <a:srgbClr val="9DB0C7"/>
                </a:solidFill>
                <a:latin typeface="Calibri" pitchFamily="34" charset="0"/>
                <a:ea typeface="Calibri" pitchFamily="34" charset="-122"/>
                <a:cs typeface="Calibri" pitchFamily="34" charset="-120"/>
              </a:rPr>
              <a:t>skip this slide if time is short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The limits, stated plainly</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18</a:t>
            </a:r>
            <a:endParaRPr lang="en-US" sz="1000" dirty="0"/>
          </a:p>
        </p:txBody>
      </p:sp>
      <p:sp>
        <p:nvSpPr>
          <p:cNvPr id="4" name="Shape 2"/>
          <p:cNvSpPr/>
          <p:nvPr/>
        </p:nvSpPr>
        <p:spPr>
          <a:xfrm>
            <a:off x="608076" y="1691640"/>
            <a:ext cx="5257800" cy="1417320"/>
          </a:xfrm>
          <a:prstGeom prst="roundRect">
            <a:avLst>
              <a:gd name="adj" fmla="val 5806"/>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90956" y="1911096"/>
            <a:ext cx="502920" cy="502920"/>
          </a:xfrm>
          <a:prstGeom prst="ellipse">
            <a:avLst/>
          </a:prstGeom>
          <a:solidFill>
            <a:srgbClr val="182B47"/>
          </a:solidFill>
          <a:ln w="15875">
            <a:solidFill>
              <a:srgbClr val="9DB0C7"/>
            </a:solidFill>
            <a:prstDash val="solid"/>
          </a:ln>
          <a:effectLst>
            <a:outerShdw sx="100000" sy="100000" kx="0" ky="0" algn="bl" rotWithShape="0" blurRad="88900" dist="25400" dir="5400000">
              <a:srgbClr val="000000">
                <a:alpha val="35000"/>
              </a:srgbClr>
            </a:outerShdw>
          </a:effectLst>
        </p:spPr>
      </p:sp>
      <p:pic>
        <p:nvPicPr>
          <p:cNvPr id="6" name="Image 0" descr="C:\Users\MShaheen\Documents\parkinsons_voice_project\report\defence\figs\ic_person.png">    </p:cNvPr>
          <p:cNvPicPr>
            <a:picLocks noChangeAspect="1"/>
          </p:cNvPicPr>
          <p:nvPr/>
        </p:nvPicPr>
        <p:blipFill>
          <a:blip r:embed="rId2"/>
          <a:stretch>
            <a:fillRect/>
          </a:stretch>
        </p:blipFill>
        <p:spPr>
          <a:xfrm>
            <a:off x="921715" y="2041855"/>
            <a:ext cx="241402" cy="241402"/>
          </a:xfrm>
          <a:prstGeom prst="rect">
            <a:avLst/>
          </a:prstGeom>
        </p:spPr>
      </p:pic>
      <p:sp>
        <p:nvSpPr>
          <p:cNvPr id="7" name="Text 4"/>
          <p:cNvSpPr txBox="1"/>
          <p:nvPr/>
        </p:nvSpPr>
        <p:spPr>
          <a:xfrm>
            <a:off x="1476756" y="1819656"/>
            <a:ext cx="4206240" cy="502920"/>
          </a:xfrm>
          <a:prstGeom prst="rect">
            <a:avLst/>
          </a:prstGeom>
          <a:noFill/>
          <a:ln/>
        </p:spPr>
        <p:txBody>
          <a:bodyPr wrap="square" lIns="0" tIns="0" rIns="0" bIns="0" rtlCol="0" anchor="ctr"/>
          <a:lstStyle/>
          <a:p>
            <a:pPr algn="l" indent="0" marL="0">
              <a:buNone/>
            </a:pPr>
            <a:r>
              <a:rPr lang="en-US" sz="1500" b="1" dirty="0">
                <a:solidFill>
                  <a:srgbClr val="E8EEF7"/>
                </a:solidFill>
                <a:latin typeface="Cambria" pitchFamily="34" charset="0"/>
                <a:ea typeface="Cambria" pitchFamily="34" charset="-122"/>
                <a:cs typeface="Cambria" pitchFamily="34" charset="-120"/>
              </a:rPr>
              <a:t>37 subjects — one device, one language</a:t>
            </a:r>
            <a:endParaRPr lang="en-US" sz="1500" dirty="0"/>
          </a:p>
        </p:txBody>
      </p:sp>
      <p:sp>
        <p:nvSpPr>
          <p:cNvPr id="8" name="Text 5"/>
          <p:cNvSpPr txBox="1"/>
          <p:nvPr/>
        </p:nvSpPr>
        <p:spPr>
          <a:xfrm>
            <a:off x="1476756" y="2350008"/>
            <a:ext cx="4206240" cy="685800"/>
          </a:xfrm>
          <a:prstGeom prst="rect">
            <a:avLst/>
          </a:prstGeom>
          <a:noFill/>
          <a:ln/>
        </p:spPr>
        <p:txBody>
          <a:bodyPr wrap="square" lIns="0" tIns="0" rIns="0" bIns="0" rtlCol="0" anchor="ctr"/>
          <a:lstStyle/>
          <a:p>
            <a:pPr algn="l" indent="0" marL="0">
              <a:buNone/>
            </a:pPr>
            <a:r>
              <a:rPr lang="en-US" sz="1200" dirty="0">
                <a:solidFill>
                  <a:srgbClr val="9DB0C7"/>
                </a:solidFill>
                <a:latin typeface="Calibri" pitchFamily="34" charset="0"/>
                <a:ea typeface="Calibri" pitchFamily="34" charset="-122"/>
                <a:cs typeface="Calibri" pitchFamily="34" charset="-120"/>
              </a:rPr>
              <a:t>the dominant limitation; every result is reported with its spread</a:t>
            </a:r>
            <a:endParaRPr lang="en-US" sz="1200" dirty="0"/>
          </a:p>
        </p:txBody>
      </p:sp>
      <p:sp>
        <p:nvSpPr>
          <p:cNvPr id="9" name="Shape 6"/>
          <p:cNvSpPr/>
          <p:nvPr/>
        </p:nvSpPr>
        <p:spPr>
          <a:xfrm>
            <a:off x="6323076" y="1691640"/>
            <a:ext cx="5257800" cy="1417320"/>
          </a:xfrm>
          <a:prstGeom prst="roundRect">
            <a:avLst>
              <a:gd name="adj" fmla="val 5806"/>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0" name="Shape 7"/>
          <p:cNvSpPr/>
          <p:nvPr/>
        </p:nvSpPr>
        <p:spPr>
          <a:xfrm>
            <a:off x="6505956" y="1911096"/>
            <a:ext cx="502920" cy="502920"/>
          </a:xfrm>
          <a:prstGeom prst="ellipse">
            <a:avLst/>
          </a:prstGeom>
          <a:solidFill>
            <a:srgbClr val="182B47"/>
          </a:solidFill>
          <a:ln w="15875">
            <a:solidFill>
              <a:srgbClr val="9DB0C7"/>
            </a:solidFill>
            <a:prstDash val="solid"/>
          </a:ln>
          <a:effectLst>
            <a:outerShdw sx="100000" sy="100000" kx="0" ky="0" algn="bl" rotWithShape="0" blurRad="88900" dist="25400" dir="5400000">
              <a:srgbClr val="000000">
                <a:alpha val="35000"/>
              </a:srgbClr>
            </a:outerShdw>
          </a:effectLst>
        </p:spPr>
      </p:sp>
      <p:pic>
        <p:nvPicPr>
          <p:cNvPr id="11" name="Image 1" descr="C:\Users\MShaheen\Documents\parkinsons_voice_project\report\defence\figs\ic_mic.png">    </p:cNvPr>
          <p:cNvPicPr>
            <a:picLocks noChangeAspect="1"/>
          </p:cNvPicPr>
          <p:nvPr/>
        </p:nvPicPr>
        <p:blipFill>
          <a:blip r:embed="rId3"/>
          <a:stretch>
            <a:fillRect/>
          </a:stretch>
        </p:blipFill>
        <p:spPr>
          <a:xfrm>
            <a:off x="6636715" y="2041855"/>
            <a:ext cx="241402" cy="241402"/>
          </a:xfrm>
          <a:prstGeom prst="rect">
            <a:avLst/>
          </a:prstGeom>
        </p:spPr>
      </p:pic>
      <p:sp>
        <p:nvSpPr>
          <p:cNvPr id="12" name="Text 8"/>
          <p:cNvSpPr txBox="1"/>
          <p:nvPr/>
        </p:nvSpPr>
        <p:spPr>
          <a:xfrm>
            <a:off x="7191756" y="1819656"/>
            <a:ext cx="4206240" cy="502920"/>
          </a:xfrm>
          <a:prstGeom prst="rect">
            <a:avLst/>
          </a:prstGeom>
          <a:noFill/>
          <a:ln/>
        </p:spPr>
        <p:txBody>
          <a:bodyPr wrap="square" lIns="0" tIns="0" rIns="0" bIns="0" rtlCol="0" anchor="ctr"/>
          <a:lstStyle/>
          <a:p>
            <a:pPr algn="l" indent="0" marL="0">
              <a:buNone/>
            </a:pPr>
            <a:r>
              <a:rPr lang="en-US" sz="1500" b="1" dirty="0">
                <a:solidFill>
                  <a:srgbClr val="E8EEF7"/>
                </a:solidFill>
                <a:latin typeface="Cambria" pitchFamily="34" charset="0"/>
                <a:ea typeface="Cambria" pitchFamily="34" charset="-122"/>
                <a:cs typeface="Cambria" pitchFamily="34" charset="-120"/>
              </a:rPr>
              <a:t>vowel-defined measures on continuous speech</a:t>
            </a:r>
            <a:endParaRPr lang="en-US" sz="1500" dirty="0"/>
          </a:p>
        </p:txBody>
      </p:sp>
      <p:sp>
        <p:nvSpPr>
          <p:cNvPr id="13" name="Text 9"/>
          <p:cNvSpPr txBox="1"/>
          <p:nvPr/>
        </p:nvSpPr>
        <p:spPr>
          <a:xfrm>
            <a:off x="7191756" y="2350008"/>
            <a:ext cx="4206240" cy="685800"/>
          </a:xfrm>
          <a:prstGeom prst="rect">
            <a:avLst/>
          </a:prstGeom>
          <a:noFill/>
          <a:ln/>
        </p:spPr>
        <p:txBody>
          <a:bodyPr wrap="square" lIns="0" tIns="0" rIns="0" bIns="0" rtlCol="0" anchor="ctr"/>
          <a:lstStyle/>
          <a:p>
            <a:pPr algn="l" indent="0" marL="0">
              <a:buNone/>
            </a:pPr>
            <a:r>
              <a:rPr lang="en-US" sz="1200" dirty="0">
                <a:solidFill>
                  <a:srgbClr val="9DB0C7"/>
                </a:solidFill>
                <a:latin typeface="Calibri" pitchFamily="34" charset="0"/>
                <a:ea typeface="Calibri" pitchFamily="34" charset="-122"/>
                <a:cs typeface="Calibri" pitchFamily="34" charset="-120"/>
              </a:rPr>
              <a:t>jitter, shimmer and HNR are noisier here; CPPS compensates only partly</a:t>
            </a:r>
            <a:endParaRPr lang="en-US" sz="1200" dirty="0"/>
          </a:p>
        </p:txBody>
      </p:sp>
      <p:sp>
        <p:nvSpPr>
          <p:cNvPr id="14" name="Shape 10"/>
          <p:cNvSpPr/>
          <p:nvPr/>
        </p:nvSpPr>
        <p:spPr>
          <a:xfrm>
            <a:off x="608076" y="3520440"/>
            <a:ext cx="5257800" cy="1417320"/>
          </a:xfrm>
          <a:prstGeom prst="roundRect">
            <a:avLst>
              <a:gd name="adj" fmla="val 5806"/>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15" name="Shape 11"/>
          <p:cNvSpPr/>
          <p:nvPr/>
        </p:nvSpPr>
        <p:spPr>
          <a:xfrm>
            <a:off x="790956" y="3739896"/>
            <a:ext cx="502920" cy="502920"/>
          </a:xfrm>
          <a:prstGeom prst="ellipse">
            <a:avLst/>
          </a:prstGeom>
          <a:solidFill>
            <a:srgbClr val="182B47"/>
          </a:solidFill>
          <a:ln w="15875">
            <a:solidFill>
              <a:srgbClr val="9DB0C7"/>
            </a:solidFill>
            <a:prstDash val="solid"/>
          </a:ln>
          <a:effectLst>
            <a:outerShdw sx="100000" sy="100000" kx="0" ky="0" algn="bl" rotWithShape="0" blurRad="88900" dist="25400" dir="5400000">
              <a:srgbClr val="000000">
                <a:alpha val="35000"/>
              </a:srgbClr>
            </a:outerShdw>
          </a:effectLst>
        </p:spPr>
      </p:sp>
      <p:pic>
        <p:nvPicPr>
          <p:cNvPr id="16" name="Image 2" descr="C:\Users\MShaheen\Documents\parkinsons_voice_project\report\defence\figs\ic_gauge.png">    </p:cNvPr>
          <p:cNvPicPr>
            <a:picLocks noChangeAspect="1"/>
          </p:cNvPicPr>
          <p:nvPr/>
        </p:nvPicPr>
        <p:blipFill>
          <a:blip r:embed="rId4"/>
          <a:stretch>
            <a:fillRect/>
          </a:stretch>
        </p:blipFill>
        <p:spPr>
          <a:xfrm>
            <a:off x="921715" y="3870655"/>
            <a:ext cx="241402" cy="241402"/>
          </a:xfrm>
          <a:prstGeom prst="rect">
            <a:avLst/>
          </a:prstGeom>
        </p:spPr>
      </p:pic>
      <p:sp>
        <p:nvSpPr>
          <p:cNvPr id="17" name="Text 12"/>
          <p:cNvSpPr txBox="1"/>
          <p:nvPr/>
        </p:nvSpPr>
        <p:spPr>
          <a:xfrm>
            <a:off x="1476756" y="3648456"/>
            <a:ext cx="4206240" cy="502920"/>
          </a:xfrm>
          <a:prstGeom prst="rect">
            <a:avLst/>
          </a:prstGeom>
          <a:noFill/>
          <a:ln/>
        </p:spPr>
        <p:txBody>
          <a:bodyPr wrap="square" lIns="0" tIns="0" rIns="0" bIns="0" rtlCol="0" anchor="ctr"/>
          <a:lstStyle/>
          <a:p>
            <a:pPr algn="l" indent="0" marL="0">
              <a:buNone/>
            </a:pPr>
            <a:r>
              <a:rPr lang="en-US" sz="1500" b="1" dirty="0">
                <a:solidFill>
                  <a:srgbClr val="E8EEF7"/>
                </a:solidFill>
                <a:latin typeface="Cambria" pitchFamily="34" charset="0"/>
                <a:ea typeface="Cambria" pitchFamily="34" charset="-122"/>
                <a:cs typeface="Cambria" pitchFamily="34" charset="-120"/>
              </a:rPr>
              <a:t>scores are not calibrated probabilities</a:t>
            </a:r>
            <a:endParaRPr lang="en-US" sz="1500" dirty="0"/>
          </a:p>
        </p:txBody>
      </p:sp>
      <p:sp>
        <p:nvSpPr>
          <p:cNvPr id="18" name="Text 13"/>
          <p:cNvSpPr txBox="1"/>
          <p:nvPr/>
        </p:nvSpPr>
        <p:spPr>
          <a:xfrm>
            <a:off x="1476756" y="4178808"/>
            <a:ext cx="4206240" cy="685800"/>
          </a:xfrm>
          <a:prstGeom prst="rect">
            <a:avLst/>
          </a:prstGeom>
          <a:noFill/>
          <a:ln/>
        </p:spPr>
        <p:txBody>
          <a:bodyPr wrap="square" lIns="0" tIns="0" rIns="0" bIns="0" rtlCol="0" anchor="ctr"/>
          <a:lstStyle/>
          <a:p>
            <a:pPr algn="l" indent="0" marL="0">
              <a:buNone/>
            </a:pPr>
            <a:r>
              <a:rPr lang="en-US" sz="1200" dirty="0">
                <a:solidFill>
                  <a:srgbClr val="9DB0C7"/>
                </a:solidFill>
                <a:latin typeface="Calibri" pitchFamily="34" charset="0"/>
                <a:ea typeface="Calibri" pitchFamily="34" charset="-122"/>
                <a:cs typeface="Calibri" pitchFamily="34" charset="-120"/>
              </a:rPr>
              <a:t>0.7 does not mean a 70% chance of disease — the wording enforces this</a:t>
            </a:r>
            <a:endParaRPr lang="en-US" sz="1200" dirty="0"/>
          </a:p>
        </p:txBody>
      </p:sp>
      <p:sp>
        <p:nvSpPr>
          <p:cNvPr id="19" name="Shape 14"/>
          <p:cNvSpPr/>
          <p:nvPr/>
        </p:nvSpPr>
        <p:spPr>
          <a:xfrm>
            <a:off x="6323076" y="3520440"/>
            <a:ext cx="5257800" cy="1417320"/>
          </a:xfrm>
          <a:prstGeom prst="roundRect">
            <a:avLst>
              <a:gd name="adj" fmla="val 5806"/>
            </a:avLst>
          </a:prstGeom>
          <a:solidFill>
            <a:srgbClr val="13233B"/>
          </a:solidFill>
          <a:ln w="9525">
            <a:solidFill>
              <a:srgbClr val="2A3D58"/>
            </a:solidFill>
            <a:prstDash val="solid"/>
          </a:ln>
          <a:effectLst>
            <a:outerShdw sx="100000" sy="100000" kx="0" ky="0" algn="bl" rotWithShape="0" blurRad="101600" dist="38100" dir="5400000">
              <a:srgbClr val="000000">
                <a:alpha val="35000"/>
              </a:srgbClr>
            </a:outerShdw>
          </a:effectLst>
        </p:spPr>
      </p:sp>
      <p:sp>
        <p:nvSpPr>
          <p:cNvPr id="20" name="Shape 15"/>
          <p:cNvSpPr/>
          <p:nvPr/>
        </p:nvSpPr>
        <p:spPr>
          <a:xfrm>
            <a:off x="6505956" y="3739896"/>
            <a:ext cx="502920" cy="502920"/>
          </a:xfrm>
          <a:prstGeom prst="ellipse">
            <a:avLst/>
          </a:prstGeom>
          <a:solidFill>
            <a:srgbClr val="182B47"/>
          </a:solidFill>
          <a:ln w="15875">
            <a:solidFill>
              <a:srgbClr val="9DB0C7"/>
            </a:solidFill>
            <a:prstDash val="solid"/>
          </a:ln>
          <a:effectLst>
            <a:outerShdw sx="100000" sy="100000" kx="0" ky="0" algn="bl" rotWithShape="0" blurRad="88900" dist="25400" dir="5400000">
              <a:srgbClr val="000000">
                <a:alpha val="35000"/>
              </a:srgbClr>
            </a:outerShdw>
          </a:effectLst>
        </p:spPr>
      </p:sp>
      <p:pic>
        <p:nvPicPr>
          <p:cNvPr id="21" name="Image 3" descr="C:\Users\MShaheen\Documents\parkinsons_voice_project\report\defence\figs\ic_search.png">    </p:cNvPr>
          <p:cNvPicPr>
            <a:picLocks noChangeAspect="1"/>
          </p:cNvPicPr>
          <p:nvPr/>
        </p:nvPicPr>
        <p:blipFill>
          <a:blip r:embed="rId5"/>
          <a:stretch>
            <a:fillRect/>
          </a:stretch>
        </p:blipFill>
        <p:spPr>
          <a:xfrm>
            <a:off x="6636715" y="3870655"/>
            <a:ext cx="241402" cy="241402"/>
          </a:xfrm>
          <a:prstGeom prst="rect">
            <a:avLst/>
          </a:prstGeom>
        </p:spPr>
      </p:pic>
      <p:sp>
        <p:nvSpPr>
          <p:cNvPr id="22" name="Text 16"/>
          <p:cNvSpPr txBox="1"/>
          <p:nvPr/>
        </p:nvSpPr>
        <p:spPr>
          <a:xfrm>
            <a:off x="7191756" y="3648456"/>
            <a:ext cx="4206240" cy="502920"/>
          </a:xfrm>
          <a:prstGeom prst="rect">
            <a:avLst/>
          </a:prstGeom>
          <a:noFill/>
          <a:ln/>
        </p:spPr>
        <p:txBody>
          <a:bodyPr wrap="square" lIns="0" tIns="0" rIns="0" bIns="0" rtlCol="0" anchor="ctr"/>
          <a:lstStyle/>
          <a:p>
            <a:pPr algn="l" indent="0" marL="0">
              <a:buNone/>
            </a:pPr>
            <a:r>
              <a:rPr lang="en-US" sz="1500" b="1" dirty="0">
                <a:solidFill>
                  <a:srgbClr val="E8EEF7"/>
                </a:solidFill>
                <a:latin typeface="Cambria" pitchFamily="34" charset="0"/>
                <a:ea typeface="Cambria" pitchFamily="34" charset="-122"/>
                <a:cs typeface="Cambria" pitchFamily="34" charset="-120"/>
              </a:rPr>
              <a:t>one external corpus — one data point</a:t>
            </a:r>
            <a:endParaRPr lang="en-US" sz="1500" dirty="0"/>
          </a:p>
        </p:txBody>
      </p:sp>
      <p:sp>
        <p:nvSpPr>
          <p:cNvPr id="23" name="Text 17"/>
          <p:cNvSpPr txBox="1"/>
          <p:nvPr/>
        </p:nvSpPr>
        <p:spPr>
          <a:xfrm>
            <a:off x="7191756" y="4178808"/>
            <a:ext cx="4206240" cy="685800"/>
          </a:xfrm>
          <a:prstGeom prst="rect">
            <a:avLst/>
          </a:prstGeom>
          <a:noFill/>
          <a:ln/>
        </p:spPr>
        <p:txBody>
          <a:bodyPr wrap="square" lIns="0" tIns="0" rIns="0" bIns="0" rtlCol="0" anchor="ctr"/>
          <a:lstStyle/>
          <a:p>
            <a:pPr algn="l" indent="0" marL="0">
              <a:buNone/>
            </a:pPr>
            <a:r>
              <a:rPr lang="en-US" sz="1200" dirty="0">
                <a:solidFill>
                  <a:srgbClr val="9DB0C7"/>
                </a:solidFill>
                <a:latin typeface="Calibri" pitchFamily="34" charset="0"/>
                <a:ea typeface="Calibri" pitchFamily="34" charset="-122"/>
                <a:cs typeface="Calibri" pitchFamily="34" charset="-120"/>
              </a:rPr>
              <a:t>0.701 AUC measures generalisation once; it does not characterise it</a:t>
            </a:r>
            <a:endParaRPr lang="en-US" sz="1200" dirty="0"/>
          </a:p>
        </p:txBody>
      </p:sp>
      <p:sp>
        <p:nvSpPr>
          <p:cNvPr id="24" name="Text 18"/>
          <p:cNvSpPr txBox="1"/>
          <p:nvPr/>
        </p:nvSpPr>
        <p:spPr>
          <a:xfrm>
            <a:off x="822960" y="5257800"/>
            <a:ext cx="10543032" cy="457200"/>
          </a:xfrm>
          <a:prstGeom prst="rect">
            <a:avLst/>
          </a:prstGeom>
          <a:noFill/>
          <a:ln/>
        </p:spPr>
        <p:txBody>
          <a:bodyPr wrap="square" lIns="0" tIns="0" rIns="0" bIns="0" rtlCol="0" anchor="ctr"/>
          <a:lstStyle/>
          <a:p>
            <a:pPr algn="ctr" indent="0" marL="0">
              <a:buNone/>
            </a:pPr>
            <a:r>
              <a:rPr lang="en-US" sz="1600" i="1" dirty="0">
                <a:solidFill>
                  <a:srgbClr val="E8EEF7"/>
                </a:solidFill>
                <a:latin typeface="Cambria" pitchFamily="34" charset="0"/>
                <a:ea typeface="Cambria" pitchFamily="34" charset="-122"/>
                <a:cs typeface="Cambria" pitchFamily="34" charset="-120"/>
              </a:rPr>
              <a:t>Every limitation above is stated in the report itself — none is left for an examiner to discover.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3112" cy="685800"/>
          </a:xfrm>
          <a:prstGeom prst="rect">
            <a:avLst/>
          </a:prstGeom>
          <a:noFill/>
          <a:ln/>
        </p:spPr>
        <p:txBody>
          <a:bodyPr wrap="square" lIns="0" tIns="0" rIns="0" bIns="0" rtlCol="0" anchor="ctr"/>
          <a:lstStyle/>
          <a:p>
            <a:pPr algn="l" indent="0" marL="0">
              <a:buNone/>
            </a:pPr>
            <a:r>
              <a:rPr lang="en-US" sz="3000" b="1" dirty="0">
                <a:solidFill>
                  <a:srgbClr val="E8EEF7"/>
                </a:solidFill>
                <a:latin typeface="Cambria" pitchFamily="34" charset="0"/>
                <a:ea typeface="Cambria" pitchFamily="34" charset="-122"/>
                <a:cs typeface="Cambria" pitchFamily="34" charset="-120"/>
              </a:rPr>
              <a:t>What this is — and is not</a:t>
            </a:r>
            <a:endParaRPr lang="en-US" sz="30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19</a:t>
            </a:r>
            <a:endParaRPr lang="en-US" sz="1000" dirty="0"/>
          </a:p>
        </p:txBody>
      </p:sp>
      <p:sp>
        <p:nvSpPr>
          <p:cNvPr id="4" name="Text 2"/>
          <p:cNvSpPr txBox="1"/>
          <p:nvPr/>
        </p:nvSpPr>
        <p:spPr>
          <a:xfrm>
            <a:off x="2377440" y="1554480"/>
            <a:ext cx="7863840" cy="411480"/>
          </a:xfrm>
          <a:prstGeom prst="rect">
            <a:avLst/>
          </a:prstGeom>
          <a:noFill/>
          <a:ln/>
        </p:spPr>
        <p:txBody>
          <a:bodyPr wrap="square" lIns="0" tIns="0" rIns="0" bIns="0" rtlCol="0" anchor="ctr"/>
          <a:lstStyle/>
          <a:p>
            <a:pPr algn="l" indent="0" marL="0">
              <a:buNone/>
            </a:pPr>
            <a:r>
              <a:rPr lang="en-US" sz="1500" dirty="0">
                <a:solidFill>
                  <a:srgbClr val="9DB0C7"/>
                </a:solidFill>
                <a:latin typeface="Calibri" pitchFamily="34" charset="0"/>
                <a:ea typeface="Calibri" pitchFamily="34" charset="-122"/>
                <a:cs typeface="Calibri" pitchFamily="34" charset="-120"/>
              </a:rPr>
              <a:t>▪  </a:t>
            </a:r>
            <a:pPr algn="l" indent="0" marL="0">
              <a:buNone/>
            </a:pPr>
            <a:r>
              <a:rPr lang="en-US" sz="1500" dirty="0">
                <a:solidFill>
                  <a:srgbClr val="9DB0C7"/>
                </a:solidFill>
                <a:latin typeface="Calibri" pitchFamily="34" charset="0"/>
                <a:ea typeface="Calibri" pitchFamily="34" charset="-122"/>
                <a:cs typeface="Calibri" pitchFamily="34" charset="-120"/>
              </a:rPr>
              <a:t>not a diagnostic tool; many conditions change a voice</a:t>
            </a:r>
            <a:endParaRPr lang="en-US" sz="1500" dirty="0"/>
          </a:p>
        </p:txBody>
      </p:sp>
      <p:sp>
        <p:nvSpPr>
          <p:cNvPr id="5" name="Text 3"/>
          <p:cNvSpPr txBox="1"/>
          <p:nvPr/>
        </p:nvSpPr>
        <p:spPr>
          <a:xfrm>
            <a:off x="2377440" y="2057400"/>
            <a:ext cx="7863840" cy="411480"/>
          </a:xfrm>
          <a:prstGeom prst="rect">
            <a:avLst/>
          </a:prstGeom>
          <a:noFill/>
          <a:ln/>
        </p:spPr>
        <p:txBody>
          <a:bodyPr wrap="square" lIns="0" tIns="0" rIns="0" bIns="0" rtlCol="0" anchor="ctr"/>
          <a:lstStyle/>
          <a:p>
            <a:pPr algn="l" indent="0" marL="0">
              <a:buNone/>
            </a:pPr>
            <a:r>
              <a:rPr lang="en-US" sz="1500" dirty="0">
                <a:solidFill>
                  <a:srgbClr val="9DB0C7"/>
                </a:solidFill>
                <a:latin typeface="Calibri" pitchFamily="34" charset="0"/>
                <a:ea typeface="Calibri" pitchFamily="34" charset="-122"/>
                <a:cs typeface="Calibri" pitchFamily="34" charset="-120"/>
              </a:rPr>
              <a:t>▪  </a:t>
            </a:r>
            <a:pPr algn="l" indent="0" marL="0">
              <a:buNone/>
            </a:pPr>
            <a:r>
              <a:rPr lang="en-US" sz="1500" dirty="0">
                <a:solidFill>
                  <a:srgbClr val="9DB0C7"/>
                </a:solidFill>
                <a:latin typeface="Calibri" pitchFamily="34" charset="0"/>
                <a:ea typeface="Calibri" pitchFamily="34" charset="-122"/>
                <a:cs typeface="Calibri" pitchFamily="34" charset="-120"/>
              </a:rPr>
              <a:t>37 subjects, one language, one device</a:t>
            </a:r>
            <a:endParaRPr lang="en-US" sz="1500" dirty="0"/>
          </a:p>
        </p:txBody>
      </p:sp>
      <p:sp>
        <p:nvSpPr>
          <p:cNvPr id="6" name="Text 4"/>
          <p:cNvSpPr txBox="1"/>
          <p:nvPr/>
        </p:nvSpPr>
        <p:spPr>
          <a:xfrm>
            <a:off x="822960" y="2971800"/>
            <a:ext cx="10543032" cy="1280160"/>
          </a:xfrm>
          <a:prstGeom prst="rect">
            <a:avLst/>
          </a:prstGeom>
          <a:noFill/>
          <a:ln/>
        </p:spPr>
        <p:txBody>
          <a:bodyPr wrap="square" lIns="0" tIns="0" rIns="0" bIns="0" rtlCol="0" anchor="ctr"/>
          <a:lstStyle/>
          <a:p>
            <a:pPr algn="ctr" indent="0" marL="0">
              <a:lnSpc>
                <a:spcPts val="4200"/>
              </a:lnSpc>
              <a:buNone/>
            </a:pPr>
            <a:r>
              <a:rPr lang="en-US" sz="3000" b="1" dirty="0">
                <a:solidFill>
                  <a:srgbClr val="E8EEF7"/>
                </a:solidFill>
                <a:latin typeface="Cambria" pitchFamily="34" charset="0"/>
                <a:ea typeface="Cambria" pitchFamily="34" charset="-122"/>
                <a:cs typeface="Cambria" pitchFamily="34" charset="-120"/>
              </a:rPr>
              <a:t>Validation design moves the number</a:t>
            </a:r>
            <a:endParaRPr lang="en-US" sz="3000" dirty="0"/>
          </a:p>
          <a:p>
            <a:pPr algn="ctr" indent="0" marL="0">
              <a:lnSpc>
                <a:spcPts val="4200"/>
              </a:lnSpc>
              <a:buNone/>
            </a:pPr>
            <a:r>
              <a:rPr lang="en-US" sz="3000" b="1" dirty="0">
                <a:solidFill>
                  <a:srgbClr val="E8EEF7"/>
                </a:solidFill>
                <a:latin typeface="Cambria" pitchFamily="34" charset="0"/>
                <a:ea typeface="Cambria" pitchFamily="34" charset="-122"/>
                <a:cs typeface="Cambria" pitchFamily="34" charset="-120"/>
              </a:rPr>
              <a:t>more than model engineering does.</a:t>
            </a:r>
            <a:endParaRPr lang="en-US" sz="3000" dirty="0"/>
          </a:p>
        </p:txBody>
      </p:sp>
      <p:sp>
        <p:nvSpPr>
          <p:cNvPr id="7" name="Text 5"/>
          <p:cNvSpPr txBox="1"/>
          <p:nvPr/>
        </p:nvSpPr>
        <p:spPr>
          <a:xfrm>
            <a:off x="822960" y="4434840"/>
            <a:ext cx="10543032" cy="457200"/>
          </a:xfrm>
          <a:prstGeom prst="rect">
            <a:avLst/>
          </a:prstGeom>
          <a:noFill/>
          <a:ln/>
        </p:spPr>
        <p:txBody>
          <a:bodyPr wrap="square" lIns="0" tIns="0" rIns="0" bIns="0" rtlCol="0" anchor="ctr"/>
          <a:lstStyle/>
          <a:p>
            <a:pPr algn="ctr" indent="0" marL="0">
              <a:buNone/>
            </a:pPr>
            <a:r>
              <a:rPr lang="en-US" sz="1900" i="1" dirty="0">
                <a:solidFill>
                  <a:srgbClr val="9DB0C7"/>
                </a:solidFill>
                <a:latin typeface="Cambria" pitchFamily="34" charset="0"/>
                <a:ea typeface="Cambria" pitchFamily="34" charset="-122"/>
                <a:cs typeface="Cambria" pitchFamily="34" charset="-120"/>
              </a:rPr>
              <a:t>An honest </a:t>
            </a:r>
            <a:pPr algn="ctr" indent="0" marL="0">
              <a:buNone/>
            </a:pPr>
            <a:r>
              <a:rPr lang="en-US" sz="1900" b="1" i="1" dirty="0">
                <a:solidFill>
                  <a:srgbClr val="5AB4F0"/>
                </a:solidFill>
                <a:latin typeface="Cambria" pitchFamily="34" charset="0"/>
                <a:ea typeface="Cambria" pitchFamily="34" charset="-122"/>
                <a:cs typeface="Cambria" pitchFamily="34" charset="-120"/>
              </a:rPr>
              <a:t>0.822</a:t>
            </a:r>
            <a:pPr algn="ctr" indent="0" marL="0">
              <a:buNone/>
            </a:pPr>
            <a:r>
              <a:rPr lang="en-US" sz="1900" i="1" dirty="0">
                <a:solidFill>
                  <a:srgbClr val="9DB0C7"/>
                </a:solidFill>
                <a:latin typeface="Cambria" pitchFamily="34" charset="0"/>
                <a:ea typeface="Cambria" pitchFamily="34" charset="-122"/>
                <a:cs typeface="Cambria" pitchFamily="34" charset="-120"/>
              </a:rPr>
              <a:t> is worth more than an inflated one.</a:t>
            </a:r>
            <a:endParaRPr lang="en-US" sz="1900" dirty="0"/>
          </a:p>
        </p:txBody>
      </p:sp>
      <p:pic>
        <p:nvPicPr>
          <p:cNvPr id="8" name="Image 0" descr="C:\Users\MShaheen\Documents\parkinsons_voice_project\report\defence\figs\wave_hero.png">    </p:cNvPr>
          <p:cNvPicPr>
            <a:picLocks noChangeAspect="1"/>
          </p:cNvPicPr>
          <p:nvPr/>
        </p:nvPicPr>
        <p:blipFill>
          <a:blip r:embed="rId2"/>
          <a:stretch>
            <a:fillRect/>
          </a:stretch>
        </p:blipFill>
        <p:spPr>
          <a:xfrm>
            <a:off x="0" y="5806440"/>
            <a:ext cx="12188952" cy="105156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C:\Users\MShaheen\Documents\parkinsons_voice_project\report\defence\figs\wave_hero.png">    </p:cNvPr>
          <p:cNvPicPr>
            <a:picLocks noChangeAspect="1"/>
          </p:cNvPicPr>
          <p:nvPr/>
        </p:nvPicPr>
        <p:blipFill>
          <a:blip r:embed="rId2"/>
          <a:stretch>
            <a:fillRect/>
          </a:stretch>
        </p:blipFill>
        <p:spPr>
          <a:xfrm>
            <a:off x="0" y="5440680"/>
            <a:ext cx="12188952" cy="1417320"/>
          </a:xfrm>
          <a:prstGeom prst="rect">
            <a:avLst/>
          </a:prstGeom>
        </p:spPr>
      </p:pic>
      <p:sp>
        <p:nvSpPr>
          <p:cNvPr id="3" name="Text 0"/>
          <p:cNvSpPr txBox="1"/>
          <p:nvPr/>
        </p:nvSpPr>
        <p:spPr>
          <a:xfrm>
            <a:off x="822960" y="2286000"/>
            <a:ext cx="10543032" cy="914400"/>
          </a:xfrm>
          <a:prstGeom prst="rect">
            <a:avLst/>
          </a:prstGeom>
          <a:noFill/>
          <a:ln/>
        </p:spPr>
        <p:txBody>
          <a:bodyPr wrap="square" lIns="0" tIns="0" rIns="0" bIns="0" rtlCol="0" anchor="ctr"/>
          <a:lstStyle/>
          <a:p>
            <a:pPr algn="ctr" indent="0" marL="0">
              <a:buNone/>
            </a:pPr>
            <a:r>
              <a:rPr lang="en-US" sz="4400" b="1" dirty="0">
                <a:solidFill>
                  <a:srgbClr val="E8EEF7"/>
                </a:solidFill>
                <a:latin typeface="Cambria" pitchFamily="34" charset="0"/>
                <a:ea typeface="Cambria" pitchFamily="34" charset="-122"/>
                <a:cs typeface="Cambria" pitchFamily="34" charset="-120"/>
              </a:rPr>
              <a:t>Thank you</a:t>
            </a:r>
            <a:endParaRPr lang="en-US" sz="4400" dirty="0"/>
          </a:p>
        </p:txBody>
      </p:sp>
      <p:sp>
        <p:nvSpPr>
          <p:cNvPr id="4" name="Text 1"/>
          <p:cNvSpPr txBox="1"/>
          <p:nvPr/>
        </p:nvSpPr>
        <p:spPr>
          <a:xfrm>
            <a:off x="822960" y="3383280"/>
            <a:ext cx="10543032" cy="457200"/>
          </a:xfrm>
          <a:prstGeom prst="rect">
            <a:avLst/>
          </a:prstGeom>
          <a:noFill/>
          <a:ln/>
        </p:spPr>
        <p:txBody>
          <a:bodyPr wrap="square" lIns="0" tIns="0" rIns="0" bIns="0" rtlCol="0" anchor="ctr"/>
          <a:lstStyle/>
          <a:p>
            <a:pPr algn="ctr" indent="0" marL="0">
              <a:buNone/>
            </a:pPr>
            <a:r>
              <a:rPr lang="en-US" sz="1700" dirty="0">
                <a:solidFill>
                  <a:srgbClr val="9DB0C7"/>
                </a:solidFill>
                <a:latin typeface="Calibri" pitchFamily="34" charset="0"/>
                <a:ea typeface="Calibri" pitchFamily="34" charset="-122"/>
                <a:cs typeface="Calibri" pitchFamily="34" charset="-120"/>
              </a:rPr>
              <a:t>Questions welcome.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Why 82% and not 95%?</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21</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published 95%+ figures usually split recordings or windows, not people</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our own pipeline: 0.909 leaky vs 0.775 honest — same model</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0.822 is measured on people the model never heard</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Why not deep learning?</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22</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37 subjects is far below what deep networks need</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examiners can ask this model which measurements it used</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our small neural network collapsed in the confounder test (0.671 → 0.526)</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Why balanced accuracy?</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23</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classes are imbalanced: 42 HC vs 31 PD recordings</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“always healthy” scores 0.575 accuracy and finds zero patients</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balanced accuracy gives that model 0.500 — correctly exposing it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Why reject the 0.840 ensemble?</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24</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the +0.02 adoption margin was fixed before the experiments</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0.018 is smaller than the seed-to-seed noise (~0.03): a statistical tie</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we report 0.840 openly — we just did not let it drive the decision</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Can it diagnose Parkinson's?</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25</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no — and it is not designed to</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colds, laryngitis, ageing, smoking also change the voice</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a non-diagnostic disclaimer appears before and after every result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Is 37 subjects too few?</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26</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yes — it is the main limitation, stated in every report</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we report variability, repeat with 3 seeds, use grouped validation</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and we tested externally on a second corpus of 61 speakers</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Is it just detecting male vs female voices?</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27</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we tested it: removed all absolute-pitch features and re-ran everything</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the selected model held: 0.768 → 0.780</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the small neural network collapsed — and was excluded</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02920" y="365760"/>
            <a:ext cx="11183112" cy="731520"/>
          </a:xfrm>
          <a:prstGeom prst="rect">
            <a:avLst/>
          </a:prstGeom>
          <a:noFill/>
          <a:ln/>
        </p:spPr>
        <p:txBody>
          <a:bodyPr wrap="square" lIns="0" tIns="0" rIns="0" bIns="0" rtlCol="0" anchor="ctr"/>
          <a:lstStyle/>
          <a:p>
            <a:pPr indent="0" marL="0">
              <a:buNone/>
            </a:pPr>
            <a:r>
              <a:rPr lang="en-US" sz="1600" dirty="0">
                <a:solidFill>
                  <a:srgbClr val="9DB0C7"/>
                </a:solidFill>
                <a:latin typeface="Cambria" pitchFamily="34" charset="0"/>
                <a:ea typeface="Cambria" pitchFamily="34" charset="-122"/>
                <a:cs typeface="Cambria" pitchFamily="34" charset="-120"/>
              </a:rPr>
              <a:t>Backup  </a:t>
            </a:r>
            <a:pPr indent="0" marL="0">
              <a:buNone/>
            </a:pPr>
            <a:r>
              <a:rPr lang="en-US" sz="2600" b="1" dirty="0">
                <a:solidFill>
                  <a:srgbClr val="E8EEF7"/>
                </a:solidFill>
                <a:latin typeface="Cambria" pitchFamily="34" charset="0"/>
                <a:ea typeface="Cambria" pitchFamily="34" charset="-122"/>
                <a:cs typeface="Cambria" pitchFamily="34" charset="-120"/>
              </a:rPr>
              <a:t>Hardest technical problem?</a:t>
            </a:r>
            <a:endParaRPr lang="en-US" sz="1600" dirty="0"/>
          </a:p>
        </p:txBody>
      </p:sp>
      <p:sp>
        <p:nvSpPr>
          <p:cNvPr id="3" name="Text 1"/>
          <p:cNvSpPr txBox="1"/>
          <p:nvPr/>
        </p:nvSpPr>
        <p:spPr>
          <a:xfrm>
            <a:off x="11622024" y="6382512"/>
            <a:ext cx="384048" cy="310896"/>
          </a:xfrm>
          <a:prstGeom prst="rect">
            <a:avLst/>
          </a:prstGeom>
          <a:noFill/>
          <a:ln/>
        </p:spPr>
        <p:txBody>
          <a:bodyPr wrap="square" lIns="0" tIns="0" rIns="0" bIns="0" rtlCol="0" anchor="ctr"/>
          <a:lstStyle/>
          <a:p>
            <a:pPr algn="r" indent="0" marL="0">
              <a:buNone/>
            </a:pPr>
            <a:r>
              <a:rPr lang="en-US" sz="1000" dirty="0">
                <a:solidFill>
                  <a:srgbClr val="9DB0C7"/>
                </a:solidFill>
                <a:latin typeface="Calibri" pitchFamily="34" charset="0"/>
                <a:ea typeface="Calibri" pitchFamily="34" charset="-122"/>
                <a:cs typeface="Calibri" pitchFamily="34" charset="-120"/>
              </a:rPr>
              <a:t>28</a:t>
            </a:r>
            <a:endParaRPr lang="en-US" sz="1000" dirty="0"/>
          </a:p>
        </p:txBody>
      </p:sp>
      <p:sp>
        <p:nvSpPr>
          <p:cNvPr id="4" name="Text 2"/>
          <p:cNvSpPr txBox="1"/>
          <p:nvPr/>
        </p:nvSpPr>
        <p:spPr>
          <a:xfrm>
            <a:off x="1463040" y="201168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in the Italian corpus, every 44.1 kHz file belonged to the patient group</a:t>
            </a:r>
            <a:endParaRPr lang="en-US" sz="1700" dirty="0"/>
          </a:p>
        </p:txBody>
      </p:sp>
      <p:sp>
        <p:nvSpPr>
          <p:cNvPr id="5" name="Text 3"/>
          <p:cNvSpPr txBox="1"/>
          <p:nvPr/>
        </p:nvSpPr>
        <p:spPr>
          <a:xfrm>
            <a:off x="1463040" y="278892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a model could “detect Parkinson's” by detecting microphone bandwidth</a:t>
            </a:r>
            <a:endParaRPr lang="en-US" sz="1700" dirty="0"/>
          </a:p>
        </p:txBody>
      </p:sp>
      <p:sp>
        <p:nvSpPr>
          <p:cNvPr id="6" name="Text 4"/>
          <p:cNvSpPr txBox="1"/>
          <p:nvPr/>
        </p:nvSpPr>
        <p:spPr>
          <a:xfrm>
            <a:off x="1463040" y="3566160"/>
            <a:ext cx="9601200" cy="548640"/>
          </a:xfrm>
          <a:prstGeom prst="rect">
            <a:avLst/>
          </a:prstGeom>
          <a:noFill/>
          <a:ln/>
        </p:spPr>
        <p:txBody>
          <a:bodyPr wrap="square" lIns="0" tIns="0" rIns="0" bIns="0" rtlCol="0" anchor="ctr"/>
          <a:lstStyle/>
          <a:p>
            <a:pPr algn="l" indent="0" marL="0">
              <a:buNone/>
            </a:pPr>
            <a:r>
              <a:rPr lang="en-US" sz="1700" dirty="0">
                <a:solidFill>
                  <a:srgbClr val="5AB4F0"/>
                </a:solidFill>
                <a:latin typeface="Calibri" pitchFamily="34" charset="0"/>
                <a:ea typeface="Calibri" pitchFamily="34" charset="-122"/>
                <a:cs typeface="Calibri" pitchFamily="34" charset="-120"/>
              </a:rPr>
              <a:t>▪  </a:t>
            </a:r>
            <a:pPr algn="l" indent="0" marL="0">
              <a:buNone/>
            </a:pPr>
            <a:r>
              <a:rPr lang="en-US" sz="1700" dirty="0">
                <a:solidFill>
                  <a:srgbClr val="E8EEF7"/>
                </a:solidFill>
                <a:latin typeface="Calibri" pitchFamily="34" charset="0"/>
                <a:ea typeface="Calibri" pitchFamily="34" charset="-122"/>
                <a:cs typeface="Calibri" pitchFamily="34" charset="-120"/>
              </a:rPr>
              <a:t>caught at inspection; all audio band-limited to 16 kHz before evaluation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Signal Analysis Using Machine Learning for Early Detection of Parkinson's Disease</dc:title>
  <dc:subject>PptxGenJS Presentation</dc:subject>
  <dc:creator>Suhail Mohamed Alhammali</dc:creator>
  <cp:lastModifiedBy>Suhail Mohamed Alhammali</cp:lastModifiedBy>
  <cp:revision>1</cp:revision>
  <dcterms:created xsi:type="dcterms:W3CDTF">2026-09-02T17:16:33Z</dcterms:created>
  <dcterms:modified xsi:type="dcterms:W3CDTF">2026-09-02T17:16:33Z</dcterms:modified>
</cp:coreProperties>
</file>