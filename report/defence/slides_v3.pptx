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1" d="100"/>
          <a:sy n="41" d="100"/>
        </p:scale>
        <p:origin x="807"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6774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Suhail. This is my graduation project about the voice and Parkinson's disease.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program, one question. Listen to a recording. Does its pattern look more like patients, or like healthy people? Thirty-seven people. Seventy-four numbers per voice. And it is not a diagnosis. It is a screening helper.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Parkinson's starts in the brain. Less dopamine. The muscles lose fine control. All muscles. Also the small muscles of speech. The voice becomes quieter, flatter, less steady. Ninety percent of patients get voice changes. And they can start early. The weakness that shakes a hand also moves the voice.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voice is made in three stages. The lungs push the air. The vocal folds vibrate very fast. That vibration is the pitch. The mouth and tongue shape the sound into letters. Like a musical instrument. Parkinson's can disturb every one of these stages.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 computer hear? The sound wave hits the microphone. It becomes an electrical signal. Then the ADC, the analog to digital converter, measures the signal 44,100 times every second. Each measurement is one number. A two-minute recording becomes about five million numbers.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choices. Mono: one channel, one list of numbers. Enough for one voice. And WAV files. WAV keeps every number exactly as recorded. Why not MP3? MP3 deletes small details to save space. But the small details are exactly what we measure.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called MDVR-KCL. A public research dataset from King's College London. Thirty-seven people. Twenty-one healthy, sixteen with Parkinson's. Seventy-three recordings, about two minutes each, on a phone. Everyone reads a text and has a conversation. Normal speech. And we checked every file before training.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measuring, five careful cleaning steps. One channel. One clock for all recordings. Center the wave. Trim the silence at the edges only. Same loudness for everyone. And one refusal: we did not remove noise. Noise removal smooths away the small irregularities. But those irregularities are the medical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every recording we compute seventy-four numbers. Each answers a simple question. Is the pitch flat or lively? Is the vibration steady? Is the voice clear or breathy? Are there many pauses? How fast does the mouth move? Every number has a medical reason behind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the computer learn? Training: we show it many recordings with the answers. It finds the pattern. Testing: new people, no answers. Can it still tell? And one golden rule. Never test on a person the computer trained on. A student who saw the exam questions proves nothing. This rule is the heart of our project. The next slide shows why.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Same data. Same model. Only the split changed. Tested the wrong way, on voices it partly heard before: 0.909. Looks amazing. [Click.] Tested the honest way, only on people it never heard: 0.775. The difference is memorising people. Not detecting disease. This is why many published 95 percent results are not what they seem. Our number is honest.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is a Random Forest. Three hundred small decision trees look at the seventy-four numbers. Then they vote. Why this model? We can ask it which numbers it used. It is explainable. Its favourite number is pitch range. The monotone sign doctors already know. Four models competed. This one won.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good is it? Balanced accuracy 0.822, on people it never heard. Sensitivity 77 percent: of all true patients, how many did we catch? Specificity 87 percent: of all healthy people, how many did we clear? Why not plain accuracy? A lazy model that always says healthy scores 57.5 percent and finds zero patients.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counts every recording. Thirty-six healthy correctly cleared. Six false alarms. Seven patients missed. Twenty-four caught. Out of 73 recordings, 60 correct and 13 mistakes. Every screening tool makes mistakes. Honest tools count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hardest test. Sixty-one Italian speakers. Different language, microphones, rooms. And the model was frozen. No retraining. It still ranks a patient above a healthy person 70 percent of the time. And for every elderly healthy speaker, it said: cannot tell. It refused to guess. Knowing when to say I don't know is part of being honest.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One: the voice carries a real, measurable signal. Two: we tested honestly. Only on people the computer never heard. Three: it is a screening helper, not a diagnosis. A doctor decides. An honest 0.822 is worth more than an inflated number.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27548" y="777240"/>
            <a:ext cx="1133856" cy="1133856"/>
          </a:xfrm>
          <a:prstGeom prst="ellipse">
            <a:avLst/>
          </a:prstGeom>
          <a:solidFill>
            <a:srgbClr val="43307A">
              <a:alpha val="65000"/>
            </a:srgbClr>
          </a:solidFill>
          <a:ln w="19050">
            <a:solidFill>
              <a:srgbClr val="F2A93B"/>
            </a:solidFill>
            <a:prstDash val="solid"/>
          </a:ln>
        </p:spPr>
      </p:sp>
      <p:pic>
        <p:nvPicPr>
          <p:cNvPr id="3" name="Image 0" descr="C:\Users\MShaheen\Documents\parkinsons_voice_project\report\defence\figs\w_mic.png"/>
          <p:cNvPicPr>
            <a:picLocks noChangeAspect="1"/>
          </p:cNvPicPr>
          <p:nvPr/>
        </p:nvPicPr>
        <p:blipFill>
          <a:blip r:embed="rId4"/>
          <a:stretch>
            <a:fillRect/>
          </a:stretch>
        </p:blipFill>
        <p:spPr>
          <a:xfrm>
            <a:off x="5811012" y="1060704"/>
            <a:ext cx="566928" cy="566928"/>
          </a:xfrm>
          <a:prstGeom prst="rect">
            <a:avLst/>
          </a:prstGeom>
        </p:spPr>
      </p:pic>
      <p:sp>
        <p:nvSpPr>
          <p:cNvPr id="4" name="Text 1"/>
          <p:cNvSpPr txBox="1"/>
          <p:nvPr/>
        </p:nvSpPr>
        <p:spPr>
          <a:xfrm>
            <a:off x="822960" y="2240280"/>
            <a:ext cx="10543032" cy="1554480"/>
          </a:xfrm>
          <a:prstGeom prst="rect">
            <a:avLst/>
          </a:prstGeom>
          <a:noFill/>
          <a:ln/>
        </p:spPr>
        <p:txBody>
          <a:bodyPr wrap="square" lIns="0" tIns="0" rIns="0" bIns="0" rtlCol="0" anchor="ctr"/>
          <a:lstStyle/>
          <a:p>
            <a:pPr marL="0" indent="0" algn="ctr">
              <a:lnSpc>
                <a:spcPts val="4200"/>
              </a:lnSpc>
              <a:buNone/>
            </a:pPr>
            <a:r>
              <a:rPr lang="en-US" sz="3000" b="1" dirty="0">
                <a:solidFill>
                  <a:srgbClr val="F5F2FC"/>
                </a:solidFill>
                <a:latin typeface="Bookman Old Style" pitchFamily="34" charset="0"/>
                <a:ea typeface="Bookman Old Style" pitchFamily="34" charset="-122"/>
                <a:cs typeface="Bookman Old Style" pitchFamily="34" charset="-120"/>
              </a:rPr>
              <a:t>Voice Signal Analysis Using Machine Learning</a:t>
            </a:r>
            <a:endParaRPr lang="en-US" sz="3000" dirty="0"/>
          </a:p>
          <a:p>
            <a:pPr marL="0" indent="0" algn="ctr">
              <a:lnSpc>
                <a:spcPts val="4200"/>
              </a:lnSpc>
              <a:buNone/>
            </a:pPr>
            <a:r>
              <a:rPr lang="en-US" sz="3000" b="1" dirty="0">
                <a:solidFill>
                  <a:srgbClr val="F5F2FC"/>
                </a:solidFill>
                <a:latin typeface="Bookman Old Style" pitchFamily="34" charset="0"/>
                <a:ea typeface="Bookman Old Style" pitchFamily="34" charset="-122"/>
                <a:cs typeface="Bookman Old Style" pitchFamily="34" charset="-120"/>
              </a:rPr>
              <a:t>for Early Detection of Parkinson's Disease</a:t>
            </a:r>
            <a:endParaRPr lang="en-US" sz="3000" dirty="0"/>
          </a:p>
        </p:txBody>
      </p:sp>
      <p:sp>
        <p:nvSpPr>
          <p:cNvPr id="5" name="Text 2"/>
          <p:cNvSpPr txBox="1"/>
          <p:nvPr/>
        </p:nvSpPr>
        <p:spPr>
          <a:xfrm>
            <a:off x="822960" y="3977640"/>
            <a:ext cx="10543032" cy="45720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Suhail Mohamed Alhammali</a:t>
            </a:r>
            <a:endParaRPr lang="en-US" sz="2000" dirty="0"/>
          </a:p>
        </p:txBody>
      </p:sp>
      <p:sp>
        <p:nvSpPr>
          <p:cNvPr id="6" name="Text 3"/>
          <p:cNvSpPr txBox="1"/>
          <p:nvPr/>
        </p:nvSpPr>
        <p:spPr>
          <a:xfrm>
            <a:off x="822960" y="4434840"/>
            <a:ext cx="10543032" cy="365760"/>
          </a:xfrm>
          <a:prstGeom prst="rect">
            <a:avLst/>
          </a:prstGeom>
          <a:noFill/>
          <a:ln/>
        </p:spPr>
        <p:txBody>
          <a:bodyPr wrap="square" lIns="0" tIns="0" rIns="0" bIns="0" rtlCol="0" anchor="ctr"/>
          <a:lstStyle/>
          <a:p>
            <a:pPr marL="0" indent="0" algn="ctr">
              <a:buNone/>
            </a:pPr>
            <a:r>
              <a:rPr lang="en-US" sz="1400" dirty="0">
                <a:solidFill>
                  <a:srgbClr val="B9B1D6"/>
                </a:solidFill>
                <a:latin typeface="Calibri" pitchFamily="34" charset="0"/>
                <a:ea typeface="Calibri" pitchFamily="34" charset="-122"/>
                <a:cs typeface="Calibri" pitchFamily="34" charset="-120"/>
              </a:rPr>
              <a:t>ID 2200208522      Supervisor: Dr. Adel Adyaf</a:t>
            </a:r>
            <a:endParaRPr lang="en-US" sz="1400" dirty="0"/>
          </a:p>
        </p:txBody>
      </p:sp>
      <p:sp>
        <p:nvSpPr>
          <p:cNvPr id="7" name="Text 4"/>
          <p:cNvSpPr txBox="1"/>
          <p:nvPr/>
        </p:nvSpPr>
        <p:spPr>
          <a:xfrm>
            <a:off x="822960" y="4983480"/>
            <a:ext cx="10543032" cy="365760"/>
          </a:xfrm>
          <a:prstGeom prst="rect">
            <a:avLst/>
          </a:prstGeom>
          <a:noFill/>
          <a:ln/>
        </p:spPr>
        <p:txBody>
          <a:bodyPr wrap="square" lIns="0" tIns="0" rIns="0" bIns="0" rtlCol="0" anchor="ctr"/>
          <a:lstStyle/>
          <a:p>
            <a:pPr marL="0" indent="0" algn="ctr">
              <a:buNone/>
            </a:pPr>
            <a:r>
              <a:rPr lang="en-US" sz="1250" dirty="0">
                <a:solidFill>
                  <a:srgbClr val="B9B1D6"/>
                </a:solidFill>
                <a:latin typeface="Calibri" pitchFamily="34" charset="0"/>
                <a:ea typeface="Calibri" pitchFamily="34" charset="-122"/>
                <a:cs typeface="Calibri" pitchFamily="34" charset="-120"/>
              </a:rPr>
              <a:t>Department of Biomedical Engineering  ·  Faculty of Engineering  ·  University of Tripoli  ·  Spring 2026</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01  </a:t>
            </a:r>
            <a:r>
              <a:rPr lang="en-US" sz="1300" kern="0" spc="200" dirty="0">
                <a:solidFill>
                  <a:srgbClr val="6A6284"/>
                </a:solidFill>
                <a:latin typeface="Calibri" pitchFamily="34" charset="0"/>
                <a:ea typeface="Calibri" pitchFamily="34" charset="-122"/>
                <a:cs typeface="Calibri" pitchFamily="34" charset="-120"/>
              </a:rPr>
              <a:t>·  THE QUESTION</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One program, one question</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1188720" y="1691640"/>
            <a:ext cx="9811512" cy="1691640"/>
          </a:xfrm>
          <a:prstGeom prst="roundRect">
            <a:avLst>
              <a:gd name="adj" fmla="val 64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Text 4"/>
          <p:cNvSpPr txBox="1"/>
          <p:nvPr/>
        </p:nvSpPr>
        <p:spPr>
          <a:xfrm>
            <a:off x="1188720" y="1691640"/>
            <a:ext cx="9811512" cy="1691640"/>
          </a:xfrm>
          <a:prstGeom prst="rect">
            <a:avLst/>
          </a:prstGeom>
          <a:noFill/>
          <a:ln/>
        </p:spPr>
        <p:txBody>
          <a:bodyPr wrap="square" lIns="2540" tIns="2540" rIns="2540" bIns="2540" rtlCol="0" anchor="ctr"/>
          <a:lstStyle/>
          <a:p>
            <a:pPr marL="0" indent="0" algn="ctr">
              <a:lnSpc>
                <a:spcPts val="3400"/>
              </a:lnSpc>
              <a:buNone/>
            </a:pPr>
            <a:r>
              <a:rPr lang="en-US" sz="2100" dirty="0">
                <a:solidFill>
                  <a:srgbClr val="241A45"/>
                </a:solidFill>
                <a:latin typeface="Bookman Old Style" pitchFamily="34" charset="0"/>
                <a:ea typeface="Bookman Old Style" pitchFamily="34" charset="-122"/>
                <a:cs typeface="Bookman Old Style" pitchFamily="34" charset="-120"/>
              </a:rPr>
              <a:t>Listen to a voice recording.  Does its pattern look more like
</a:t>
            </a:r>
            <a:r>
              <a:rPr lang="en-US" sz="2100" b="1" dirty="0">
                <a:solidFill>
                  <a:srgbClr val="D98A1F"/>
                </a:solidFill>
                <a:latin typeface="Bookman Old Style" pitchFamily="34" charset="0"/>
                <a:ea typeface="Bookman Old Style" pitchFamily="34" charset="-122"/>
                <a:cs typeface="Bookman Old Style" pitchFamily="34" charset="-120"/>
              </a:rPr>
              <a:t>Parkinson's patients</a:t>
            </a:r>
            <a:r>
              <a:rPr lang="en-US" sz="2100" dirty="0">
                <a:solidFill>
                  <a:srgbClr val="241A45"/>
                </a:solidFill>
                <a:latin typeface="Bookman Old Style" pitchFamily="34" charset="0"/>
                <a:ea typeface="Bookman Old Style" pitchFamily="34" charset="-122"/>
                <a:cs typeface="Bookman Old Style" pitchFamily="34" charset="-120"/>
              </a:rPr>
              <a:t> — or like </a:t>
            </a:r>
            <a:r>
              <a:rPr lang="en-US" sz="2100" b="1" dirty="0">
                <a:solidFill>
                  <a:srgbClr val="43307A"/>
                </a:solidFill>
                <a:latin typeface="Bookman Old Style" pitchFamily="34" charset="0"/>
                <a:ea typeface="Bookman Old Style" pitchFamily="34" charset="-122"/>
                <a:cs typeface="Bookman Old Style" pitchFamily="34" charset="-120"/>
              </a:rPr>
              <a:t>healthy people</a:t>
            </a:r>
            <a:r>
              <a:rPr lang="en-US" sz="2100" dirty="0">
                <a:solidFill>
                  <a:srgbClr val="241A45"/>
                </a:solidFill>
                <a:latin typeface="Bookman Old Style" pitchFamily="34" charset="0"/>
                <a:ea typeface="Bookman Old Style" pitchFamily="34" charset="-122"/>
                <a:cs typeface="Bookman Old Style" pitchFamily="34" charset="-120"/>
              </a:rPr>
              <a:t>?</a:t>
            </a:r>
            <a:endParaRPr lang="en-US" sz="2100" dirty="0"/>
          </a:p>
        </p:txBody>
      </p:sp>
      <p:sp>
        <p:nvSpPr>
          <p:cNvPr id="7" name="Shape 5"/>
          <p:cNvSpPr/>
          <p:nvPr/>
        </p:nvSpPr>
        <p:spPr>
          <a:xfrm>
            <a:off x="699516" y="4069080"/>
            <a:ext cx="3200400" cy="1691640"/>
          </a:xfrm>
          <a:prstGeom prst="roundRect">
            <a:avLst>
              <a:gd name="adj" fmla="val 64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8" name="Shape 6"/>
          <p:cNvSpPr/>
          <p:nvPr/>
        </p:nvSpPr>
        <p:spPr>
          <a:xfrm>
            <a:off x="1970532" y="3739896"/>
            <a:ext cx="658368" cy="658368"/>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9" name="Image 0" descr="C:\Users\MShaheen\Documents\parkinsons_voice_project\report\defence\figs\v_person.png"/>
          <p:cNvPicPr>
            <a:picLocks noChangeAspect="1"/>
          </p:cNvPicPr>
          <p:nvPr/>
        </p:nvPicPr>
        <p:blipFill>
          <a:blip r:embed="rId4"/>
          <a:stretch>
            <a:fillRect/>
          </a:stretch>
        </p:blipFill>
        <p:spPr>
          <a:xfrm>
            <a:off x="2141708" y="3911072"/>
            <a:ext cx="316017" cy="316017"/>
          </a:xfrm>
          <a:prstGeom prst="rect">
            <a:avLst/>
          </a:prstGeom>
        </p:spPr>
      </p:pic>
      <p:sp>
        <p:nvSpPr>
          <p:cNvPr id="10" name="Text 7"/>
          <p:cNvSpPr txBox="1"/>
          <p:nvPr/>
        </p:nvSpPr>
        <p:spPr>
          <a:xfrm>
            <a:off x="699516" y="4526280"/>
            <a:ext cx="3200400" cy="502920"/>
          </a:xfrm>
          <a:prstGeom prst="rect">
            <a:avLst/>
          </a:prstGeom>
          <a:noFill/>
          <a:ln/>
        </p:spPr>
        <p:txBody>
          <a:bodyPr wrap="square" lIns="0" tIns="0" rIns="0" bIns="0" rtlCol="0" anchor="ctr"/>
          <a:lstStyle/>
          <a:p>
            <a:pPr marL="0" indent="0" algn="ctr">
              <a:buNone/>
            </a:pPr>
            <a:r>
              <a:rPr lang="en-US" sz="2000" b="1" dirty="0">
                <a:solidFill>
                  <a:srgbClr val="43307A"/>
                </a:solidFill>
                <a:latin typeface="Bookman Old Style" pitchFamily="34" charset="0"/>
                <a:ea typeface="Bookman Old Style" pitchFamily="34" charset="-122"/>
                <a:cs typeface="Bookman Old Style" pitchFamily="34" charset="-120"/>
              </a:rPr>
              <a:t>37 people</a:t>
            </a:r>
            <a:endParaRPr lang="en-US" sz="2000" dirty="0"/>
          </a:p>
        </p:txBody>
      </p:sp>
      <p:sp>
        <p:nvSpPr>
          <p:cNvPr id="11" name="Text 8"/>
          <p:cNvSpPr txBox="1"/>
          <p:nvPr/>
        </p:nvSpPr>
        <p:spPr>
          <a:xfrm>
            <a:off x="699516" y="5074920"/>
            <a:ext cx="3200400" cy="411480"/>
          </a:xfrm>
          <a:prstGeom prst="rect">
            <a:avLst/>
          </a:prstGeom>
          <a:noFill/>
          <a:ln/>
        </p:spPr>
        <p:txBody>
          <a:bodyPr wrap="square" lIns="0" tIns="0" rIns="0" bIns="0" rtlCol="0" anchor="ctr"/>
          <a:lstStyle/>
          <a:p>
            <a:pPr marL="0" indent="0" algn="ctr">
              <a:buNone/>
            </a:pPr>
            <a:r>
              <a:rPr lang="en-US" sz="1300" dirty="0">
                <a:solidFill>
                  <a:srgbClr val="6A6284"/>
                </a:solidFill>
                <a:latin typeface="Calibri" pitchFamily="34" charset="0"/>
                <a:ea typeface="Calibri" pitchFamily="34" charset="-122"/>
                <a:cs typeface="Calibri" pitchFamily="34" charset="-120"/>
              </a:rPr>
              <a:t>real study data</a:t>
            </a:r>
            <a:endParaRPr lang="en-US" sz="1300" dirty="0"/>
          </a:p>
        </p:txBody>
      </p:sp>
      <p:sp>
        <p:nvSpPr>
          <p:cNvPr id="12" name="Shape 9"/>
          <p:cNvSpPr/>
          <p:nvPr/>
        </p:nvSpPr>
        <p:spPr>
          <a:xfrm>
            <a:off x="4494276" y="4069080"/>
            <a:ext cx="3200400" cy="1691640"/>
          </a:xfrm>
          <a:prstGeom prst="roundRect">
            <a:avLst>
              <a:gd name="adj" fmla="val 64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3" name="Shape 10"/>
          <p:cNvSpPr/>
          <p:nvPr/>
        </p:nvSpPr>
        <p:spPr>
          <a:xfrm>
            <a:off x="5765292" y="3739896"/>
            <a:ext cx="658368" cy="658368"/>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4" name="Image 1" descr="C:\Users\MShaheen\Documents\parkinsons_voice_project\report\defence\figs\v_wave.png"/>
          <p:cNvPicPr>
            <a:picLocks noChangeAspect="1"/>
          </p:cNvPicPr>
          <p:nvPr/>
        </p:nvPicPr>
        <p:blipFill>
          <a:blip r:embed="rId5"/>
          <a:stretch>
            <a:fillRect/>
          </a:stretch>
        </p:blipFill>
        <p:spPr>
          <a:xfrm>
            <a:off x="5936468" y="3911072"/>
            <a:ext cx="316017" cy="316017"/>
          </a:xfrm>
          <a:prstGeom prst="rect">
            <a:avLst/>
          </a:prstGeom>
        </p:spPr>
      </p:pic>
      <p:sp>
        <p:nvSpPr>
          <p:cNvPr id="15" name="Text 11"/>
          <p:cNvSpPr txBox="1"/>
          <p:nvPr/>
        </p:nvSpPr>
        <p:spPr>
          <a:xfrm>
            <a:off x="4494276" y="4526280"/>
            <a:ext cx="3200400" cy="502920"/>
          </a:xfrm>
          <a:prstGeom prst="rect">
            <a:avLst/>
          </a:prstGeom>
          <a:noFill/>
          <a:ln/>
        </p:spPr>
        <p:txBody>
          <a:bodyPr wrap="square" lIns="0" tIns="0" rIns="0" bIns="0" rtlCol="0" anchor="ctr"/>
          <a:lstStyle/>
          <a:p>
            <a:pPr marL="0" indent="0" algn="ctr">
              <a:buNone/>
            </a:pPr>
            <a:r>
              <a:rPr lang="en-US" sz="2000" b="1" dirty="0">
                <a:solidFill>
                  <a:srgbClr val="43307A"/>
                </a:solidFill>
                <a:latin typeface="Bookman Old Style" pitchFamily="34" charset="0"/>
                <a:ea typeface="Bookman Old Style" pitchFamily="34" charset="-122"/>
                <a:cs typeface="Bookman Old Style" pitchFamily="34" charset="-120"/>
              </a:rPr>
              <a:t>74 numbers</a:t>
            </a:r>
            <a:endParaRPr lang="en-US" sz="2000" dirty="0"/>
          </a:p>
        </p:txBody>
      </p:sp>
      <p:sp>
        <p:nvSpPr>
          <p:cNvPr id="16" name="Text 12"/>
          <p:cNvSpPr txBox="1"/>
          <p:nvPr/>
        </p:nvSpPr>
        <p:spPr>
          <a:xfrm>
            <a:off x="4494276" y="5074920"/>
            <a:ext cx="3200400" cy="411480"/>
          </a:xfrm>
          <a:prstGeom prst="rect">
            <a:avLst/>
          </a:prstGeom>
          <a:noFill/>
          <a:ln/>
        </p:spPr>
        <p:txBody>
          <a:bodyPr wrap="square" lIns="0" tIns="0" rIns="0" bIns="0" rtlCol="0" anchor="ctr"/>
          <a:lstStyle/>
          <a:p>
            <a:pPr marL="0" indent="0" algn="ctr">
              <a:buNone/>
            </a:pPr>
            <a:r>
              <a:rPr lang="en-US" sz="1300" dirty="0">
                <a:solidFill>
                  <a:srgbClr val="6A6284"/>
                </a:solidFill>
                <a:latin typeface="Calibri" pitchFamily="34" charset="0"/>
                <a:ea typeface="Calibri" pitchFamily="34" charset="-122"/>
                <a:cs typeface="Calibri" pitchFamily="34" charset="-120"/>
              </a:rPr>
              <a:t>measured from every voice</a:t>
            </a:r>
            <a:endParaRPr lang="en-US" sz="1300" dirty="0"/>
          </a:p>
        </p:txBody>
      </p:sp>
      <p:sp>
        <p:nvSpPr>
          <p:cNvPr id="17" name="Shape 13"/>
          <p:cNvSpPr/>
          <p:nvPr/>
        </p:nvSpPr>
        <p:spPr>
          <a:xfrm>
            <a:off x="8289036" y="4069080"/>
            <a:ext cx="3200400" cy="1691640"/>
          </a:xfrm>
          <a:prstGeom prst="roundRect">
            <a:avLst>
              <a:gd name="adj" fmla="val 64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8" name="Shape 14"/>
          <p:cNvSpPr/>
          <p:nvPr/>
        </p:nvSpPr>
        <p:spPr>
          <a:xfrm>
            <a:off x="9560052" y="3739896"/>
            <a:ext cx="658368" cy="658368"/>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9" name="Image 2" descr="C:\Users\MShaheen\Documents\parkinsons_voice_project\report\defence\figs\v_check.png"/>
          <p:cNvPicPr>
            <a:picLocks noChangeAspect="1"/>
          </p:cNvPicPr>
          <p:nvPr/>
        </p:nvPicPr>
        <p:blipFill>
          <a:blip r:embed="rId6"/>
          <a:stretch>
            <a:fillRect/>
          </a:stretch>
        </p:blipFill>
        <p:spPr>
          <a:xfrm>
            <a:off x="9731228" y="3911072"/>
            <a:ext cx="316017" cy="316017"/>
          </a:xfrm>
          <a:prstGeom prst="rect">
            <a:avLst/>
          </a:prstGeom>
        </p:spPr>
      </p:pic>
      <p:sp>
        <p:nvSpPr>
          <p:cNvPr id="20" name="Text 15"/>
          <p:cNvSpPr txBox="1"/>
          <p:nvPr/>
        </p:nvSpPr>
        <p:spPr>
          <a:xfrm>
            <a:off x="8289036" y="4526280"/>
            <a:ext cx="3200400" cy="502920"/>
          </a:xfrm>
          <a:prstGeom prst="rect">
            <a:avLst/>
          </a:prstGeom>
          <a:noFill/>
          <a:ln/>
        </p:spPr>
        <p:txBody>
          <a:bodyPr wrap="square" lIns="0" tIns="0" rIns="0" bIns="0" rtlCol="0" anchor="ctr"/>
          <a:lstStyle/>
          <a:p>
            <a:pPr marL="0" indent="0" algn="ctr">
              <a:buNone/>
            </a:pPr>
            <a:r>
              <a:rPr lang="en-US" sz="2000" b="1" dirty="0">
                <a:solidFill>
                  <a:srgbClr val="43307A"/>
                </a:solidFill>
                <a:latin typeface="Bookman Old Style" pitchFamily="34" charset="0"/>
                <a:ea typeface="Bookman Old Style" pitchFamily="34" charset="-122"/>
                <a:cs typeface="Bookman Old Style" pitchFamily="34" charset="-120"/>
              </a:rPr>
              <a:t>not a diagnosis</a:t>
            </a:r>
            <a:endParaRPr lang="en-US" sz="2000" dirty="0"/>
          </a:p>
        </p:txBody>
      </p:sp>
      <p:sp>
        <p:nvSpPr>
          <p:cNvPr id="21" name="Text 16"/>
          <p:cNvSpPr txBox="1"/>
          <p:nvPr/>
        </p:nvSpPr>
        <p:spPr>
          <a:xfrm>
            <a:off x="8289036" y="5074920"/>
            <a:ext cx="3200400" cy="411480"/>
          </a:xfrm>
          <a:prstGeom prst="rect">
            <a:avLst/>
          </a:prstGeom>
          <a:noFill/>
          <a:ln/>
        </p:spPr>
        <p:txBody>
          <a:bodyPr wrap="square" lIns="0" tIns="0" rIns="0" bIns="0" rtlCol="0" anchor="ctr"/>
          <a:lstStyle/>
          <a:p>
            <a:pPr marL="0" indent="0" algn="ctr">
              <a:buNone/>
            </a:pPr>
            <a:r>
              <a:rPr lang="en-US" sz="1300" dirty="0">
                <a:solidFill>
                  <a:srgbClr val="6A6284"/>
                </a:solidFill>
                <a:latin typeface="Calibri" pitchFamily="34" charset="0"/>
                <a:ea typeface="Calibri" pitchFamily="34" charset="-122"/>
                <a:cs typeface="Calibri" pitchFamily="34" charset="-120"/>
              </a:rPr>
              <a:t>a screening helper</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10" grpId="0" animBg="1"/>
      <p:bldP spid="11" grpId="0" animBg="1"/>
      <p:bldP spid="15" grpId="0" animBg="1"/>
      <p:bldP spid="16" grpId="0" animBg="1"/>
      <p:bldP spid="20"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02  </a:t>
            </a:r>
            <a:r>
              <a:rPr lang="en-US" sz="1300" kern="0" spc="200" dirty="0">
                <a:solidFill>
                  <a:srgbClr val="6A6284"/>
                </a:solidFill>
                <a:latin typeface="Calibri" pitchFamily="34" charset="0"/>
                <a:ea typeface="Calibri" pitchFamily="34" charset="-122"/>
                <a:cs typeface="Calibri" pitchFamily="34" charset="-120"/>
              </a:rPr>
              <a:t>·  THE VOICE</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Parkinson's reaches the voice</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790956" y="1828800"/>
            <a:ext cx="3017520" cy="1554480"/>
          </a:xfrm>
          <a:prstGeom prst="roundRect">
            <a:avLst>
              <a:gd name="adj" fmla="val 7059"/>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Text 4"/>
          <p:cNvSpPr txBox="1"/>
          <p:nvPr/>
        </p:nvSpPr>
        <p:spPr>
          <a:xfrm>
            <a:off x="790956" y="2011680"/>
            <a:ext cx="3017520" cy="502920"/>
          </a:xfrm>
          <a:prstGeom prst="rect">
            <a:avLst/>
          </a:prstGeom>
          <a:noFill/>
          <a:ln/>
        </p:spPr>
        <p:txBody>
          <a:bodyPr wrap="square" lIns="0" tIns="0" rIns="0" bIns="0" rtlCol="0" anchor="ctr"/>
          <a:lstStyle/>
          <a:p>
            <a:pPr marL="0" indent="0" algn="ctr">
              <a:buNone/>
            </a:pPr>
            <a:r>
              <a:rPr lang="en-US" sz="2100" b="1" dirty="0">
                <a:solidFill>
                  <a:srgbClr val="241A45"/>
                </a:solidFill>
                <a:latin typeface="Bookman Old Style" pitchFamily="34" charset="0"/>
                <a:ea typeface="Bookman Old Style" pitchFamily="34" charset="-122"/>
                <a:cs typeface="Bookman Old Style" pitchFamily="34" charset="-120"/>
              </a:rPr>
              <a:t>brain</a:t>
            </a:r>
            <a:endParaRPr lang="en-US" sz="2100" dirty="0"/>
          </a:p>
        </p:txBody>
      </p:sp>
      <p:sp>
        <p:nvSpPr>
          <p:cNvPr id="7" name="Text 5"/>
          <p:cNvSpPr txBox="1"/>
          <p:nvPr/>
        </p:nvSpPr>
        <p:spPr>
          <a:xfrm>
            <a:off x="790956" y="2542032"/>
            <a:ext cx="3017520" cy="731520"/>
          </a:xfrm>
          <a:prstGeom prst="rect">
            <a:avLst/>
          </a:prstGeom>
          <a:noFill/>
          <a:ln/>
        </p:spPr>
        <p:txBody>
          <a:bodyPr wrap="square" lIns="0" tIns="0" rIns="0" bIns="0" rtlCol="0" anchor="ctr"/>
          <a:lstStyle/>
          <a:p>
            <a:pPr marL="0" indent="0" algn="ctr">
              <a:buNone/>
            </a:pPr>
            <a:r>
              <a:rPr lang="en-US" sz="1400" dirty="0">
                <a:solidFill>
                  <a:srgbClr val="6A6284"/>
                </a:solidFill>
                <a:latin typeface="Calibri" pitchFamily="34" charset="0"/>
                <a:ea typeface="Calibri" pitchFamily="34" charset="-122"/>
                <a:cs typeface="Calibri" pitchFamily="34" charset="-120"/>
              </a:rPr>
              <a:t>less dopamine</a:t>
            </a:r>
            <a:endParaRPr lang="en-US" sz="1400" dirty="0"/>
          </a:p>
        </p:txBody>
      </p:sp>
      <p:sp>
        <p:nvSpPr>
          <p:cNvPr id="8" name="Shape 6"/>
          <p:cNvSpPr/>
          <p:nvPr/>
        </p:nvSpPr>
        <p:spPr>
          <a:xfrm>
            <a:off x="3973068" y="2496312"/>
            <a:ext cx="438912" cy="219456"/>
          </a:xfrm>
          <a:prstGeom prst="rightArrow">
            <a:avLst/>
          </a:prstGeom>
          <a:solidFill>
            <a:srgbClr val="D98A1F">
              <a:alpha val="80000"/>
            </a:srgbClr>
          </a:solidFill>
          <a:ln/>
        </p:spPr>
      </p:sp>
      <p:sp>
        <p:nvSpPr>
          <p:cNvPr id="9" name="Shape 7"/>
          <p:cNvSpPr/>
          <p:nvPr/>
        </p:nvSpPr>
        <p:spPr>
          <a:xfrm>
            <a:off x="4585716" y="1828800"/>
            <a:ext cx="3017520" cy="1554480"/>
          </a:xfrm>
          <a:prstGeom prst="roundRect">
            <a:avLst>
              <a:gd name="adj" fmla="val 7059"/>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0" name="Text 8"/>
          <p:cNvSpPr txBox="1"/>
          <p:nvPr/>
        </p:nvSpPr>
        <p:spPr>
          <a:xfrm>
            <a:off x="4585716" y="2011680"/>
            <a:ext cx="3017520" cy="502920"/>
          </a:xfrm>
          <a:prstGeom prst="rect">
            <a:avLst/>
          </a:prstGeom>
          <a:noFill/>
          <a:ln/>
        </p:spPr>
        <p:txBody>
          <a:bodyPr wrap="square" lIns="0" tIns="0" rIns="0" bIns="0" rtlCol="0" anchor="ctr"/>
          <a:lstStyle/>
          <a:p>
            <a:pPr marL="0" indent="0" algn="ctr">
              <a:buNone/>
            </a:pPr>
            <a:r>
              <a:rPr lang="en-US" sz="2100" b="1" dirty="0">
                <a:solidFill>
                  <a:srgbClr val="241A45"/>
                </a:solidFill>
                <a:latin typeface="Bookman Old Style" pitchFamily="34" charset="0"/>
                <a:ea typeface="Bookman Old Style" pitchFamily="34" charset="-122"/>
                <a:cs typeface="Bookman Old Style" pitchFamily="34" charset="-120"/>
              </a:rPr>
              <a:t>muscles</a:t>
            </a:r>
            <a:endParaRPr lang="en-US" sz="2100" dirty="0"/>
          </a:p>
        </p:txBody>
      </p:sp>
      <p:sp>
        <p:nvSpPr>
          <p:cNvPr id="11" name="Text 9"/>
          <p:cNvSpPr txBox="1"/>
          <p:nvPr/>
        </p:nvSpPr>
        <p:spPr>
          <a:xfrm>
            <a:off x="4585716" y="2542032"/>
            <a:ext cx="3017520" cy="731520"/>
          </a:xfrm>
          <a:prstGeom prst="rect">
            <a:avLst/>
          </a:prstGeom>
          <a:noFill/>
          <a:ln/>
        </p:spPr>
        <p:txBody>
          <a:bodyPr wrap="square" lIns="0" tIns="0" rIns="0" bIns="0" rtlCol="0" anchor="ctr"/>
          <a:lstStyle/>
          <a:p>
            <a:pPr marL="0" indent="0" algn="ctr">
              <a:buNone/>
            </a:pPr>
            <a:r>
              <a:rPr lang="en-US" sz="1400" dirty="0">
                <a:solidFill>
                  <a:srgbClr val="6A6284"/>
                </a:solidFill>
                <a:latin typeface="Calibri" pitchFamily="34" charset="0"/>
                <a:ea typeface="Calibri" pitchFamily="34" charset="-122"/>
                <a:cs typeface="Calibri" pitchFamily="34" charset="-120"/>
              </a:rPr>
              <a:t>weaker control</a:t>
            </a:r>
            <a:endParaRPr lang="en-US" sz="1400" dirty="0"/>
          </a:p>
        </p:txBody>
      </p:sp>
      <p:sp>
        <p:nvSpPr>
          <p:cNvPr id="12" name="Shape 10"/>
          <p:cNvSpPr/>
          <p:nvPr/>
        </p:nvSpPr>
        <p:spPr>
          <a:xfrm>
            <a:off x="7767828" y="2496312"/>
            <a:ext cx="438912" cy="219456"/>
          </a:xfrm>
          <a:prstGeom prst="rightArrow">
            <a:avLst/>
          </a:prstGeom>
          <a:solidFill>
            <a:srgbClr val="D98A1F">
              <a:alpha val="80000"/>
            </a:srgbClr>
          </a:solidFill>
          <a:ln/>
        </p:spPr>
      </p:sp>
      <p:sp>
        <p:nvSpPr>
          <p:cNvPr id="13" name="Shape 11"/>
          <p:cNvSpPr/>
          <p:nvPr/>
        </p:nvSpPr>
        <p:spPr>
          <a:xfrm>
            <a:off x="8380476" y="1828800"/>
            <a:ext cx="3017520" cy="1554480"/>
          </a:xfrm>
          <a:prstGeom prst="roundRect">
            <a:avLst>
              <a:gd name="adj" fmla="val 7059"/>
            </a:avLst>
          </a:prstGeom>
          <a:solidFill>
            <a:srgbClr val="F1EDFA"/>
          </a:solidFill>
          <a:ln w="12700">
            <a:solidFill>
              <a:srgbClr val="E4DFF2"/>
            </a:solidFill>
            <a:prstDash val="solid"/>
          </a:ln>
          <a:effectLst>
            <a:outerShdw blurRad="127000" dist="38100" dir="5400000" algn="bl" rotWithShape="0">
              <a:srgbClr val="B4A8D4">
                <a:alpha val="40000"/>
              </a:srgbClr>
            </a:outerShdw>
          </a:effectLst>
        </p:spPr>
      </p:sp>
      <p:sp>
        <p:nvSpPr>
          <p:cNvPr id="14" name="Text 12"/>
          <p:cNvSpPr txBox="1"/>
          <p:nvPr/>
        </p:nvSpPr>
        <p:spPr>
          <a:xfrm>
            <a:off x="8380476" y="2011680"/>
            <a:ext cx="3017520" cy="502920"/>
          </a:xfrm>
          <a:prstGeom prst="rect">
            <a:avLst/>
          </a:prstGeom>
          <a:noFill/>
          <a:ln/>
        </p:spPr>
        <p:txBody>
          <a:bodyPr wrap="square" lIns="0" tIns="0" rIns="0" bIns="0" rtlCol="0" anchor="ctr"/>
          <a:lstStyle/>
          <a:p>
            <a:pPr marL="0" indent="0" algn="ctr">
              <a:buNone/>
            </a:pPr>
            <a:r>
              <a:rPr lang="en-US" sz="2100" b="1" dirty="0">
                <a:solidFill>
                  <a:srgbClr val="43307A"/>
                </a:solidFill>
                <a:latin typeface="Bookman Old Style" pitchFamily="34" charset="0"/>
                <a:ea typeface="Bookman Old Style" pitchFamily="34" charset="-122"/>
                <a:cs typeface="Bookman Old Style" pitchFamily="34" charset="-120"/>
              </a:rPr>
              <a:t>speech</a:t>
            </a:r>
            <a:endParaRPr lang="en-US" sz="2100" dirty="0"/>
          </a:p>
        </p:txBody>
      </p:sp>
      <p:sp>
        <p:nvSpPr>
          <p:cNvPr id="15" name="Text 13"/>
          <p:cNvSpPr txBox="1"/>
          <p:nvPr/>
        </p:nvSpPr>
        <p:spPr>
          <a:xfrm>
            <a:off x="8380476" y="2542032"/>
            <a:ext cx="3017520" cy="731520"/>
          </a:xfrm>
          <a:prstGeom prst="rect">
            <a:avLst/>
          </a:prstGeom>
          <a:noFill/>
          <a:ln/>
        </p:spPr>
        <p:txBody>
          <a:bodyPr wrap="square" lIns="0" tIns="0" rIns="0" bIns="0" rtlCol="0" anchor="ctr"/>
          <a:lstStyle/>
          <a:p>
            <a:pPr marL="0" indent="0" algn="ctr">
              <a:buNone/>
            </a:pPr>
            <a:r>
              <a:rPr lang="en-US" sz="1400" dirty="0">
                <a:solidFill>
                  <a:srgbClr val="6A6284"/>
                </a:solidFill>
                <a:latin typeface="Calibri" pitchFamily="34" charset="0"/>
                <a:ea typeface="Calibri" pitchFamily="34" charset="-122"/>
                <a:cs typeface="Calibri" pitchFamily="34" charset="-120"/>
              </a:rPr>
              <a:t>quieter, flatter,</a:t>
            </a:r>
            <a:endParaRPr lang="en-US" sz="1400" dirty="0"/>
          </a:p>
          <a:p>
            <a:pPr marL="0" indent="0" algn="ctr">
              <a:buNone/>
            </a:pPr>
            <a:r>
              <a:rPr lang="en-US" sz="1400" dirty="0">
                <a:solidFill>
                  <a:srgbClr val="6A6284"/>
                </a:solidFill>
                <a:latin typeface="Calibri" pitchFamily="34" charset="0"/>
                <a:ea typeface="Calibri" pitchFamily="34" charset="-122"/>
                <a:cs typeface="Calibri" pitchFamily="34" charset="-120"/>
              </a:rPr>
              <a:t>less steady</a:t>
            </a:r>
            <a:endParaRPr lang="en-US" sz="1400" dirty="0"/>
          </a:p>
        </p:txBody>
      </p:sp>
      <p:sp>
        <p:nvSpPr>
          <p:cNvPr id="16" name="Text 14"/>
          <p:cNvSpPr txBox="1"/>
          <p:nvPr/>
        </p:nvSpPr>
        <p:spPr>
          <a:xfrm>
            <a:off x="1371600" y="3977640"/>
            <a:ext cx="9445752" cy="731520"/>
          </a:xfrm>
          <a:prstGeom prst="rect">
            <a:avLst/>
          </a:prstGeom>
          <a:noFill/>
          <a:ln/>
        </p:spPr>
        <p:txBody>
          <a:bodyPr wrap="square" lIns="0" tIns="0" rIns="0" bIns="0" rtlCol="0" anchor="ctr"/>
          <a:lstStyle/>
          <a:p>
            <a:pPr marL="0" indent="0" algn="ctr">
              <a:buNone/>
            </a:pPr>
            <a:r>
              <a:rPr lang="en-US" sz="4000" b="1" dirty="0">
                <a:solidFill>
                  <a:srgbClr val="D98A1F"/>
                </a:solidFill>
                <a:latin typeface="Bookman Old Style" pitchFamily="34" charset="0"/>
                <a:ea typeface="Bookman Old Style" pitchFamily="34" charset="-122"/>
                <a:cs typeface="Bookman Old Style" pitchFamily="34" charset="-120"/>
              </a:rPr>
              <a:t>~90%</a:t>
            </a:r>
            <a:r>
              <a:rPr lang="en-US" sz="1700" dirty="0">
                <a:solidFill>
                  <a:srgbClr val="241A45"/>
                </a:solidFill>
                <a:latin typeface="Calibri" pitchFamily="34" charset="0"/>
                <a:ea typeface="Calibri" pitchFamily="34" charset="-122"/>
                <a:cs typeface="Calibri" pitchFamily="34" charset="-120"/>
              </a:rPr>
              <a:t>  of patients get voice changes — and they can start early.</a:t>
            </a:r>
            <a:endParaRPr lang="en-US" sz="4000" dirty="0"/>
          </a:p>
        </p:txBody>
      </p:sp>
      <p:sp>
        <p:nvSpPr>
          <p:cNvPr id="17" name="Text 15"/>
          <p:cNvSpPr txBox="1"/>
          <p:nvPr/>
        </p:nvSpPr>
        <p:spPr>
          <a:xfrm>
            <a:off x="822960" y="5029200"/>
            <a:ext cx="10543032" cy="502920"/>
          </a:xfrm>
          <a:prstGeom prst="rect">
            <a:avLst/>
          </a:prstGeom>
          <a:noFill/>
          <a:ln/>
        </p:spPr>
        <p:txBody>
          <a:bodyPr wrap="square" lIns="0" tIns="0" rIns="0" bIns="0" rtlCol="0" anchor="ctr"/>
          <a:lstStyle/>
          <a:p>
            <a:pPr marL="0" indent="0" algn="ctr">
              <a:buNone/>
            </a:pPr>
            <a:r>
              <a:rPr lang="en-US" sz="1800" i="1" dirty="0">
                <a:solidFill>
                  <a:srgbClr val="43307A"/>
                </a:solidFill>
                <a:latin typeface="Bookman Old Style" pitchFamily="34" charset="0"/>
                <a:ea typeface="Bookman Old Style" pitchFamily="34" charset="-122"/>
                <a:cs typeface="Bookman Old Style" pitchFamily="34" charset="-120"/>
              </a:rPr>
              <a:t>The weakness that shakes a hand also moves the voice.</a:t>
            </a:r>
            <a:endParaRPr lang="en-US"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10" grpId="0" animBg="1"/>
      <p:bldP spid="11" grpId="0" animBg="1"/>
      <p:bldP spid="14" grpId="0" animBg="1"/>
      <p:bldP spid="15" grpId="0" animBg="1"/>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02  </a:t>
            </a:r>
            <a:r>
              <a:rPr lang="en-US" sz="1300" kern="0" spc="200" dirty="0">
                <a:solidFill>
                  <a:srgbClr val="6A6284"/>
                </a:solidFill>
                <a:latin typeface="Calibri" pitchFamily="34" charset="0"/>
                <a:ea typeface="Calibri" pitchFamily="34" charset="-122"/>
                <a:cs typeface="Calibri" pitchFamily="34" charset="-120"/>
              </a:rPr>
              <a:t>·  THE VOICE</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How a voice is made — three stages</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89788" y="1920240"/>
            <a:ext cx="3291840" cy="2560320"/>
          </a:xfrm>
          <a:prstGeom prst="roundRect">
            <a:avLst>
              <a:gd name="adj" fmla="val 42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Shape 4"/>
          <p:cNvSpPr/>
          <p:nvPr/>
        </p:nvSpPr>
        <p:spPr>
          <a:xfrm>
            <a:off x="1851660" y="1536192"/>
            <a:ext cx="768096" cy="768096"/>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7" name="Image 0" descr="C:\Users\MShaheen\Documents\parkinsons_voice_project\report\defence\figs\v_lungs.png"/>
          <p:cNvPicPr>
            <a:picLocks noChangeAspect="1"/>
          </p:cNvPicPr>
          <p:nvPr/>
        </p:nvPicPr>
        <p:blipFill>
          <a:blip r:embed="rId4"/>
          <a:stretch>
            <a:fillRect/>
          </a:stretch>
        </p:blipFill>
        <p:spPr>
          <a:xfrm>
            <a:off x="2051365" y="1735897"/>
            <a:ext cx="368686" cy="368686"/>
          </a:xfrm>
          <a:prstGeom prst="rect">
            <a:avLst/>
          </a:prstGeom>
        </p:spPr>
      </p:pic>
      <p:sp>
        <p:nvSpPr>
          <p:cNvPr id="8" name="Text 5"/>
          <p:cNvSpPr txBox="1"/>
          <p:nvPr/>
        </p:nvSpPr>
        <p:spPr>
          <a:xfrm>
            <a:off x="589788" y="2423160"/>
            <a:ext cx="3291840" cy="502920"/>
          </a:xfrm>
          <a:prstGeom prst="rect">
            <a:avLst/>
          </a:prstGeom>
          <a:noFill/>
          <a:ln/>
        </p:spPr>
        <p:txBody>
          <a:bodyPr wrap="square" lIns="0" tIns="0" rIns="0" bIns="0" rtlCol="0" anchor="ctr"/>
          <a:lstStyle/>
          <a:p>
            <a:pPr marL="0" indent="0" algn="ctr">
              <a:buNone/>
            </a:pPr>
            <a:r>
              <a:rPr lang="en-US" sz="2000" b="1" dirty="0">
                <a:solidFill>
                  <a:srgbClr val="241A45"/>
                </a:solidFill>
                <a:latin typeface="Bookman Old Style" pitchFamily="34" charset="0"/>
                <a:ea typeface="Bookman Old Style" pitchFamily="34" charset="-122"/>
                <a:cs typeface="Bookman Old Style" pitchFamily="34" charset="-120"/>
              </a:rPr>
              <a:t>1 · Lungs</a:t>
            </a:r>
            <a:endParaRPr lang="en-US" sz="2000" dirty="0"/>
          </a:p>
        </p:txBody>
      </p:sp>
      <p:sp>
        <p:nvSpPr>
          <p:cNvPr id="9" name="Text 6"/>
          <p:cNvSpPr txBox="1"/>
          <p:nvPr/>
        </p:nvSpPr>
        <p:spPr>
          <a:xfrm>
            <a:off x="589788" y="3017520"/>
            <a:ext cx="3291840" cy="411480"/>
          </a:xfrm>
          <a:prstGeom prst="rect">
            <a:avLst/>
          </a:prstGeom>
          <a:noFill/>
          <a:ln/>
        </p:spPr>
        <p:txBody>
          <a:bodyPr wrap="square" lIns="0" tIns="0" rIns="0" bIns="0" rtlCol="0" anchor="ctr"/>
          <a:lstStyle/>
          <a:p>
            <a:pPr marL="0" indent="0" algn="ctr">
              <a:buNone/>
            </a:pPr>
            <a:r>
              <a:rPr lang="en-US" sz="1500" dirty="0">
                <a:solidFill>
                  <a:srgbClr val="6A6284"/>
                </a:solidFill>
                <a:latin typeface="Calibri" pitchFamily="34" charset="0"/>
                <a:ea typeface="Calibri" pitchFamily="34" charset="-122"/>
                <a:cs typeface="Calibri" pitchFamily="34" charset="-120"/>
              </a:rPr>
              <a:t>push the air</a:t>
            </a:r>
            <a:endParaRPr lang="en-US" sz="1500" dirty="0"/>
          </a:p>
        </p:txBody>
      </p:sp>
      <p:sp>
        <p:nvSpPr>
          <p:cNvPr id="10" name="Text 7"/>
          <p:cNvSpPr txBox="1"/>
          <p:nvPr/>
        </p:nvSpPr>
        <p:spPr>
          <a:xfrm>
            <a:off x="589788" y="3657600"/>
            <a:ext cx="3291840" cy="457200"/>
          </a:xfrm>
          <a:prstGeom prst="rect">
            <a:avLst/>
          </a:prstGeom>
          <a:noFill/>
          <a:ln/>
        </p:spPr>
        <p:txBody>
          <a:bodyPr wrap="square" lIns="0" tIns="0" rIns="0" bIns="0" rtlCol="0" anchor="ctr"/>
          <a:lstStyle/>
          <a:p>
            <a:pPr marL="0" indent="0" algn="ctr">
              <a:buNone/>
            </a:pPr>
            <a:r>
              <a:rPr lang="en-US" sz="1600" b="1" i="1" dirty="0">
                <a:solidFill>
                  <a:srgbClr val="D98A1F"/>
                </a:solidFill>
                <a:latin typeface="Bookman Old Style" pitchFamily="34" charset="0"/>
                <a:ea typeface="Bookman Old Style" pitchFamily="34" charset="-122"/>
                <a:cs typeface="Bookman Old Style" pitchFamily="34" charset="-120"/>
              </a:rPr>
              <a:t>the power</a:t>
            </a:r>
            <a:endParaRPr lang="en-US" sz="1600" dirty="0"/>
          </a:p>
        </p:txBody>
      </p:sp>
      <p:sp>
        <p:nvSpPr>
          <p:cNvPr id="11" name="Shape 8"/>
          <p:cNvSpPr/>
          <p:nvPr/>
        </p:nvSpPr>
        <p:spPr>
          <a:xfrm>
            <a:off x="3954780" y="3090672"/>
            <a:ext cx="402336" cy="219456"/>
          </a:xfrm>
          <a:prstGeom prst="rightArrow">
            <a:avLst/>
          </a:prstGeom>
          <a:solidFill>
            <a:srgbClr val="D98A1F">
              <a:alpha val="80000"/>
            </a:srgbClr>
          </a:solidFill>
          <a:ln/>
        </p:spPr>
      </p:sp>
      <p:sp>
        <p:nvSpPr>
          <p:cNvPr id="12" name="Shape 9"/>
          <p:cNvSpPr/>
          <p:nvPr/>
        </p:nvSpPr>
        <p:spPr>
          <a:xfrm>
            <a:off x="4448556" y="1920240"/>
            <a:ext cx="3291840" cy="2560320"/>
          </a:xfrm>
          <a:prstGeom prst="roundRect">
            <a:avLst>
              <a:gd name="adj" fmla="val 42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3" name="Shape 10"/>
          <p:cNvSpPr/>
          <p:nvPr/>
        </p:nvSpPr>
        <p:spPr>
          <a:xfrm>
            <a:off x="5710428" y="1536192"/>
            <a:ext cx="768096" cy="768096"/>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4" name="Image 1" descr="C:\Users\MShaheen\Documents\parkinsons_voice_project\report\defence\figs\v_wave.png"/>
          <p:cNvPicPr>
            <a:picLocks noChangeAspect="1"/>
          </p:cNvPicPr>
          <p:nvPr/>
        </p:nvPicPr>
        <p:blipFill>
          <a:blip r:embed="rId5"/>
          <a:stretch>
            <a:fillRect/>
          </a:stretch>
        </p:blipFill>
        <p:spPr>
          <a:xfrm>
            <a:off x="5910133" y="1735897"/>
            <a:ext cx="368686" cy="368686"/>
          </a:xfrm>
          <a:prstGeom prst="rect">
            <a:avLst/>
          </a:prstGeom>
        </p:spPr>
      </p:pic>
      <p:sp>
        <p:nvSpPr>
          <p:cNvPr id="15" name="Text 11"/>
          <p:cNvSpPr txBox="1"/>
          <p:nvPr/>
        </p:nvSpPr>
        <p:spPr>
          <a:xfrm>
            <a:off x="4448556" y="2423160"/>
            <a:ext cx="3291840" cy="502920"/>
          </a:xfrm>
          <a:prstGeom prst="rect">
            <a:avLst/>
          </a:prstGeom>
          <a:noFill/>
          <a:ln/>
        </p:spPr>
        <p:txBody>
          <a:bodyPr wrap="square" lIns="0" tIns="0" rIns="0" bIns="0" rtlCol="0" anchor="ctr"/>
          <a:lstStyle/>
          <a:p>
            <a:pPr marL="0" indent="0" algn="ctr">
              <a:buNone/>
            </a:pPr>
            <a:r>
              <a:rPr lang="en-US" sz="2000" b="1" dirty="0">
                <a:solidFill>
                  <a:srgbClr val="241A45"/>
                </a:solidFill>
                <a:latin typeface="Bookman Old Style" pitchFamily="34" charset="0"/>
                <a:ea typeface="Bookman Old Style" pitchFamily="34" charset="-122"/>
                <a:cs typeface="Bookman Old Style" pitchFamily="34" charset="-120"/>
              </a:rPr>
              <a:t>2 · Vocal folds</a:t>
            </a:r>
            <a:endParaRPr lang="en-US" sz="2000" dirty="0"/>
          </a:p>
        </p:txBody>
      </p:sp>
      <p:sp>
        <p:nvSpPr>
          <p:cNvPr id="16" name="Text 12"/>
          <p:cNvSpPr txBox="1"/>
          <p:nvPr/>
        </p:nvSpPr>
        <p:spPr>
          <a:xfrm>
            <a:off x="4448556" y="3017520"/>
            <a:ext cx="3291840" cy="411480"/>
          </a:xfrm>
          <a:prstGeom prst="rect">
            <a:avLst/>
          </a:prstGeom>
          <a:noFill/>
          <a:ln/>
        </p:spPr>
        <p:txBody>
          <a:bodyPr wrap="square" lIns="0" tIns="0" rIns="0" bIns="0" rtlCol="0" anchor="ctr"/>
          <a:lstStyle/>
          <a:p>
            <a:pPr marL="0" indent="0" algn="ctr">
              <a:buNone/>
            </a:pPr>
            <a:r>
              <a:rPr lang="en-US" sz="1500" dirty="0">
                <a:solidFill>
                  <a:srgbClr val="6A6284"/>
                </a:solidFill>
                <a:latin typeface="Calibri" pitchFamily="34" charset="0"/>
                <a:ea typeface="Calibri" pitchFamily="34" charset="-122"/>
                <a:cs typeface="Calibri" pitchFamily="34" charset="-120"/>
              </a:rPr>
              <a:t>vibrate very fast</a:t>
            </a:r>
            <a:endParaRPr lang="en-US" sz="1500" dirty="0"/>
          </a:p>
        </p:txBody>
      </p:sp>
      <p:sp>
        <p:nvSpPr>
          <p:cNvPr id="17" name="Text 13"/>
          <p:cNvSpPr txBox="1"/>
          <p:nvPr/>
        </p:nvSpPr>
        <p:spPr>
          <a:xfrm>
            <a:off x="4448556" y="3657600"/>
            <a:ext cx="3291840" cy="457200"/>
          </a:xfrm>
          <a:prstGeom prst="rect">
            <a:avLst/>
          </a:prstGeom>
          <a:noFill/>
          <a:ln/>
        </p:spPr>
        <p:txBody>
          <a:bodyPr wrap="square" lIns="0" tIns="0" rIns="0" bIns="0" rtlCol="0" anchor="ctr"/>
          <a:lstStyle/>
          <a:p>
            <a:pPr marL="0" indent="0" algn="ctr">
              <a:buNone/>
            </a:pPr>
            <a:r>
              <a:rPr lang="en-US" sz="1600" b="1" i="1" dirty="0">
                <a:solidFill>
                  <a:srgbClr val="D98A1F"/>
                </a:solidFill>
                <a:latin typeface="Bookman Old Style" pitchFamily="34" charset="0"/>
                <a:ea typeface="Bookman Old Style" pitchFamily="34" charset="-122"/>
                <a:cs typeface="Bookman Old Style" pitchFamily="34" charset="-120"/>
              </a:rPr>
              <a:t>the sound (pitch)</a:t>
            </a:r>
            <a:endParaRPr lang="en-US" sz="1600" dirty="0"/>
          </a:p>
        </p:txBody>
      </p:sp>
      <p:sp>
        <p:nvSpPr>
          <p:cNvPr id="18" name="Shape 14"/>
          <p:cNvSpPr/>
          <p:nvPr/>
        </p:nvSpPr>
        <p:spPr>
          <a:xfrm>
            <a:off x="7813548" y="3090672"/>
            <a:ext cx="402336" cy="219456"/>
          </a:xfrm>
          <a:prstGeom prst="rightArrow">
            <a:avLst/>
          </a:prstGeom>
          <a:solidFill>
            <a:srgbClr val="D98A1F">
              <a:alpha val="80000"/>
            </a:srgbClr>
          </a:solidFill>
          <a:ln/>
        </p:spPr>
      </p:sp>
      <p:sp>
        <p:nvSpPr>
          <p:cNvPr id="19" name="Shape 15"/>
          <p:cNvSpPr/>
          <p:nvPr/>
        </p:nvSpPr>
        <p:spPr>
          <a:xfrm>
            <a:off x="8307324" y="1920240"/>
            <a:ext cx="3291840" cy="2560320"/>
          </a:xfrm>
          <a:prstGeom prst="roundRect">
            <a:avLst>
              <a:gd name="adj" fmla="val 42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20" name="Shape 16"/>
          <p:cNvSpPr/>
          <p:nvPr/>
        </p:nvSpPr>
        <p:spPr>
          <a:xfrm>
            <a:off x="9569196" y="1536192"/>
            <a:ext cx="768096" cy="768096"/>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21" name="Image 2" descr="C:\Users\MShaheen\Documents\parkinsons_voice_project\report\defence\figs\v_mouth.png"/>
          <p:cNvPicPr>
            <a:picLocks noChangeAspect="1"/>
          </p:cNvPicPr>
          <p:nvPr/>
        </p:nvPicPr>
        <p:blipFill>
          <a:blip r:embed="rId6"/>
          <a:stretch>
            <a:fillRect/>
          </a:stretch>
        </p:blipFill>
        <p:spPr>
          <a:xfrm>
            <a:off x="9768901" y="1735897"/>
            <a:ext cx="368686" cy="368686"/>
          </a:xfrm>
          <a:prstGeom prst="rect">
            <a:avLst/>
          </a:prstGeom>
        </p:spPr>
      </p:pic>
      <p:sp>
        <p:nvSpPr>
          <p:cNvPr id="22" name="Text 17"/>
          <p:cNvSpPr txBox="1"/>
          <p:nvPr/>
        </p:nvSpPr>
        <p:spPr>
          <a:xfrm>
            <a:off x="8307324" y="2423160"/>
            <a:ext cx="3291840" cy="502920"/>
          </a:xfrm>
          <a:prstGeom prst="rect">
            <a:avLst/>
          </a:prstGeom>
          <a:noFill/>
          <a:ln/>
        </p:spPr>
        <p:txBody>
          <a:bodyPr wrap="square" lIns="0" tIns="0" rIns="0" bIns="0" rtlCol="0" anchor="ctr"/>
          <a:lstStyle/>
          <a:p>
            <a:pPr marL="0" indent="0" algn="ctr">
              <a:buNone/>
            </a:pPr>
            <a:r>
              <a:rPr lang="en-US" sz="2000" b="1" dirty="0">
                <a:solidFill>
                  <a:srgbClr val="241A45"/>
                </a:solidFill>
                <a:latin typeface="Bookman Old Style" pitchFamily="34" charset="0"/>
                <a:ea typeface="Bookman Old Style" pitchFamily="34" charset="-122"/>
                <a:cs typeface="Bookman Old Style" pitchFamily="34" charset="-120"/>
              </a:rPr>
              <a:t>3 · Mouth &amp; tongue</a:t>
            </a:r>
            <a:endParaRPr lang="en-US" sz="2000" dirty="0"/>
          </a:p>
        </p:txBody>
      </p:sp>
      <p:sp>
        <p:nvSpPr>
          <p:cNvPr id="23" name="Text 18"/>
          <p:cNvSpPr txBox="1"/>
          <p:nvPr/>
        </p:nvSpPr>
        <p:spPr>
          <a:xfrm>
            <a:off x="8307324" y="3017520"/>
            <a:ext cx="3291840" cy="411480"/>
          </a:xfrm>
          <a:prstGeom prst="rect">
            <a:avLst/>
          </a:prstGeom>
          <a:noFill/>
          <a:ln/>
        </p:spPr>
        <p:txBody>
          <a:bodyPr wrap="square" lIns="0" tIns="0" rIns="0" bIns="0" rtlCol="0" anchor="ctr"/>
          <a:lstStyle/>
          <a:p>
            <a:pPr marL="0" indent="0" algn="ctr">
              <a:buNone/>
            </a:pPr>
            <a:r>
              <a:rPr lang="en-US" sz="1500" dirty="0">
                <a:solidFill>
                  <a:srgbClr val="6A6284"/>
                </a:solidFill>
                <a:latin typeface="Calibri" pitchFamily="34" charset="0"/>
                <a:ea typeface="Calibri" pitchFamily="34" charset="-122"/>
                <a:cs typeface="Calibri" pitchFamily="34" charset="-120"/>
              </a:rPr>
              <a:t>shape the sound</a:t>
            </a:r>
            <a:endParaRPr lang="en-US" sz="1500" dirty="0"/>
          </a:p>
        </p:txBody>
      </p:sp>
      <p:sp>
        <p:nvSpPr>
          <p:cNvPr id="24" name="Text 19"/>
          <p:cNvSpPr txBox="1"/>
          <p:nvPr/>
        </p:nvSpPr>
        <p:spPr>
          <a:xfrm>
            <a:off x="8307324" y="3657600"/>
            <a:ext cx="3291840" cy="457200"/>
          </a:xfrm>
          <a:prstGeom prst="rect">
            <a:avLst/>
          </a:prstGeom>
          <a:noFill/>
          <a:ln/>
        </p:spPr>
        <p:txBody>
          <a:bodyPr wrap="square" lIns="0" tIns="0" rIns="0" bIns="0" rtlCol="0" anchor="ctr"/>
          <a:lstStyle/>
          <a:p>
            <a:pPr marL="0" indent="0" algn="ctr">
              <a:buNone/>
            </a:pPr>
            <a:r>
              <a:rPr lang="en-US" sz="1600" b="1" i="1" dirty="0">
                <a:solidFill>
                  <a:srgbClr val="D98A1F"/>
                </a:solidFill>
                <a:latin typeface="Bookman Old Style" pitchFamily="34" charset="0"/>
                <a:ea typeface="Bookman Old Style" pitchFamily="34" charset="-122"/>
                <a:cs typeface="Bookman Old Style" pitchFamily="34" charset="-120"/>
              </a:rPr>
              <a:t>the letters</a:t>
            </a:r>
            <a:endParaRPr lang="en-US" sz="1600" dirty="0"/>
          </a:p>
        </p:txBody>
      </p:sp>
      <p:sp>
        <p:nvSpPr>
          <p:cNvPr id="25" name="Text 20"/>
          <p:cNvSpPr txBox="1"/>
          <p:nvPr/>
        </p:nvSpPr>
        <p:spPr>
          <a:xfrm>
            <a:off x="822960" y="4937760"/>
            <a:ext cx="10543032" cy="457200"/>
          </a:xfrm>
          <a:prstGeom prst="rect">
            <a:avLst/>
          </a:prstGeom>
          <a:noFill/>
          <a:ln/>
        </p:spPr>
        <p:txBody>
          <a:bodyPr wrap="square" lIns="0" tIns="0" rIns="0" bIns="0" rtlCol="0" anchor="ctr"/>
          <a:lstStyle/>
          <a:p>
            <a:pPr marL="0" indent="0" algn="ctr">
              <a:buNone/>
            </a:pPr>
            <a:r>
              <a:rPr lang="en-US" sz="1700" i="1" dirty="0">
                <a:solidFill>
                  <a:srgbClr val="43307A"/>
                </a:solidFill>
                <a:latin typeface="Bookman Old Style" pitchFamily="34" charset="0"/>
                <a:ea typeface="Bookman Old Style" pitchFamily="34" charset="-122"/>
                <a:cs typeface="Bookman Old Style" pitchFamily="34" charset="-120"/>
              </a:rPr>
              <a:t>Like a musical instrument: air, a vibrating part, and a shape around it.</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24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24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240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240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P spid="9" grpId="0" animBg="1"/>
      <p:bldP spid="10" grpId="0" animBg="1"/>
      <p:bldP spid="15" grpId="0" animBg="1"/>
      <p:bldP spid="16" grpId="0" animBg="1"/>
      <p:bldP spid="17"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03  </a:t>
            </a:r>
            <a:r>
              <a:rPr lang="en-US" sz="1300" kern="0" spc="200" dirty="0">
                <a:solidFill>
                  <a:srgbClr val="6A6284"/>
                </a:solidFill>
                <a:latin typeface="Calibri" pitchFamily="34" charset="0"/>
                <a:ea typeface="Calibri" pitchFamily="34" charset="-122"/>
                <a:cs typeface="Calibri" pitchFamily="34" charset="-120"/>
              </a:rPr>
              <a:t>·  SOUND BECOMES NUMBERS</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From air to electricity to numbers</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676656" y="1554480"/>
            <a:ext cx="3063240" cy="1463040"/>
          </a:xfrm>
          <a:prstGeom prst="roundRect">
            <a:avLst>
              <a:gd name="adj" fmla="val 7500"/>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Shape 4"/>
          <p:cNvSpPr/>
          <p:nvPr/>
        </p:nvSpPr>
        <p:spPr>
          <a:xfrm>
            <a:off x="877824" y="1984248"/>
            <a:ext cx="603504" cy="603504"/>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7" name="Image 0" descr="C:\Users\MShaheen\Documents\parkinsons_voice_project\report\defence\figs\v_mic.png"/>
          <p:cNvPicPr>
            <a:picLocks noChangeAspect="1"/>
          </p:cNvPicPr>
          <p:nvPr/>
        </p:nvPicPr>
        <p:blipFill>
          <a:blip r:embed="rId4"/>
          <a:stretch>
            <a:fillRect/>
          </a:stretch>
        </p:blipFill>
        <p:spPr>
          <a:xfrm>
            <a:off x="1034735" y="2141159"/>
            <a:ext cx="289682" cy="289682"/>
          </a:xfrm>
          <a:prstGeom prst="rect">
            <a:avLst/>
          </a:prstGeom>
        </p:spPr>
      </p:pic>
      <p:sp>
        <p:nvSpPr>
          <p:cNvPr id="8" name="Text 5"/>
          <p:cNvSpPr txBox="1"/>
          <p:nvPr/>
        </p:nvSpPr>
        <p:spPr>
          <a:xfrm>
            <a:off x="1591056" y="1719072"/>
            <a:ext cx="2011680" cy="457200"/>
          </a:xfrm>
          <a:prstGeom prst="rect">
            <a:avLst/>
          </a:prstGeom>
          <a:noFill/>
          <a:ln/>
        </p:spPr>
        <p:txBody>
          <a:bodyPr wrap="square" lIns="0" tIns="0" rIns="0" bIns="0" rtlCol="0" anchor="ctr"/>
          <a:lstStyle/>
          <a:p>
            <a:pPr marL="0" indent="0">
              <a:buNone/>
            </a:pPr>
            <a:r>
              <a:rPr lang="en-US" sz="1700" b="1" dirty="0">
                <a:solidFill>
                  <a:srgbClr val="241A45"/>
                </a:solidFill>
                <a:latin typeface="Bookman Old Style" pitchFamily="34" charset="0"/>
                <a:ea typeface="Bookman Old Style" pitchFamily="34" charset="-122"/>
                <a:cs typeface="Bookman Old Style" pitchFamily="34" charset="-120"/>
              </a:rPr>
              <a:t>microphone</a:t>
            </a:r>
            <a:endParaRPr lang="en-US" sz="1700" dirty="0"/>
          </a:p>
        </p:txBody>
      </p:sp>
      <p:sp>
        <p:nvSpPr>
          <p:cNvPr id="9" name="Text 6"/>
          <p:cNvSpPr txBox="1"/>
          <p:nvPr/>
        </p:nvSpPr>
        <p:spPr>
          <a:xfrm>
            <a:off x="1591056" y="2176272"/>
            <a:ext cx="2011680" cy="777240"/>
          </a:xfrm>
          <a:prstGeom prst="rect">
            <a:avLst/>
          </a:prstGeom>
          <a:noFill/>
          <a:ln/>
        </p:spPr>
        <p:txBody>
          <a:bodyPr wrap="square" lIns="0" tIns="0" rIns="0" bIns="0" rtlCol="0" anchor="ctr"/>
          <a:lstStyle/>
          <a:p>
            <a:pPr marL="0" indent="0">
              <a:buNone/>
            </a:pPr>
            <a:r>
              <a:rPr lang="en-US" sz="1200" dirty="0">
                <a:solidFill>
                  <a:srgbClr val="6A6284"/>
                </a:solidFill>
                <a:latin typeface="Calibri" pitchFamily="34" charset="0"/>
                <a:ea typeface="Calibri" pitchFamily="34" charset="-122"/>
                <a:cs typeface="Calibri" pitchFamily="34" charset="-120"/>
              </a:rPr>
              <a:t>the sound wave hits it</a:t>
            </a:r>
            <a:endParaRPr lang="en-US" sz="1200" dirty="0"/>
          </a:p>
        </p:txBody>
      </p:sp>
      <p:sp>
        <p:nvSpPr>
          <p:cNvPr id="10" name="Shape 7"/>
          <p:cNvSpPr/>
          <p:nvPr/>
        </p:nvSpPr>
        <p:spPr>
          <a:xfrm>
            <a:off x="3886200" y="2176272"/>
            <a:ext cx="457200" cy="219456"/>
          </a:xfrm>
          <a:prstGeom prst="rightArrow">
            <a:avLst/>
          </a:prstGeom>
          <a:solidFill>
            <a:srgbClr val="D98A1F">
              <a:alpha val="80000"/>
            </a:srgbClr>
          </a:solidFill>
          <a:ln/>
        </p:spPr>
      </p:sp>
      <p:sp>
        <p:nvSpPr>
          <p:cNvPr id="11" name="Shape 8"/>
          <p:cNvSpPr/>
          <p:nvPr/>
        </p:nvSpPr>
        <p:spPr>
          <a:xfrm>
            <a:off x="4562856" y="1554480"/>
            <a:ext cx="3063240" cy="1463040"/>
          </a:xfrm>
          <a:prstGeom prst="roundRect">
            <a:avLst>
              <a:gd name="adj" fmla="val 7500"/>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2" name="Shape 9"/>
          <p:cNvSpPr/>
          <p:nvPr/>
        </p:nvSpPr>
        <p:spPr>
          <a:xfrm>
            <a:off x="4764024" y="1984248"/>
            <a:ext cx="603504" cy="603504"/>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3" name="Image 1" descr="C:\Users\MShaheen\Documents\parkinsons_voice_project\report\defence\figs\v_bolt.png"/>
          <p:cNvPicPr>
            <a:picLocks noChangeAspect="1"/>
          </p:cNvPicPr>
          <p:nvPr/>
        </p:nvPicPr>
        <p:blipFill>
          <a:blip r:embed="rId5"/>
          <a:stretch>
            <a:fillRect/>
          </a:stretch>
        </p:blipFill>
        <p:spPr>
          <a:xfrm>
            <a:off x="4920935" y="2141159"/>
            <a:ext cx="289682" cy="289682"/>
          </a:xfrm>
          <a:prstGeom prst="rect">
            <a:avLst/>
          </a:prstGeom>
        </p:spPr>
      </p:pic>
      <p:sp>
        <p:nvSpPr>
          <p:cNvPr id="14" name="Text 10"/>
          <p:cNvSpPr txBox="1"/>
          <p:nvPr/>
        </p:nvSpPr>
        <p:spPr>
          <a:xfrm>
            <a:off x="5477256" y="1719072"/>
            <a:ext cx="2011680" cy="457200"/>
          </a:xfrm>
          <a:prstGeom prst="rect">
            <a:avLst/>
          </a:prstGeom>
          <a:noFill/>
          <a:ln/>
        </p:spPr>
        <p:txBody>
          <a:bodyPr wrap="square" lIns="0" tIns="0" rIns="0" bIns="0" rtlCol="0" anchor="ctr"/>
          <a:lstStyle/>
          <a:p>
            <a:pPr marL="0" indent="0">
              <a:buNone/>
            </a:pPr>
            <a:r>
              <a:rPr lang="en-US" sz="1700" b="1" dirty="0">
                <a:solidFill>
                  <a:srgbClr val="241A45"/>
                </a:solidFill>
                <a:latin typeface="Bookman Old Style" pitchFamily="34" charset="0"/>
                <a:ea typeface="Bookman Old Style" pitchFamily="34" charset="-122"/>
                <a:cs typeface="Bookman Old Style" pitchFamily="34" charset="-120"/>
              </a:rPr>
              <a:t>electricity</a:t>
            </a:r>
            <a:endParaRPr lang="en-US" sz="1700" dirty="0"/>
          </a:p>
        </p:txBody>
      </p:sp>
      <p:sp>
        <p:nvSpPr>
          <p:cNvPr id="15" name="Text 11"/>
          <p:cNvSpPr txBox="1"/>
          <p:nvPr/>
        </p:nvSpPr>
        <p:spPr>
          <a:xfrm>
            <a:off x="5477256" y="2176272"/>
            <a:ext cx="2011680" cy="777240"/>
          </a:xfrm>
          <a:prstGeom prst="rect">
            <a:avLst/>
          </a:prstGeom>
          <a:noFill/>
          <a:ln/>
        </p:spPr>
        <p:txBody>
          <a:bodyPr wrap="square" lIns="0" tIns="0" rIns="0" bIns="0" rtlCol="0" anchor="ctr"/>
          <a:lstStyle/>
          <a:p>
            <a:pPr marL="0" indent="0">
              <a:buNone/>
            </a:pPr>
            <a:r>
              <a:rPr lang="en-US" sz="1200" dirty="0">
                <a:solidFill>
                  <a:srgbClr val="6A6284"/>
                </a:solidFill>
                <a:latin typeface="Calibri" pitchFamily="34" charset="0"/>
                <a:ea typeface="Calibri" pitchFamily="34" charset="-122"/>
                <a:cs typeface="Calibri" pitchFamily="34" charset="-120"/>
              </a:rPr>
              <a:t>the wave becomes a signal</a:t>
            </a:r>
            <a:endParaRPr lang="en-US" sz="1200" dirty="0"/>
          </a:p>
        </p:txBody>
      </p:sp>
      <p:sp>
        <p:nvSpPr>
          <p:cNvPr id="16" name="Shape 12"/>
          <p:cNvSpPr/>
          <p:nvPr/>
        </p:nvSpPr>
        <p:spPr>
          <a:xfrm>
            <a:off x="7772400" y="2176272"/>
            <a:ext cx="457200" cy="219456"/>
          </a:xfrm>
          <a:prstGeom prst="rightArrow">
            <a:avLst/>
          </a:prstGeom>
          <a:solidFill>
            <a:srgbClr val="D98A1F">
              <a:alpha val="80000"/>
            </a:srgbClr>
          </a:solidFill>
          <a:ln/>
        </p:spPr>
      </p:sp>
      <p:sp>
        <p:nvSpPr>
          <p:cNvPr id="17" name="Shape 13"/>
          <p:cNvSpPr/>
          <p:nvPr/>
        </p:nvSpPr>
        <p:spPr>
          <a:xfrm>
            <a:off x="8449056" y="1554480"/>
            <a:ext cx="3063240" cy="1463040"/>
          </a:xfrm>
          <a:prstGeom prst="roundRect">
            <a:avLst>
              <a:gd name="adj" fmla="val 7500"/>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8" name="Shape 14"/>
          <p:cNvSpPr/>
          <p:nvPr/>
        </p:nvSpPr>
        <p:spPr>
          <a:xfrm>
            <a:off x="8650224" y="1984248"/>
            <a:ext cx="603504" cy="603504"/>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9" name="Image 2" descr="C:\Users\MShaheen\Documents\parkinsons_voice_project\report\defence\figs\v_grid.png"/>
          <p:cNvPicPr>
            <a:picLocks noChangeAspect="1"/>
          </p:cNvPicPr>
          <p:nvPr/>
        </p:nvPicPr>
        <p:blipFill>
          <a:blip r:embed="rId6"/>
          <a:stretch>
            <a:fillRect/>
          </a:stretch>
        </p:blipFill>
        <p:spPr>
          <a:xfrm>
            <a:off x="8807135" y="2141159"/>
            <a:ext cx="289682" cy="289682"/>
          </a:xfrm>
          <a:prstGeom prst="rect">
            <a:avLst/>
          </a:prstGeom>
        </p:spPr>
      </p:pic>
      <p:sp>
        <p:nvSpPr>
          <p:cNvPr id="20" name="Text 15"/>
          <p:cNvSpPr txBox="1"/>
          <p:nvPr/>
        </p:nvSpPr>
        <p:spPr>
          <a:xfrm>
            <a:off x="9363456" y="1719072"/>
            <a:ext cx="2011680" cy="457200"/>
          </a:xfrm>
          <a:prstGeom prst="rect">
            <a:avLst/>
          </a:prstGeom>
          <a:noFill/>
          <a:ln/>
        </p:spPr>
        <p:txBody>
          <a:bodyPr wrap="square" lIns="0" tIns="0" rIns="0" bIns="0" rtlCol="0" anchor="ctr"/>
          <a:lstStyle/>
          <a:p>
            <a:pPr marL="0" indent="0">
              <a:buNone/>
            </a:pPr>
            <a:r>
              <a:rPr lang="en-US" sz="1700" b="1" dirty="0">
                <a:solidFill>
                  <a:srgbClr val="241A45"/>
                </a:solidFill>
                <a:latin typeface="Bookman Old Style" pitchFamily="34" charset="0"/>
                <a:ea typeface="Bookman Old Style" pitchFamily="34" charset="-122"/>
                <a:cs typeface="Bookman Old Style" pitchFamily="34" charset="-120"/>
              </a:rPr>
              <a:t>ADC</a:t>
            </a:r>
            <a:endParaRPr lang="en-US" sz="1700" dirty="0"/>
          </a:p>
        </p:txBody>
      </p:sp>
      <p:sp>
        <p:nvSpPr>
          <p:cNvPr id="21" name="Text 16"/>
          <p:cNvSpPr txBox="1"/>
          <p:nvPr/>
        </p:nvSpPr>
        <p:spPr>
          <a:xfrm>
            <a:off x="9363456" y="2176272"/>
            <a:ext cx="2011680" cy="777240"/>
          </a:xfrm>
          <a:prstGeom prst="rect">
            <a:avLst/>
          </a:prstGeom>
          <a:noFill/>
          <a:ln/>
        </p:spPr>
        <p:txBody>
          <a:bodyPr wrap="square" lIns="0" tIns="0" rIns="0" bIns="0" rtlCol="0" anchor="ctr"/>
          <a:lstStyle/>
          <a:p>
            <a:pPr marL="0" indent="0">
              <a:buNone/>
            </a:pPr>
            <a:r>
              <a:rPr lang="en-US" sz="1200" dirty="0">
                <a:solidFill>
                  <a:srgbClr val="6A6284"/>
                </a:solidFill>
                <a:latin typeface="Calibri" pitchFamily="34" charset="0"/>
                <a:ea typeface="Calibri" pitchFamily="34" charset="-122"/>
                <a:cs typeface="Calibri" pitchFamily="34" charset="-120"/>
              </a:rPr>
              <a:t>measures it 44,100 times</a:t>
            </a:r>
            <a:endParaRPr lang="en-US" sz="1200" dirty="0"/>
          </a:p>
          <a:p>
            <a:pPr marL="0" indent="0">
              <a:buNone/>
            </a:pPr>
            <a:r>
              <a:rPr lang="en-US" sz="1200" dirty="0">
                <a:solidFill>
                  <a:srgbClr val="6A6284"/>
                </a:solidFill>
                <a:latin typeface="Calibri" pitchFamily="34" charset="0"/>
                <a:ea typeface="Calibri" pitchFamily="34" charset="-122"/>
                <a:cs typeface="Calibri" pitchFamily="34" charset="-120"/>
              </a:rPr>
              <a:t>every second</a:t>
            </a:r>
            <a:endParaRPr lang="en-US" sz="1200" dirty="0"/>
          </a:p>
        </p:txBody>
      </p:sp>
      <p:pic>
        <p:nvPicPr>
          <p:cNvPr id="22" name="Image 3" descr="C:\Users\MShaheen\Documents\parkinsons_voice_project\report\defence\figs\adc3.png"/>
          <p:cNvPicPr>
            <a:picLocks noChangeAspect="1"/>
          </p:cNvPicPr>
          <p:nvPr/>
        </p:nvPicPr>
        <p:blipFill>
          <a:blip r:embed="rId7"/>
          <a:stretch>
            <a:fillRect/>
          </a:stretch>
        </p:blipFill>
        <p:spPr>
          <a:xfrm>
            <a:off x="2148840" y="3337560"/>
            <a:ext cx="7863840" cy="3047238"/>
          </a:xfrm>
          <a:prstGeom prst="rect">
            <a:avLst/>
          </a:prstGeom>
        </p:spPr>
      </p:pic>
      <p:sp>
        <p:nvSpPr>
          <p:cNvPr id="23" name="Text 17"/>
          <p:cNvSpPr txBox="1"/>
          <p:nvPr/>
        </p:nvSpPr>
        <p:spPr>
          <a:xfrm>
            <a:off x="822960" y="6035040"/>
            <a:ext cx="10543032" cy="411480"/>
          </a:xfrm>
          <a:prstGeom prst="rect">
            <a:avLst/>
          </a:prstGeom>
          <a:noFill/>
          <a:ln/>
        </p:spPr>
        <p:txBody>
          <a:bodyPr wrap="square" lIns="0" tIns="0" rIns="0" bIns="0" rtlCol="0" anchor="ctr"/>
          <a:lstStyle/>
          <a:p>
            <a:pPr marL="0" indent="0" algn="ctr">
              <a:buNone/>
            </a:pPr>
            <a:r>
              <a:rPr lang="en-US" sz="1550" b="1" dirty="0">
                <a:solidFill>
                  <a:srgbClr val="43307A"/>
                </a:solidFill>
                <a:latin typeface="Calibri" pitchFamily="34" charset="0"/>
                <a:ea typeface="Calibri" pitchFamily="34" charset="-122"/>
                <a:cs typeface="Calibri" pitchFamily="34" charset="-120"/>
              </a:rPr>
              <a:t>one smooth wave</a:t>
            </a:r>
            <a:r>
              <a:rPr lang="en-US" sz="1550" dirty="0">
                <a:solidFill>
                  <a:srgbClr val="6A6284"/>
                </a:solidFill>
                <a:latin typeface="Calibri" pitchFamily="34" charset="0"/>
                <a:ea typeface="Calibri" pitchFamily="34" charset="-122"/>
                <a:cs typeface="Calibri" pitchFamily="34" charset="-120"/>
              </a:rPr>
              <a:t>      →      </a:t>
            </a:r>
            <a:r>
              <a:rPr lang="en-US" sz="1550" b="1" dirty="0">
                <a:solidFill>
                  <a:srgbClr val="D98A1F"/>
                </a:solidFill>
                <a:latin typeface="Calibri" pitchFamily="34" charset="0"/>
                <a:ea typeface="Calibri" pitchFamily="34" charset="-122"/>
                <a:cs typeface="Calibri" pitchFamily="34" charset="-120"/>
              </a:rPr>
              <a:t>44,100 numbers every second</a:t>
            </a:r>
            <a:endParaRPr lang="en-US" sz="15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nodeType="withEffect">
                                  <p:stCondLst>
                                    <p:cond delay="24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24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P spid="9" grpId="0" animBg="1"/>
      <p:bldP spid="14" grpId="0" animBg="1"/>
      <p:bldP spid="15" grpId="0" animBg="1"/>
      <p:bldP spid="20" grpId="0" animBg="1"/>
      <p:bldP spid="21"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03  </a:t>
            </a:r>
            <a:r>
              <a:rPr lang="en-US" sz="1300" kern="0" spc="200" dirty="0">
                <a:solidFill>
                  <a:srgbClr val="6A6284"/>
                </a:solidFill>
                <a:latin typeface="Calibri" pitchFamily="34" charset="0"/>
                <a:ea typeface="Calibri" pitchFamily="34" charset="-122"/>
                <a:cs typeface="Calibri" pitchFamily="34" charset="-120"/>
              </a:rPr>
              <a:t>·  SOUND BECOMES NUMBERS</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One channel, nothing lost</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699516" y="1828800"/>
            <a:ext cx="5074920" cy="2194560"/>
          </a:xfrm>
          <a:prstGeom prst="roundRect">
            <a:avLst>
              <a:gd name="adj" fmla="val 5000"/>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Shape 4"/>
          <p:cNvSpPr/>
          <p:nvPr/>
        </p:nvSpPr>
        <p:spPr>
          <a:xfrm>
            <a:off x="2871216" y="1463040"/>
            <a:ext cx="731520" cy="731520"/>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7" name="Image 0" descr="C:\Users\MShaheen\Documents\parkinsons_voice_project\report\defence\figs\v_volume.png"/>
          <p:cNvPicPr>
            <a:picLocks noChangeAspect="1"/>
          </p:cNvPicPr>
          <p:nvPr/>
        </p:nvPicPr>
        <p:blipFill>
          <a:blip r:embed="rId4"/>
          <a:stretch>
            <a:fillRect/>
          </a:stretch>
        </p:blipFill>
        <p:spPr>
          <a:xfrm>
            <a:off x="3061411" y="1653235"/>
            <a:ext cx="351130" cy="351130"/>
          </a:xfrm>
          <a:prstGeom prst="rect">
            <a:avLst/>
          </a:prstGeom>
        </p:spPr>
      </p:pic>
      <p:sp>
        <p:nvSpPr>
          <p:cNvPr id="8" name="Text 5"/>
          <p:cNvSpPr txBox="1"/>
          <p:nvPr/>
        </p:nvSpPr>
        <p:spPr>
          <a:xfrm>
            <a:off x="699516" y="2286000"/>
            <a:ext cx="5074920" cy="548640"/>
          </a:xfrm>
          <a:prstGeom prst="rect">
            <a:avLst/>
          </a:prstGeom>
          <a:noFill/>
          <a:ln/>
        </p:spPr>
        <p:txBody>
          <a:bodyPr wrap="square" lIns="0" tIns="0" rIns="0" bIns="0" rtlCol="0" anchor="ctr"/>
          <a:lstStyle/>
          <a:p>
            <a:pPr marL="0" indent="0" algn="ctr">
              <a:buNone/>
            </a:pPr>
            <a:r>
              <a:rPr lang="en-US" sz="2400" b="1" dirty="0">
                <a:solidFill>
                  <a:srgbClr val="241A45"/>
                </a:solidFill>
                <a:latin typeface="Bookman Old Style" pitchFamily="34" charset="0"/>
                <a:ea typeface="Bookman Old Style" pitchFamily="34" charset="-122"/>
                <a:cs typeface="Bookman Old Style" pitchFamily="34" charset="-120"/>
              </a:rPr>
              <a:t>Mono</a:t>
            </a:r>
            <a:endParaRPr lang="en-US" sz="2400" dirty="0"/>
          </a:p>
        </p:txBody>
      </p:sp>
      <p:sp>
        <p:nvSpPr>
          <p:cNvPr id="9" name="Text 6"/>
          <p:cNvSpPr txBox="1"/>
          <p:nvPr/>
        </p:nvSpPr>
        <p:spPr>
          <a:xfrm>
            <a:off x="1019556" y="2926080"/>
            <a:ext cx="4434840" cy="914400"/>
          </a:xfrm>
          <a:prstGeom prst="rect">
            <a:avLst/>
          </a:prstGeom>
          <a:noFill/>
          <a:ln/>
        </p:spPr>
        <p:txBody>
          <a:bodyPr wrap="square" lIns="0" tIns="0" rIns="0" bIns="0" rtlCol="0" anchor="ctr"/>
          <a:lstStyle/>
          <a:p>
            <a:pPr marL="0" indent="0" algn="ctr">
              <a:buNone/>
            </a:pPr>
            <a:r>
              <a:rPr lang="en-US" sz="1450" dirty="0">
                <a:solidFill>
                  <a:srgbClr val="6A6284"/>
                </a:solidFill>
                <a:latin typeface="Calibri" pitchFamily="34" charset="0"/>
                <a:ea typeface="Calibri" pitchFamily="34" charset="-122"/>
                <a:cs typeface="Calibri" pitchFamily="34" charset="-120"/>
              </a:rPr>
              <a:t>one channel = one list of numbers.</a:t>
            </a:r>
            <a:endParaRPr lang="en-US" sz="1450" dirty="0"/>
          </a:p>
          <a:p>
            <a:pPr marL="0" indent="0" algn="ctr">
              <a:buNone/>
            </a:pPr>
            <a:r>
              <a:rPr lang="en-US" sz="1450" dirty="0">
                <a:solidFill>
                  <a:srgbClr val="6A6284"/>
                </a:solidFill>
                <a:latin typeface="Calibri" pitchFamily="34" charset="0"/>
                <a:ea typeface="Calibri" pitchFamily="34" charset="-122"/>
                <a:cs typeface="Calibri" pitchFamily="34" charset="-120"/>
              </a:rPr>
              <a:t>One voice needs only one list.</a:t>
            </a:r>
            <a:endParaRPr lang="en-US" sz="1450" dirty="0"/>
          </a:p>
        </p:txBody>
      </p:sp>
      <p:sp>
        <p:nvSpPr>
          <p:cNvPr id="10" name="Shape 7"/>
          <p:cNvSpPr/>
          <p:nvPr/>
        </p:nvSpPr>
        <p:spPr>
          <a:xfrm>
            <a:off x="6414516" y="1828800"/>
            <a:ext cx="5074920" cy="2194560"/>
          </a:xfrm>
          <a:prstGeom prst="roundRect">
            <a:avLst>
              <a:gd name="adj" fmla="val 5000"/>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1" name="Shape 8"/>
          <p:cNvSpPr/>
          <p:nvPr/>
        </p:nvSpPr>
        <p:spPr>
          <a:xfrm>
            <a:off x="8586216" y="1463040"/>
            <a:ext cx="731520" cy="731520"/>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2" name="Image 1" descr="C:\Users\MShaheen\Documents\parkinsons_voice_project\report\defence\figs\v_wavfile.png"/>
          <p:cNvPicPr>
            <a:picLocks noChangeAspect="1"/>
          </p:cNvPicPr>
          <p:nvPr/>
        </p:nvPicPr>
        <p:blipFill>
          <a:blip r:embed="rId5"/>
          <a:stretch>
            <a:fillRect/>
          </a:stretch>
        </p:blipFill>
        <p:spPr>
          <a:xfrm>
            <a:off x="8776411" y="1653235"/>
            <a:ext cx="351130" cy="351130"/>
          </a:xfrm>
          <a:prstGeom prst="rect">
            <a:avLst/>
          </a:prstGeom>
        </p:spPr>
      </p:pic>
      <p:sp>
        <p:nvSpPr>
          <p:cNvPr id="13" name="Text 9"/>
          <p:cNvSpPr txBox="1"/>
          <p:nvPr/>
        </p:nvSpPr>
        <p:spPr>
          <a:xfrm>
            <a:off x="6414516" y="2286000"/>
            <a:ext cx="5074920" cy="548640"/>
          </a:xfrm>
          <a:prstGeom prst="rect">
            <a:avLst/>
          </a:prstGeom>
          <a:noFill/>
          <a:ln/>
        </p:spPr>
        <p:txBody>
          <a:bodyPr wrap="square" lIns="0" tIns="0" rIns="0" bIns="0" rtlCol="0" anchor="ctr"/>
          <a:lstStyle/>
          <a:p>
            <a:pPr marL="0" indent="0" algn="ctr">
              <a:buNone/>
            </a:pPr>
            <a:r>
              <a:rPr lang="en-US" sz="2400" b="1" dirty="0">
                <a:solidFill>
                  <a:srgbClr val="241A45"/>
                </a:solidFill>
                <a:latin typeface="Bookman Old Style" pitchFamily="34" charset="0"/>
                <a:ea typeface="Bookman Old Style" pitchFamily="34" charset="-122"/>
                <a:cs typeface="Bookman Old Style" pitchFamily="34" charset="-120"/>
              </a:rPr>
              <a:t>WAV file</a:t>
            </a:r>
            <a:endParaRPr lang="en-US" sz="2400" dirty="0"/>
          </a:p>
        </p:txBody>
      </p:sp>
      <p:sp>
        <p:nvSpPr>
          <p:cNvPr id="14" name="Text 10"/>
          <p:cNvSpPr txBox="1"/>
          <p:nvPr/>
        </p:nvSpPr>
        <p:spPr>
          <a:xfrm>
            <a:off x="6734556" y="2926080"/>
            <a:ext cx="4434840" cy="914400"/>
          </a:xfrm>
          <a:prstGeom prst="rect">
            <a:avLst/>
          </a:prstGeom>
          <a:noFill/>
          <a:ln/>
        </p:spPr>
        <p:txBody>
          <a:bodyPr wrap="square" lIns="0" tIns="0" rIns="0" bIns="0" rtlCol="0" anchor="ctr"/>
          <a:lstStyle/>
          <a:p>
            <a:pPr marL="0" indent="0" algn="ctr">
              <a:buNone/>
            </a:pPr>
            <a:r>
              <a:rPr lang="en-US" sz="1450" dirty="0">
                <a:solidFill>
                  <a:srgbClr val="6A6284"/>
                </a:solidFill>
                <a:latin typeface="Calibri" pitchFamily="34" charset="0"/>
                <a:ea typeface="Calibri" pitchFamily="34" charset="-122"/>
                <a:cs typeface="Calibri" pitchFamily="34" charset="-120"/>
              </a:rPr>
              <a:t>keeps every number exactly as recorded.</a:t>
            </a:r>
            <a:endParaRPr lang="en-US" sz="1450" dirty="0"/>
          </a:p>
          <a:p>
            <a:pPr marL="0" indent="0" algn="ctr">
              <a:buNone/>
            </a:pPr>
            <a:r>
              <a:rPr lang="en-US" sz="1450" dirty="0">
                <a:solidFill>
                  <a:srgbClr val="6A6284"/>
                </a:solidFill>
                <a:latin typeface="Calibri" pitchFamily="34" charset="0"/>
                <a:ea typeface="Calibri" pitchFamily="34" charset="-122"/>
                <a:cs typeface="Calibri" pitchFamily="34" charset="-120"/>
              </a:rPr>
              <a:t>Nothing deleted, nothing lost.</a:t>
            </a:r>
            <a:endParaRPr lang="en-US" sz="1450" dirty="0"/>
          </a:p>
        </p:txBody>
      </p:sp>
      <p:sp>
        <p:nvSpPr>
          <p:cNvPr id="15" name="Shape 11"/>
          <p:cNvSpPr/>
          <p:nvPr/>
        </p:nvSpPr>
        <p:spPr>
          <a:xfrm>
            <a:off x="1828800" y="4572000"/>
            <a:ext cx="8531352" cy="960120"/>
          </a:xfrm>
          <a:prstGeom prst="roundRect">
            <a:avLst>
              <a:gd name="adj" fmla="val 11429"/>
            </a:avLst>
          </a:prstGeom>
          <a:solidFill>
            <a:srgbClr val="F1EDFA"/>
          </a:solidFill>
          <a:ln w="12700">
            <a:solidFill>
              <a:srgbClr val="E4DFF2"/>
            </a:solidFill>
            <a:prstDash val="solid"/>
          </a:ln>
          <a:effectLst>
            <a:outerShdw blurRad="127000" dist="38100" dir="5400000" algn="bl" rotWithShape="0">
              <a:srgbClr val="B4A8D4">
                <a:alpha val="40000"/>
              </a:srgbClr>
            </a:outerShdw>
          </a:effectLst>
        </p:spPr>
      </p:sp>
      <p:sp>
        <p:nvSpPr>
          <p:cNvPr id="16" name="Text 12"/>
          <p:cNvSpPr txBox="1"/>
          <p:nvPr/>
        </p:nvSpPr>
        <p:spPr>
          <a:xfrm>
            <a:off x="1828800" y="4572000"/>
            <a:ext cx="8531352" cy="960120"/>
          </a:xfrm>
          <a:prstGeom prst="rect">
            <a:avLst/>
          </a:prstGeom>
          <a:noFill/>
          <a:ln/>
        </p:spPr>
        <p:txBody>
          <a:bodyPr wrap="square" lIns="1905" tIns="1905" rIns="1905" bIns="1905" rtlCol="0" anchor="ctr"/>
          <a:lstStyle/>
          <a:p>
            <a:pPr marL="0" indent="0" algn="ctr">
              <a:buNone/>
            </a:pPr>
            <a:r>
              <a:rPr lang="en-US" sz="1550" b="1" dirty="0">
                <a:solidFill>
                  <a:srgbClr val="43307A"/>
                </a:solidFill>
                <a:latin typeface="Calibri" pitchFamily="34" charset="0"/>
                <a:ea typeface="Calibri" pitchFamily="34" charset="-122"/>
                <a:cs typeface="Calibri" pitchFamily="34" charset="-120"/>
              </a:rPr>
              <a:t>Why not MP3?  </a:t>
            </a:r>
            <a:r>
              <a:rPr lang="en-US" sz="1550" dirty="0">
                <a:solidFill>
                  <a:srgbClr val="241A45"/>
                </a:solidFill>
                <a:latin typeface="Calibri" pitchFamily="34" charset="0"/>
                <a:ea typeface="Calibri" pitchFamily="34" charset="-122"/>
                <a:cs typeface="Calibri" pitchFamily="34" charset="-120"/>
              </a:rPr>
              <a:t>MP3 deletes small details to save space — and the small details are exactly what we measure.</a:t>
            </a:r>
            <a:endParaRPr lang="en-US" sz="15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P spid="9" grpId="0" animBg="1"/>
      <p:bldP spid="13" grpId="0" animBg="1"/>
      <p:bldP spid="14"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04  </a:t>
            </a:r>
            <a:r>
              <a:rPr lang="en-US" sz="1300" kern="0" spc="200" dirty="0">
                <a:solidFill>
                  <a:srgbClr val="6A6284"/>
                </a:solidFill>
                <a:latin typeface="Calibri" pitchFamily="34" charset="0"/>
                <a:ea typeface="Calibri" pitchFamily="34" charset="-122"/>
                <a:cs typeface="Calibri" pitchFamily="34" charset="-120"/>
              </a:rPr>
              <a:t>·  THE DATA</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Real voices, checked before use</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310896" y="1691640"/>
            <a:ext cx="2514600" cy="1508760"/>
          </a:xfrm>
          <a:prstGeom prst="roundRect">
            <a:avLst>
              <a:gd name="adj" fmla="val 727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Text 4"/>
          <p:cNvSpPr txBox="1"/>
          <p:nvPr/>
        </p:nvSpPr>
        <p:spPr>
          <a:xfrm>
            <a:off x="310896" y="1856232"/>
            <a:ext cx="2514600" cy="731520"/>
          </a:xfrm>
          <a:prstGeom prst="rect">
            <a:avLst/>
          </a:prstGeom>
          <a:noFill/>
          <a:ln/>
        </p:spPr>
        <p:txBody>
          <a:bodyPr wrap="square" lIns="0" tIns="0" rIns="0" bIns="0" rtlCol="0" anchor="ctr"/>
          <a:lstStyle/>
          <a:p>
            <a:pPr marL="0" indent="0" algn="ctr">
              <a:buNone/>
            </a:pPr>
            <a:r>
              <a:rPr lang="en-US" sz="3000" b="1" dirty="0">
                <a:solidFill>
                  <a:srgbClr val="43307A"/>
                </a:solidFill>
                <a:latin typeface="Bookman Old Style" pitchFamily="34" charset="0"/>
                <a:ea typeface="Bookman Old Style" pitchFamily="34" charset="-122"/>
                <a:cs typeface="Bookman Old Style" pitchFamily="34" charset="-120"/>
              </a:rPr>
              <a:t>37</a:t>
            </a:r>
            <a:endParaRPr lang="en-US" sz="3000" dirty="0"/>
          </a:p>
        </p:txBody>
      </p:sp>
      <p:sp>
        <p:nvSpPr>
          <p:cNvPr id="7" name="Text 5"/>
          <p:cNvSpPr txBox="1"/>
          <p:nvPr/>
        </p:nvSpPr>
        <p:spPr>
          <a:xfrm>
            <a:off x="310896" y="2624328"/>
            <a:ext cx="2514600" cy="411480"/>
          </a:xfrm>
          <a:prstGeom prst="rect">
            <a:avLst/>
          </a:prstGeom>
          <a:noFill/>
          <a:ln/>
        </p:spPr>
        <p:txBody>
          <a:bodyPr wrap="square" lIns="0" tIns="0" rIns="0" bIns="0" rtlCol="0" anchor="ctr"/>
          <a:lstStyle/>
          <a:p>
            <a:pPr marL="0" indent="0" algn="ctr">
              <a:buNone/>
            </a:pPr>
            <a:r>
              <a:rPr lang="en-US" sz="1300" dirty="0">
                <a:solidFill>
                  <a:srgbClr val="6A6284"/>
                </a:solidFill>
                <a:latin typeface="Calibri" pitchFamily="34" charset="0"/>
                <a:ea typeface="Calibri" pitchFamily="34" charset="-122"/>
                <a:cs typeface="Calibri" pitchFamily="34" charset="-120"/>
              </a:rPr>
              <a:t>people</a:t>
            </a:r>
            <a:endParaRPr lang="en-US" sz="1300" dirty="0"/>
          </a:p>
        </p:txBody>
      </p:sp>
      <p:sp>
        <p:nvSpPr>
          <p:cNvPr id="8" name="Shape 6"/>
          <p:cNvSpPr/>
          <p:nvPr/>
        </p:nvSpPr>
        <p:spPr>
          <a:xfrm>
            <a:off x="3328416" y="1691640"/>
            <a:ext cx="2514600" cy="1508760"/>
          </a:xfrm>
          <a:prstGeom prst="roundRect">
            <a:avLst>
              <a:gd name="adj" fmla="val 727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9" name="Text 7"/>
          <p:cNvSpPr txBox="1"/>
          <p:nvPr/>
        </p:nvSpPr>
        <p:spPr>
          <a:xfrm>
            <a:off x="3328416" y="1856232"/>
            <a:ext cx="2514600" cy="731520"/>
          </a:xfrm>
          <a:prstGeom prst="rect">
            <a:avLst/>
          </a:prstGeom>
          <a:noFill/>
          <a:ln/>
        </p:spPr>
        <p:txBody>
          <a:bodyPr wrap="square" lIns="0" tIns="0" rIns="0" bIns="0" rtlCol="0" anchor="ctr"/>
          <a:lstStyle/>
          <a:p>
            <a:pPr marL="0" indent="0" algn="ctr">
              <a:buNone/>
            </a:pPr>
            <a:r>
              <a:rPr lang="en-US" sz="3000" b="1" dirty="0">
                <a:solidFill>
                  <a:srgbClr val="43307A"/>
                </a:solidFill>
                <a:latin typeface="Bookman Old Style" pitchFamily="34" charset="0"/>
                <a:ea typeface="Bookman Old Style" pitchFamily="34" charset="-122"/>
                <a:cs typeface="Bookman Old Style" pitchFamily="34" charset="-120"/>
              </a:rPr>
              <a:t>21 / 16</a:t>
            </a:r>
            <a:endParaRPr lang="en-US" sz="3000" dirty="0"/>
          </a:p>
        </p:txBody>
      </p:sp>
      <p:sp>
        <p:nvSpPr>
          <p:cNvPr id="10" name="Text 8"/>
          <p:cNvSpPr txBox="1"/>
          <p:nvPr/>
        </p:nvSpPr>
        <p:spPr>
          <a:xfrm>
            <a:off x="3328416" y="2624328"/>
            <a:ext cx="2514600" cy="411480"/>
          </a:xfrm>
          <a:prstGeom prst="rect">
            <a:avLst/>
          </a:prstGeom>
          <a:noFill/>
          <a:ln/>
        </p:spPr>
        <p:txBody>
          <a:bodyPr wrap="square" lIns="0" tIns="0" rIns="0" bIns="0" rtlCol="0" anchor="ctr"/>
          <a:lstStyle/>
          <a:p>
            <a:pPr marL="0" indent="0" algn="ctr">
              <a:buNone/>
            </a:pPr>
            <a:r>
              <a:rPr lang="en-US" sz="1300" dirty="0">
                <a:solidFill>
                  <a:srgbClr val="6A6284"/>
                </a:solidFill>
                <a:latin typeface="Calibri" pitchFamily="34" charset="0"/>
                <a:ea typeface="Calibri" pitchFamily="34" charset="-122"/>
                <a:cs typeface="Calibri" pitchFamily="34" charset="-120"/>
              </a:rPr>
              <a:t>healthy / Parkinson's</a:t>
            </a:r>
            <a:endParaRPr lang="en-US" sz="1300" dirty="0"/>
          </a:p>
        </p:txBody>
      </p:sp>
      <p:sp>
        <p:nvSpPr>
          <p:cNvPr id="11" name="Shape 9"/>
          <p:cNvSpPr/>
          <p:nvPr/>
        </p:nvSpPr>
        <p:spPr>
          <a:xfrm>
            <a:off x="6345936" y="1691640"/>
            <a:ext cx="2514600" cy="1508760"/>
          </a:xfrm>
          <a:prstGeom prst="roundRect">
            <a:avLst>
              <a:gd name="adj" fmla="val 727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2" name="Text 10"/>
          <p:cNvSpPr txBox="1"/>
          <p:nvPr/>
        </p:nvSpPr>
        <p:spPr>
          <a:xfrm>
            <a:off x="6345936" y="1856232"/>
            <a:ext cx="2514600" cy="731520"/>
          </a:xfrm>
          <a:prstGeom prst="rect">
            <a:avLst/>
          </a:prstGeom>
          <a:noFill/>
          <a:ln/>
        </p:spPr>
        <p:txBody>
          <a:bodyPr wrap="square" lIns="0" tIns="0" rIns="0" bIns="0" rtlCol="0" anchor="ctr"/>
          <a:lstStyle/>
          <a:p>
            <a:pPr marL="0" indent="0" algn="ctr">
              <a:buNone/>
            </a:pPr>
            <a:r>
              <a:rPr lang="en-US" sz="3000" b="1" dirty="0">
                <a:solidFill>
                  <a:srgbClr val="43307A"/>
                </a:solidFill>
                <a:latin typeface="Bookman Old Style" pitchFamily="34" charset="0"/>
                <a:ea typeface="Bookman Old Style" pitchFamily="34" charset="-122"/>
                <a:cs typeface="Bookman Old Style" pitchFamily="34" charset="-120"/>
              </a:rPr>
              <a:t>73</a:t>
            </a:r>
            <a:endParaRPr lang="en-US" sz="3000" dirty="0"/>
          </a:p>
        </p:txBody>
      </p:sp>
      <p:sp>
        <p:nvSpPr>
          <p:cNvPr id="13" name="Text 11"/>
          <p:cNvSpPr txBox="1"/>
          <p:nvPr/>
        </p:nvSpPr>
        <p:spPr>
          <a:xfrm>
            <a:off x="6345936" y="2624328"/>
            <a:ext cx="2514600" cy="411480"/>
          </a:xfrm>
          <a:prstGeom prst="rect">
            <a:avLst/>
          </a:prstGeom>
          <a:noFill/>
          <a:ln/>
        </p:spPr>
        <p:txBody>
          <a:bodyPr wrap="square" lIns="0" tIns="0" rIns="0" bIns="0" rtlCol="0" anchor="ctr"/>
          <a:lstStyle/>
          <a:p>
            <a:pPr marL="0" indent="0" algn="ctr">
              <a:buNone/>
            </a:pPr>
            <a:r>
              <a:rPr lang="en-US" sz="1300" dirty="0">
                <a:solidFill>
                  <a:srgbClr val="6A6284"/>
                </a:solidFill>
                <a:latin typeface="Calibri" pitchFamily="34" charset="0"/>
                <a:ea typeface="Calibri" pitchFamily="34" charset="-122"/>
                <a:cs typeface="Calibri" pitchFamily="34" charset="-120"/>
              </a:rPr>
              <a:t>recordings</a:t>
            </a:r>
            <a:endParaRPr lang="en-US" sz="1300" dirty="0"/>
          </a:p>
        </p:txBody>
      </p:sp>
      <p:sp>
        <p:nvSpPr>
          <p:cNvPr id="14" name="Shape 12"/>
          <p:cNvSpPr/>
          <p:nvPr/>
        </p:nvSpPr>
        <p:spPr>
          <a:xfrm>
            <a:off x="9363456" y="1691640"/>
            <a:ext cx="2514600" cy="1508760"/>
          </a:xfrm>
          <a:prstGeom prst="roundRect">
            <a:avLst>
              <a:gd name="adj" fmla="val 727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5" name="Text 13"/>
          <p:cNvSpPr txBox="1"/>
          <p:nvPr/>
        </p:nvSpPr>
        <p:spPr>
          <a:xfrm>
            <a:off x="9363456" y="1856232"/>
            <a:ext cx="2514600" cy="731520"/>
          </a:xfrm>
          <a:prstGeom prst="rect">
            <a:avLst/>
          </a:prstGeom>
          <a:noFill/>
          <a:ln/>
        </p:spPr>
        <p:txBody>
          <a:bodyPr wrap="square" lIns="0" tIns="0" rIns="0" bIns="0" rtlCol="0" anchor="ctr"/>
          <a:lstStyle/>
          <a:p>
            <a:pPr marL="0" indent="0" algn="ctr">
              <a:buNone/>
            </a:pPr>
            <a:r>
              <a:rPr lang="en-US" sz="3000" b="1" dirty="0">
                <a:solidFill>
                  <a:srgbClr val="43307A"/>
                </a:solidFill>
                <a:latin typeface="Bookman Old Style" pitchFamily="34" charset="0"/>
                <a:ea typeface="Bookman Old Style" pitchFamily="34" charset="-122"/>
                <a:cs typeface="Bookman Old Style" pitchFamily="34" charset="-120"/>
              </a:rPr>
              <a:t>~2 min</a:t>
            </a:r>
            <a:endParaRPr lang="en-US" sz="3000" dirty="0"/>
          </a:p>
        </p:txBody>
      </p:sp>
      <p:sp>
        <p:nvSpPr>
          <p:cNvPr id="16" name="Text 14"/>
          <p:cNvSpPr txBox="1"/>
          <p:nvPr/>
        </p:nvSpPr>
        <p:spPr>
          <a:xfrm>
            <a:off x="9363456" y="2624328"/>
            <a:ext cx="2514600" cy="411480"/>
          </a:xfrm>
          <a:prstGeom prst="rect">
            <a:avLst/>
          </a:prstGeom>
          <a:noFill/>
          <a:ln/>
        </p:spPr>
        <p:txBody>
          <a:bodyPr wrap="square" lIns="0" tIns="0" rIns="0" bIns="0" rtlCol="0" anchor="ctr"/>
          <a:lstStyle/>
          <a:p>
            <a:pPr marL="0" indent="0" algn="ctr">
              <a:buNone/>
            </a:pPr>
            <a:r>
              <a:rPr lang="en-US" sz="1300" dirty="0">
                <a:solidFill>
                  <a:srgbClr val="6A6284"/>
                </a:solidFill>
                <a:latin typeface="Calibri" pitchFamily="34" charset="0"/>
                <a:ea typeface="Calibri" pitchFamily="34" charset="-122"/>
                <a:cs typeface="Calibri" pitchFamily="34" charset="-120"/>
              </a:rPr>
              <a:t>each, on a phone</a:t>
            </a:r>
            <a:endParaRPr lang="en-US" sz="1300" dirty="0"/>
          </a:p>
        </p:txBody>
      </p:sp>
      <p:sp>
        <p:nvSpPr>
          <p:cNvPr id="17" name="Shape 15"/>
          <p:cNvSpPr/>
          <p:nvPr/>
        </p:nvSpPr>
        <p:spPr>
          <a:xfrm>
            <a:off x="1234440" y="3794760"/>
            <a:ext cx="640080" cy="640080"/>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8" name="Image 0" descr="C:\Users\MShaheen\Documents\parkinsons_voice_project\report\defence\figs\v_db.png"/>
          <p:cNvPicPr>
            <a:picLocks noChangeAspect="1"/>
          </p:cNvPicPr>
          <p:nvPr/>
        </p:nvPicPr>
        <p:blipFill>
          <a:blip r:embed="rId4"/>
          <a:stretch>
            <a:fillRect/>
          </a:stretch>
        </p:blipFill>
        <p:spPr>
          <a:xfrm>
            <a:off x="1400861" y="3961181"/>
            <a:ext cx="307238" cy="307238"/>
          </a:xfrm>
          <a:prstGeom prst="rect">
            <a:avLst/>
          </a:prstGeom>
        </p:spPr>
      </p:pic>
      <p:sp>
        <p:nvSpPr>
          <p:cNvPr id="19" name="Text 16"/>
          <p:cNvSpPr txBox="1"/>
          <p:nvPr/>
        </p:nvSpPr>
        <p:spPr>
          <a:xfrm>
            <a:off x="2103120" y="3703320"/>
            <a:ext cx="9079992" cy="914400"/>
          </a:xfrm>
          <a:prstGeom prst="rect">
            <a:avLst/>
          </a:prstGeom>
          <a:noFill/>
          <a:ln/>
        </p:spPr>
        <p:txBody>
          <a:bodyPr wrap="square" lIns="0" tIns="0" rIns="0" bIns="0" rtlCol="0" anchor="ctr"/>
          <a:lstStyle/>
          <a:p>
            <a:pPr marL="0" indent="0">
              <a:buNone/>
            </a:pPr>
            <a:r>
              <a:rPr lang="en-US" sz="1500" b="1" dirty="0">
                <a:solidFill>
                  <a:srgbClr val="241A45"/>
                </a:solidFill>
                <a:latin typeface="Calibri" pitchFamily="34" charset="0"/>
                <a:ea typeface="Calibri" pitchFamily="34" charset="-122"/>
                <a:cs typeface="Calibri" pitchFamily="34" charset="-120"/>
              </a:rPr>
              <a:t>MDVR-KCL</a:t>
            </a:r>
            <a:r>
              <a:rPr lang="en-US" sz="1500" dirty="0">
                <a:solidFill>
                  <a:srgbClr val="6A6284"/>
                </a:solidFill>
                <a:latin typeface="Calibri" pitchFamily="34" charset="0"/>
                <a:ea typeface="Calibri" pitchFamily="34" charset="-122"/>
                <a:cs typeface="Calibri" pitchFamily="34" charset="-120"/>
              </a:rPr>
              <a:t> — a public research dataset from King's College London.</a:t>
            </a:r>
            <a:endParaRPr lang="en-US" sz="1500" dirty="0"/>
          </a:p>
          <a:p>
            <a:pPr marL="0" indent="0">
              <a:buNone/>
            </a:pPr>
            <a:r>
              <a:rPr lang="en-US" sz="1500" dirty="0">
                <a:solidFill>
                  <a:srgbClr val="6A6284"/>
                </a:solidFill>
                <a:latin typeface="Calibri" pitchFamily="34" charset="0"/>
                <a:ea typeface="Calibri" pitchFamily="34" charset="-122"/>
                <a:cs typeface="Calibri" pitchFamily="34" charset="-120"/>
              </a:rPr>
              <a:t>Everyone reads a text and has a free conversation — normal speech.</a:t>
            </a:r>
            <a:endParaRPr lang="en-US" sz="1500" dirty="0"/>
          </a:p>
        </p:txBody>
      </p:sp>
      <p:sp>
        <p:nvSpPr>
          <p:cNvPr id="20" name="Shape 17"/>
          <p:cNvSpPr/>
          <p:nvPr/>
        </p:nvSpPr>
        <p:spPr>
          <a:xfrm>
            <a:off x="1828800" y="4983480"/>
            <a:ext cx="8531352" cy="914400"/>
          </a:xfrm>
          <a:prstGeom prst="roundRect">
            <a:avLst>
              <a:gd name="adj" fmla="val 12000"/>
            </a:avLst>
          </a:prstGeom>
          <a:solidFill>
            <a:srgbClr val="F1EDFA"/>
          </a:solidFill>
          <a:ln w="12700">
            <a:solidFill>
              <a:srgbClr val="E4DFF2"/>
            </a:solidFill>
            <a:prstDash val="solid"/>
          </a:ln>
          <a:effectLst>
            <a:outerShdw blurRad="127000" dist="38100" dir="5400000" algn="bl" rotWithShape="0">
              <a:srgbClr val="B4A8D4">
                <a:alpha val="40000"/>
              </a:srgbClr>
            </a:outerShdw>
          </a:effectLst>
        </p:spPr>
      </p:sp>
      <p:sp>
        <p:nvSpPr>
          <p:cNvPr id="21" name="Text 18"/>
          <p:cNvSpPr txBox="1"/>
          <p:nvPr/>
        </p:nvSpPr>
        <p:spPr>
          <a:xfrm>
            <a:off x="1828800" y="4983480"/>
            <a:ext cx="8531352" cy="914400"/>
          </a:xfrm>
          <a:prstGeom prst="rect">
            <a:avLst/>
          </a:prstGeom>
          <a:noFill/>
          <a:ln/>
        </p:spPr>
        <p:txBody>
          <a:bodyPr wrap="square" lIns="1905" tIns="1905" rIns="1905" bIns="1905" rtlCol="0" anchor="ctr"/>
          <a:lstStyle/>
          <a:p>
            <a:pPr marL="0" indent="0" algn="ctr">
              <a:buNone/>
            </a:pPr>
            <a:r>
              <a:rPr lang="en-US" sz="1500" b="1" dirty="0">
                <a:solidFill>
                  <a:srgbClr val="43307A"/>
                </a:solidFill>
                <a:latin typeface="Calibri" pitchFamily="34" charset="0"/>
                <a:ea typeface="Calibri" pitchFamily="34" charset="-122"/>
                <a:cs typeface="Calibri" pitchFamily="34" charset="-120"/>
              </a:rPr>
              <a:t>Checked before training:  </a:t>
            </a:r>
            <a:r>
              <a:rPr lang="en-US" sz="1500" dirty="0">
                <a:solidFill>
                  <a:srgbClr val="241A45"/>
                </a:solidFill>
                <a:latin typeface="Calibri" pitchFamily="34" charset="0"/>
                <a:ea typeface="Calibri" pitchFamily="34" charset="-122"/>
                <a:cs typeface="Calibri" pitchFamily="34" charset="-120"/>
              </a:rPr>
              <a:t>labels, speaker identity, no duplicates, no damaged files.</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9" grpId="0" animBg="1"/>
      <p:bldP spid="10" grpId="0" animBg="1"/>
      <p:bldP spid="12" grpId="0" animBg="1"/>
      <p:bldP spid="13" grpId="0" animBg="1"/>
      <p:bldP spid="15" grpId="0" animBg="1"/>
      <p:bldP spid="16" grpId="0" animBg="1"/>
      <p:bldP spid="19"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05  </a:t>
            </a:r>
            <a:r>
              <a:rPr lang="en-US" sz="1300" kern="0" spc="200" dirty="0">
                <a:solidFill>
                  <a:srgbClr val="6A6284"/>
                </a:solidFill>
                <a:latin typeface="Calibri" pitchFamily="34" charset="0"/>
                <a:ea typeface="Calibri" pitchFamily="34" charset="-122"/>
                <a:cs typeface="Calibri" pitchFamily="34" charset="-120"/>
              </a:rPr>
              <a:t>·  GETTING READY</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Five careful cleaning steps — and one refusal</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425196" y="1691640"/>
            <a:ext cx="2011680" cy="1783080"/>
          </a:xfrm>
          <a:prstGeom prst="roundRect">
            <a:avLst>
              <a:gd name="adj" fmla="val 6154"/>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Shape 4"/>
          <p:cNvSpPr/>
          <p:nvPr/>
        </p:nvSpPr>
        <p:spPr>
          <a:xfrm>
            <a:off x="1147572" y="1408176"/>
            <a:ext cx="566928" cy="566928"/>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7" name="Image 0" descr="C:\Users\MShaheen\Documents\parkinsons_voice_project\report\defence\figs\v_volume.png"/>
          <p:cNvPicPr>
            <a:picLocks noChangeAspect="1"/>
          </p:cNvPicPr>
          <p:nvPr/>
        </p:nvPicPr>
        <p:blipFill>
          <a:blip r:embed="rId4"/>
          <a:stretch>
            <a:fillRect/>
          </a:stretch>
        </p:blipFill>
        <p:spPr>
          <a:xfrm>
            <a:off x="1294973" y="1555577"/>
            <a:ext cx="272125" cy="272125"/>
          </a:xfrm>
          <a:prstGeom prst="rect">
            <a:avLst/>
          </a:prstGeom>
        </p:spPr>
      </p:pic>
      <p:sp>
        <p:nvSpPr>
          <p:cNvPr id="8" name="Text 5"/>
          <p:cNvSpPr txBox="1"/>
          <p:nvPr/>
        </p:nvSpPr>
        <p:spPr>
          <a:xfrm>
            <a:off x="425196" y="2075688"/>
            <a:ext cx="2011680" cy="457200"/>
          </a:xfrm>
          <a:prstGeom prst="rect">
            <a:avLst/>
          </a:prstGeom>
          <a:noFill/>
          <a:ln/>
        </p:spPr>
        <p:txBody>
          <a:bodyPr wrap="square" lIns="0" tIns="0" rIns="0" bIns="0" rtlCol="0" anchor="ctr"/>
          <a:lstStyle/>
          <a:p>
            <a:pPr marL="0" indent="0" algn="ctr">
              <a:buNone/>
            </a:pPr>
            <a:r>
              <a:rPr lang="en-US" sz="1500" b="1" dirty="0">
                <a:solidFill>
                  <a:srgbClr val="241A45"/>
                </a:solidFill>
                <a:latin typeface="Bookman Old Style" pitchFamily="34" charset="0"/>
                <a:ea typeface="Bookman Old Style" pitchFamily="34" charset="-122"/>
                <a:cs typeface="Bookman Old Style" pitchFamily="34" charset="-120"/>
              </a:rPr>
              <a:t>mono</a:t>
            </a:r>
            <a:endParaRPr lang="en-US" sz="1500" dirty="0"/>
          </a:p>
        </p:txBody>
      </p:sp>
      <p:sp>
        <p:nvSpPr>
          <p:cNvPr id="9" name="Text 6"/>
          <p:cNvSpPr txBox="1"/>
          <p:nvPr/>
        </p:nvSpPr>
        <p:spPr>
          <a:xfrm>
            <a:off x="516636" y="2560320"/>
            <a:ext cx="1828800" cy="731520"/>
          </a:xfrm>
          <a:prstGeom prst="rect">
            <a:avLst/>
          </a:prstGeom>
          <a:noFill/>
          <a:ln/>
        </p:spPr>
        <p:txBody>
          <a:bodyPr wrap="square" lIns="0" tIns="0" rIns="0" bIns="0" rtlCol="0" anchor="ctr"/>
          <a:lstStyle/>
          <a:p>
            <a:pPr marL="0" indent="0" algn="ctr">
              <a:buNone/>
            </a:pPr>
            <a:r>
              <a:rPr lang="en-US" sz="1200" dirty="0">
                <a:solidFill>
                  <a:srgbClr val="6A6284"/>
                </a:solidFill>
                <a:latin typeface="Calibri" pitchFamily="34" charset="0"/>
                <a:ea typeface="Calibri" pitchFamily="34" charset="-122"/>
                <a:cs typeface="Calibri" pitchFamily="34" charset="-120"/>
              </a:rPr>
              <a:t>one channel</a:t>
            </a:r>
            <a:endParaRPr lang="en-US" sz="1200" dirty="0"/>
          </a:p>
        </p:txBody>
      </p:sp>
      <p:sp>
        <p:nvSpPr>
          <p:cNvPr id="10" name="Shape 7"/>
          <p:cNvSpPr/>
          <p:nvPr/>
        </p:nvSpPr>
        <p:spPr>
          <a:xfrm>
            <a:off x="2756916" y="1691640"/>
            <a:ext cx="2011680" cy="1783080"/>
          </a:xfrm>
          <a:prstGeom prst="roundRect">
            <a:avLst>
              <a:gd name="adj" fmla="val 6154"/>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1" name="Shape 8"/>
          <p:cNvSpPr/>
          <p:nvPr/>
        </p:nvSpPr>
        <p:spPr>
          <a:xfrm>
            <a:off x="3479292" y="1408176"/>
            <a:ext cx="566928" cy="566928"/>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2" name="Image 1" descr="C:\Users\MShaheen\Documents\parkinsons_voice_project\report\defence\figs\v_arrows.png"/>
          <p:cNvPicPr>
            <a:picLocks noChangeAspect="1"/>
          </p:cNvPicPr>
          <p:nvPr/>
        </p:nvPicPr>
        <p:blipFill>
          <a:blip r:embed="rId5"/>
          <a:stretch>
            <a:fillRect/>
          </a:stretch>
        </p:blipFill>
        <p:spPr>
          <a:xfrm>
            <a:off x="3626693" y="1555577"/>
            <a:ext cx="272125" cy="272125"/>
          </a:xfrm>
          <a:prstGeom prst="rect">
            <a:avLst/>
          </a:prstGeom>
        </p:spPr>
      </p:pic>
      <p:sp>
        <p:nvSpPr>
          <p:cNvPr id="13" name="Text 9"/>
          <p:cNvSpPr txBox="1"/>
          <p:nvPr/>
        </p:nvSpPr>
        <p:spPr>
          <a:xfrm>
            <a:off x="2756916" y="2075688"/>
            <a:ext cx="2011680" cy="457200"/>
          </a:xfrm>
          <a:prstGeom prst="rect">
            <a:avLst/>
          </a:prstGeom>
          <a:noFill/>
          <a:ln/>
        </p:spPr>
        <p:txBody>
          <a:bodyPr wrap="square" lIns="0" tIns="0" rIns="0" bIns="0" rtlCol="0" anchor="ctr"/>
          <a:lstStyle/>
          <a:p>
            <a:pPr marL="0" indent="0" algn="ctr">
              <a:buNone/>
            </a:pPr>
            <a:r>
              <a:rPr lang="en-US" sz="1500" b="1" dirty="0">
                <a:solidFill>
                  <a:srgbClr val="241A45"/>
                </a:solidFill>
                <a:latin typeface="Bookman Old Style" pitchFamily="34" charset="0"/>
                <a:ea typeface="Bookman Old Style" pitchFamily="34" charset="-122"/>
                <a:cs typeface="Bookman Old Style" pitchFamily="34" charset="-120"/>
              </a:rPr>
              <a:t>44.1 kHz</a:t>
            </a:r>
            <a:endParaRPr lang="en-US" sz="1500" dirty="0"/>
          </a:p>
        </p:txBody>
      </p:sp>
      <p:sp>
        <p:nvSpPr>
          <p:cNvPr id="14" name="Text 10"/>
          <p:cNvSpPr txBox="1"/>
          <p:nvPr/>
        </p:nvSpPr>
        <p:spPr>
          <a:xfrm>
            <a:off x="2848356" y="2560320"/>
            <a:ext cx="1828800" cy="731520"/>
          </a:xfrm>
          <a:prstGeom prst="rect">
            <a:avLst/>
          </a:prstGeom>
          <a:noFill/>
          <a:ln/>
        </p:spPr>
        <p:txBody>
          <a:bodyPr wrap="square" lIns="0" tIns="0" rIns="0" bIns="0" rtlCol="0" anchor="ctr"/>
          <a:lstStyle/>
          <a:p>
            <a:pPr marL="0" indent="0" algn="ctr">
              <a:buNone/>
            </a:pPr>
            <a:r>
              <a:rPr lang="en-US" sz="1200" dirty="0">
                <a:solidFill>
                  <a:srgbClr val="6A6284"/>
                </a:solidFill>
                <a:latin typeface="Calibri" pitchFamily="34" charset="0"/>
                <a:ea typeface="Calibri" pitchFamily="34" charset="-122"/>
                <a:cs typeface="Calibri" pitchFamily="34" charset="-120"/>
              </a:rPr>
              <a:t>same clock</a:t>
            </a:r>
            <a:endParaRPr lang="en-US" sz="1200" dirty="0"/>
          </a:p>
          <a:p>
            <a:pPr marL="0" indent="0" algn="ctr">
              <a:buNone/>
            </a:pPr>
            <a:r>
              <a:rPr lang="en-US" sz="1200" dirty="0">
                <a:solidFill>
                  <a:srgbClr val="6A6284"/>
                </a:solidFill>
                <a:latin typeface="Calibri" pitchFamily="34" charset="0"/>
                <a:ea typeface="Calibri" pitchFamily="34" charset="-122"/>
                <a:cs typeface="Calibri" pitchFamily="34" charset="-120"/>
              </a:rPr>
              <a:t>for all</a:t>
            </a:r>
            <a:endParaRPr lang="en-US" sz="1200" dirty="0"/>
          </a:p>
        </p:txBody>
      </p:sp>
      <p:sp>
        <p:nvSpPr>
          <p:cNvPr id="15" name="Shape 11"/>
          <p:cNvSpPr/>
          <p:nvPr/>
        </p:nvSpPr>
        <p:spPr>
          <a:xfrm>
            <a:off x="5088636" y="1691640"/>
            <a:ext cx="2011680" cy="1783080"/>
          </a:xfrm>
          <a:prstGeom prst="roundRect">
            <a:avLst>
              <a:gd name="adj" fmla="val 6154"/>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6" name="Shape 12"/>
          <p:cNvSpPr/>
          <p:nvPr/>
        </p:nvSpPr>
        <p:spPr>
          <a:xfrm>
            <a:off x="5811012" y="1408176"/>
            <a:ext cx="566928" cy="566928"/>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7" name="Image 2" descr="C:\Users\MShaheen\Documents\parkinsons_voice_project\report\defence\figs\v_broom.png"/>
          <p:cNvPicPr>
            <a:picLocks noChangeAspect="1"/>
          </p:cNvPicPr>
          <p:nvPr/>
        </p:nvPicPr>
        <p:blipFill>
          <a:blip r:embed="rId6"/>
          <a:stretch>
            <a:fillRect/>
          </a:stretch>
        </p:blipFill>
        <p:spPr>
          <a:xfrm>
            <a:off x="5958413" y="1555577"/>
            <a:ext cx="272125" cy="272125"/>
          </a:xfrm>
          <a:prstGeom prst="rect">
            <a:avLst/>
          </a:prstGeom>
        </p:spPr>
      </p:pic>
      <p:sp>
        <p:nvSpPr>
          <p:cNvPr id="18" name="Text 13"/>
          <p:cNvSpPr txBox="1"/>
          <p:nvPr/>
        </p:nvSpPr>
        <p:spPr>
          <a:xfrm>
            <a:off x="5088636" y="2075688"/>
            <a:ext cx="2011680" cy="457200"/>
          </a:xfrm>
          <a:prstGeom prst="rect">
            <a:avLst/>
          </a:prstGeom>
          <a:noFill/>
          <a:ln/>
        </p:spPr>
        <p:txBody>
          <a:bodyPr wrap="square" lIns="0" tIns="0" rIns="0" bIns="0" rtlCol="0" anchor="ctr"/>
          <a:lstStyle/>
          <a:p>
            <a:pPr marL="0" indent="0" algn="ctr">
              <a:buNone/>
            </a:pPr>
            <a:r>
              <a:rPr lang="en-US" sz="1500" b="1" dirty="0">
                <a:solidFill>
                  <a:srgbClr val="241A45"/>
                </a:solidFill>
                <a:latin typeface="Bookman Old Style" pitchFamily="34" charset="0"/>
                <a:ea typeface="Bookman Old Style" pitchFamily="34" charset="-122"/>
                <a:cs typeface="Bookman Old Style" pitchFamily="34" charset="-120"/>
              </a:rPr>
              <a:t>remove offset</a:t>
            </a:r>
            <a:endParaRPr lang="en-US" sz="1500" dirty="0"/>
          </a:p>
        </p:txBody>
      </p:sp>
      <p:sp>
        <p:nvSpPr>
          <p:cNvPr id="19" name="Text 14"/>
          <p:cNvSpPr txBox="1"/>
          <p:nvPr/>
        </p:nvSpPr>
        <p:spPr>
          <a:xfrm>
            <a:off x="5180076" y="2560320"/>
            <a:ext cx="1828800" cy="731520"/>
          </a:xfrm>
          <a:prstGeom prst="rect">
            <a:avLst/>
          </a:prstGeom>
          <a:noFill/>
          <a:ln/>
        </p:spPr>
        <p:txBody>
          <a:bodyPr wrap="square" lIns="0" tIns="0" rIns="0" bIns="0" rtlCol="0" anchor="ctr"/>
          <a:lstStyle/>
          <a:p>
            <a:pPr marL="0" indent="0" algn="ctr">
              <a:buNone/>
            </a:pPr>
            <a:r>
              <a:rPr lang="en-US" sz="1200" dirty="0">
                <a:solidFill>
                  <a:srgbClr val="6A6284"/>
                </a:solidFill>
                <a:latin typeface="Calibri" pitchFamily="34" charset="0"/>
                <a:ea typeface="Calibri" pitchFamily="34" charset="-122"/>
                <a:cs typeface="Calibri" pitchFamily="34" charset="-120"/>
              </a:rPr>
              <a:t>center the wave</a:t>
            </a:r>
            <a:endParaRPr lang="en-US" sz="1200" dirty="0"/>
          </a:p>
        </p:txBody>
      </p:sp>
      <p:sp>
        <p:nvSpPr>
          <p:cNvPr id="20" name="Shape 15"/>
          <p:cNvSpPr/>
          <p:nvPr/>
        </p:nvSpPr>
        <p:spPr>
          <a:xfrm>
            <a:off x="7420356" y="1691640"/>
            <a:ext cx="2011680" cy="1783080"/>
          </a:xfrm>
          <a:prstGeom prst="roundRect">
            <a:avLst>
              <a:gd name="adj" fmla="val 6154"/>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21" name="Shape 16"/>
          <p:cNvSpPr/>
          <p:nvPr/>
        </p:nvSpPr>
        <p:spPr>
          <a:xfrm>
            <a:off x="8142732" y="1408176"/>
            <a:ext cx="566928" cy="566928"/>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22" name="Image 3" descr="C:\Users\MShaheen\Documents\parkinsons_voice_project\report\defence\figs\v_scissors.png"/>
          <p:cNvPicPr>
            <a:picLocks noChangeAspect="1"/>
          </p:cNvPicPr>
          <p:nvPr/>
        </p:nvPicPr>
        <p:blipFill>
          <a:blip r:embed="rId7"/>
          <a:stretch>
            <a:fillRect/>
          </a:stretch>
        </p:blipFill>
        <p:spPr>
          <a:xfrm>
            <a:off x="8290133" y="1555577"/>
            <a:ext cx="272125" cy="272125"/>
          </a:xfrm>
          <a:prstGeom prst="rect">
            <a:avLst/>
          </a:prstGeom>
        </p:spPr>
      </p:pic>
      <p:sp>
        <p:nvSpPr>
          <p:cNvPr id="23" name="Text 17"/>
          <p:cNvSpPr txBox="1"/>
          <p:nvPr/>
        </p:nvSpPr>
        <p:spPr>
          <a:xfrm>
            <a:off x="7420356" y="2075688"/>
            <a:ext cx="2011680" cy="457200"/>
          </a:xfrm>
          <a:prstGeom prst="rect">
            <a:avLst/>
          </a:prstGeom>
          <a:noFill/>
          <a:ln/>
        </p:spPr>
        <p:txBody>
          <a:bodyPr wrap="square" lIns="0" tIns="0" rIns="0" bIns="0" rtlCol="0" anchor="ctr"/>
          <a:lstStyle/>
          <a:p>
            <a:pPr marL="0" indent="0" algn="ctr">
              <a:buNone/>
            </a:pPr>
            <a:r>
              <a:rPr lang="en-US" sz="1500" b="1" dirty="0">
                <a:solidFill>
                  <a:srgbClr val="241A45"/>
                </a:solidFill>
                <a:latin typeface="Bookman Old Style" pitchFamily="34" charset="0"/>
                <a:ea typeface="Bookman Old Style" pitchFamily="34" charset="-122"/>
                <a:cs typeface="Bookman Old Style" pitchFamily="34" charset="-120"/>
              </a:rPr>
              <a:t>trim silence</a:t>
            </a:r>
            <a:endParaRPr lang="en-US" sz="1500" dirty="0"/>
          </a:p>
        </p:txBody>
      </p:sp>
      <p:sp>
        <p:nvSpPr>
          <p:cNvPr id="24" name="Text 18"/>
          <p:cNvSpPr txBox="1"/>
          <p:nvPr/>
        </p:nvSpPr>
        <p:spPr>
          <a:xfrm>
            <a:off x="7511796" y="2560320"/>
            <a:ext cx="1828800" cy="731520"/>
          </a:xfrm>
          <a:prstGeom prst="rect">
            <a:avLst/>
          </a:prstGeom>
          <a:noFill/>
          <a:ln/>
        </p:spPr>
        <p:txBody>
          <a:bodyPr wrap="square" lIns="0" tIns="0" rIns="0" bIns="0" rtlCol="0" anchor="ctr"/>
          <a:lstStyle/>
          <a:p>
            <a:pPr marL="0" indent="0" algn="ctr">
              <a:buNone/>
            </a:pPr>
            <a:r>
              <a:rPr lang="en-US" sz="1200" dirty="0">
                <a:solidFill>
                  <a:srgbClr val="6A6284"/>
                </a:solidFill>
                <a:latin typeface="Calibri" pitchFamily="34" charset="0"/>
                <a:ea typeface="Calibri" pitchFamily="34" charset="-122"/>
                <a:cs typeface="Calibri" pitchFamily="34" charset="-120"/>
              </a:rPr>
              <a:t>edges only</a:t>
            </a:r>
            <a:endParaRPr lang="en-US" sz="1200" dirty="0"/>
          </a:p>
        </p:txBody>
      </p:sp>
      <p:sp>
        <p:nvSpPr>
          <p:cNvPr id="25" name="Shape 19"/>
          <p:cNvSpPr/>
          <p:nvPr/>
        </p:nvSpPr>
        <p:spPr>
          <a:xfrm>
            <a:off x="9752076" y="1691640"/>
            <a:ext cx="2011680" cy="1783080"/>
          </a:xfrm>
          <a:prstGeom prst="roundRect">
            <a:avLst>
              <a:gd name="adj" fmla="val 6154"/>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26" name="Shape 20"/>
          <p:cNvSpPr/>
          <p:nvPr/>
        </p:nvSpPr>
        <p:spPr>
          <a:xfrm>
            <a:off x="10474452" y="1408176"/>
            <a:ext cx="566928" cy="566928"/>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27" name="Image 4" descr="C:\Users\MShaheen\Documents\parkinsons_voice_project\report\defence\figs\v_gauge.png"/>
          <p:cNvPicPr>
            <a:picLocks noChangeAspect="1"/>
          </p:cNvPicPr>
          <p:nvPr/>
        </p:nvPicPr>
        <p:blipFill>
          <a:blip r:embed="rId8"/>
          <a:stretch>
            <a:fillRect/>
          </a:stretch>
        </p:blipFill>
        <p:spPr>
          <a:xfrm>
            <a:off x="10621853" y="1555577"/>
            <a:ext cx="272125" cy="272125"/>
          </a:xfrm>
          <a:prstGeom prst="rect">
            <a:avLst/>
          </a:prstGeom>
        </p:spPr>
      </p:pic>
      <p:sp>
        <p:nvSpPr>
          <p:cNvPr id="28" name="Text 21"/>
          <p:cNvSpPr txBox="1"/>
          <p:nvPr/>
        </p:nvSpPr>
        <p:spPr>
          <a:xfrm>
            <a:off x="9752076" y="2075688"/>
            <a:ext cx="2011680" cy="457200"/>
          </a:xfrm>
          <a:prstGeom prst="rect">
            <a:avLst/>
          </a:prstGeom>
          <a:noFill/>
          <a:ln/>
        </p:spPr>
        <p:txBody>
          <a:bodyPr wrap="square" lIns="0" tIns="0" rIns="0" bIns="0" rtlCol="0" anchor="ctr"/>
          <a:lstStyle/>
          <a:p>
            <a:pPr marL="0" indent="0" algn="ctr">
              <a:buNone/>
            </a:pPr>
            <a:r>
              <a:rPr lang="en-US" sz="1500" b="1" dirty="0">
                <a:solidFill>
                  <a:srgbClr val="241A45"/>
                </a:solidFill>
                <a:latin typeface="Bookman Old Style" pitchFamily="34" charset="0"/>
                <a:ea typeface="Bookman Old Style" pitchFamily="34" charset="-122"/>
                <a:cs typeface="Bookman Old Style" pitchFamily="34" charset="-120"/>
              </a:rPr>
              <a:t>same loudness</a:t>
            </a:r>
            <a:endParaRPr lang="en-US" sz="1500" dirty="0"/>
          </a:p>
        </p:txBody>
      </p:sp>
      <p:sp>
        <p:nvSpPr>
          <p:cNvPr id="29" name="Text 22"/>
          <p:cNvSpPr txBox="1"/>
          <p:nvPr/>
        </p:nvSpPr>
        <p:spPr>
          <a:xfrm>
            <a:off x="9843516" y="2560320"/>
            <a:ext cx="1828800" cy="731520"/>
          </a:xfrm>
          <a:prstGeom prst="rect">
            <a:avLst/>
          </a:prstGeom>
          <a:noFill/>
          <a:ln/>
        </p:spPr>
        <p:txBody>
          <a:bodyPr wrap="square" lIns="0" tIns="0" rIns="0" bIns="0" rtlCol="0" anchor="ctr"/>
          <a:lstStyle/>
          <a:p>
            <a:pPr marL="0" indent="0" algn="ctr">
              <a:buNone/>
            </a:pPr>
            <a:r>
              <a:rPr lang="en-US" sz="1200" dirty="0">
                <a:solidFill>
                  <a:srgbClr val="6A6284"/>
                </a:solidFill>
                <a:latin typeface="Calibri" pitchFamily="34" charset="0"/>
                <a:ea typeface="Calibri" pitchFamily="34" charset="-122"/>
                <a:cs typeface="Calibri" pitchFamily="34" charset="-120"/>
              </a:rPr>
              <a:t>fair comparison</a:t>
            </a:r>
            <a:endParaRPr lang="en-US" sz="1200" dirty="0"/>
          </a:p>
        </p:txBody>
      </p:sp>
      <p:sp>
        <p:nvSpPr>
          <p:cNvPr id="30" name="Shape 23"/>
          <p:cNvSpPr/>
          <p:nvPr/>
        </p:nvSpPr>
        <p:spPr>
          <a:xfrm>
            <a:off x="2148840" y="4114800"/>
            <a:ext cx="731520" cy="731520"/>
          </a:xfrm>
          <a:prstGeom prst="ellipse">
            <a:avLst/>
          </a:prstGeom>
          <a:solidFill>
            <a:srgbClr val="F1EDFA"/>
          </a:solidFill>
          <a:ln w="17780">
            <a:solidFill>
              <a:srgbClr val="D9534F"/>
            </a:solidFill>
            <a:prstDash val="solid"/>
          </a:ln>
          <a:effectLst>
            <a:outerShdw blurRad="76200" dist="25400" dir="5400000" algn="bl" rotWithShape="0">
              <a:srgbClr val="B4A8D4">
                <a:alpha val="35000"/>
              </a:srgbClr>
            </a:outerShdw>
          </a:effectLst>
        </p:spPr>
      </p:sp>
      <p:pic>
        <p:nvPicPr>
          <p:cNvPr id="31" name="Image 5" descr="C:\Users\MShaheen\Documents\parkinsons_voice_project\report\defence\figs\c_ban.png"/>
          <p:cNvPicPr>
            <a:picLocks noChangeAspect="1"/>
          </p:cNvPicPr>
          <p:nvPr/>
        </p:nvPicPr>
        <p:blipFill>
          <a:blip r:embed="rId9"/>
          <a:stretch>
            <a:fillRect/>
          </a:stretch>
        </p:blipFill>
        <p:spPr>
          <a:xfrm>
            <a:off x="2339035" y="4304995"/>
            <a:ext cx="351130" cy="351130"/>
          </a:xfrm>
          <a:prstGeom prst="rect">
            <a:avLst/>
          </a:prstGeom>
        </p:spPr>
      </p:pic>
      <p:sp>
        <p:nvSpPr>
          <p:cNvPr id="32" name="Shape 24"/>
          <p:cNvSpPr/>
          <p:nvPr/>
        </p:nvSpPr>
        <p:spPr>
          <a:xfrm>
            <a:off x="3108960" y="4114800"/>
            <a:ext cx="7251192" cy="1280160"/>
          </a:xfrm>
          <a:prstGeom prst="roundRect">
            <a:avLst>
              <a:gd name="adj" fmla="val 8571"/>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33" name="Text 25"/>
          <p:cNvSpPr txBox="1"/>
          <p:nvPr/>
        </p:nvSpPr>
        <p:spPr>
          <a:xfrm>
            <a:off x="3108960" y="4114800"/>
            <a:ext cx="7251192" cy="1280160"/>
          </a:xfrm>
          <a:prstGeom prst="rect">
            <a:avLst/>
          </a:prstGeom>
          <a:noFill/>
          <a:ln/>
        </p:spPr>
        <p:txBody>
          <a:bodyPr wrap="square" lIns="1905" tIns="1905" rIns="1905" bIns="1905" rtlCol="0" anchor="ctr"/>
          <a:lstStyle/>
          <a:p>
            <a:pPr marL="0" indent="0" algn="l">
              <a:buNone/>
            </a:pPr>
            <a:r>
              <a:rPr lang="en-US" sz="1700" b="1" dirty="0">
                <a:solidFill>
                  <a:srgbClr val="D9534F"/>
                </a:solidFill>
                <a:latin typeface="Calibri" pitchFamily="34" charset="0"/>
                <a:ea typeface="Calibri" pitchFamily="34" charset="-122"/>
                <a:cs typeface="Calibri" pitchFamily="34" charset="-120"/>
              </a:rPr>
              <a:t>We did NOT remove noise.
</a:t>
            </a:r>
            <a:r>
              <a:rPr lang="en-US" sz="1450" dirty="0">
                <a:solidFill>
                  <a:srgbClr val="241A45"/>
                </a:solidFill>
                <a:latin typeface="Calibri" pitchFamily="34" charset="0"/>
                <a:ea typeface="Calibri" pitchFamily="34" charset="-122"/>
                <a:cs typeface="Calibri" pitchFamily="34" charset="-120"/>
              </a:rPr>
              <a:t>Noise removal smooths away the small irregularities — and those irregularities are the medical evidence.</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nodeType="withEffect">
                                  <p:stCondLst>
                                    <p:cond delay="24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24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240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nodeType="withEffect">
                                  <p:stCondLst>
                                    <p:cond delay="240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nodeType="withEffect">
                                  <p:stCondLst>
                                    <p:cond delay="240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nodeType="withEffect">
                                  <p:stCondLst>
                                    <p:cond delay="240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240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240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nodeType="withEffect">
                                  <p:stCondLst>
                                    <p:cond delay="240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nodeType="withEffect">
                                  <p:stCondLst>
                                    <p:cond delay="240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nodeType="withEffect">
                                  <p:stCondLst>
                                    <p:cond delay="240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240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P spid="9" grpId="0" animBg="1"/>
      <p:bldP spid="13" grpId="0" animBg="1"/>
      <p:bldP spid="14" grpId="0" animBg="1"/>
      <p:bldP spid="18" grpId="0" animBg="1"/>
      <p:bldP spid="19" grpId="0" animBg="1"/>
      <p:bldP spid="23" grpId="0" animBg="1"/>
      <p:bldP spid="24" grpId="0" animBg="1"/>
      <p:bldP spid="28" grpId="0" animBg="1"/>
      <p:bldP spid="29" grpId="0"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06  </a:t>
            </a:r>
            <a:r>
              <a:rPr lang="en-US" sz="1300" kern="0" spc="200" dirty="0">
                <a:solidFill>
                  <a:srgbClr val="6A6284"/>
                </a:solidFill>
                <a:latin typeface="Calibri" pitchFamily="34" charset="0"/>
                <a:ea typeface="Calibri" pitchFamily="34" charset="-122"/>
                <a:cs typeface="Calibri" pitchFamily="34" charset="-120"/>
              </a:rPr>
              <a:t>·  MEASURING</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74 numbers — each answers a simple question</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822960" y="1463040"/>
            <a:ext cx="10543032" cy="822960"/>
          </a:xfrm>
          <a:prstGeom prst="roundRect">
            <a:avLst>
              <a:gd name="adj" fmla="val 1333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Text 4"/>
          <p:cNvSpPr txBox="1"/>
          <p:nvPr/>
        </p:nvSpPr>
        <p:spPr>
          <a:xfrm>
            <a:off x="1097280" y="1463040"/>
            <a:ext cx="4206240" cy="822960"/>
          </a:xfrm>
          <a:prstGeom prst="rect">
            <a:avLst/>
          </a:prstGeom>
          <a:noFill/>
          <a:ln/>
        </p:spPr>
        <p:txBody>
          <a:bodyPr wrap="square" lIns="0" tIns="0" rIns="0" bIns="0" rtlCol="0" anchor="ctr"/>
          <a:lstStyle/>
          <a:p>
            <a:pPr marL="0" indent="0">
              <a:buNone/>
            </a:pPr>
            <a:r>
              <a:rPr lang="en-US" sz="1500" b="1" dirty="0">
                <a:solidFill>
                  <a:srgbClr val="241A45"/>
                </a:solidFill>
                <a:latin typeface="Calibri" pitchFamily="34" charset="0"/>
                <a:ea typeface="Calibri" pitchFamily="34" charset="-122"/>
                <a:cs typeface="Calibri" pitchFamily="34" charset="-120"/>
              </a:rPr>
              <a:t>Is the pitch flat or lively?</a:t>
            </a:r>
            <a:endParaRPr lang="en-US" sz="1500" dirty="0"/>
          </a:p>
        </p:txBody>
      </p:sp>
      <p:sp>
        <p:nvSpPr>
          <p:cNvPr id="7" name="Text 5"/>
          <p:cNvSpPr txBox="1"/>
          <p:nvPr/>
        </p:nvSpPr>
        <p:spPr>
          <a:xfrm>
            <a:off x="5486400" y="1463040"/>
            <a:ext cx="2651760" cy="822960"/>
          </a:xfrm>
          <a:prstGeom prst="rect">
            <a:avLst/>
          </a:prstGeom>
          <a:noFill/>
          <a:ln/>
        </p:spPr>
        <p:txBody>
          <a:bodyPr wrap="square" lIns="0" tIns="0" rIns="0" bIns="0" rtlCol="0" anchor="ctr"/>
          <a:lstStyle/>
          <a:p>
            <a:pPr marL="0" indent="0">
              <a:buNone/>
            </a:pPr>
            <a:r>
              <a:rPr lang="en-US" sz="1450" b="1" dirty="0">
                <a:solidFill>
                  <a:srgbClr val="43307A"/>
                </a:solidFill>
                <a:latin typeface="Bookman Old Style" pitchFamily="34" charset="0"/>
                <a:ea typeface="Bookman Old Style" pitchFamily="34" charset="-122"/>
                <a:cs typeface="Bookman Old Style" pitchFamily="34" charset="-120"/>
              </a:rPr>
              <a:t>pitch range</a:t>
            </a:r>
            <a:endParaRPr lang="en-US" sz="1450" dirty="0"/>
          </a:p>
        </p:txBody>
      </p:sp>
      <p:sp>
        <p:nvSpPr>
          <p:cNvPr id="8" name="Text 6"/>
          <p:cNvSpPr txBox="1"/>
          <p:nvPr/>
        </p:nvSpPr>
        <p:spPr>
          <a:xfrm>
            <a:off x="8229600" y="1463040"/>
            <a:ext cx="3017520" cy="822960"/>
          </a:xfrm>
          <a:prstGeom prst="rect">
            <a:avLst/>
          </a:prstGeom>
          <a:noFill/>
          <a:ln/>
        </p:spPr>
        <p:txBody>
          <a:bodyPr wrap="square" lIns="0" tIns="0" rIns="0" bIns="0" rtlCol="0" anchor="ctr"/>
          <a:lstStyle/>
          <a:p>
            <a:pPr marL="0" indent="0">
              <a:buNone/>
            </a:pPr>
            <a:r>
              <a:rPr lang="en-US" sz="1200" i="1" dirty="0">
                <a:solidFill>
                  <a:srgbClr val="6A6284"/>
                </a:solidFill>
                <a:latin typeface="Calibri" pitchFamily="34" charset="0"/>
                <a:ea typeface="Calibri" pitchFamily="34" charset="-122"/>
                <a:cs typeface="Calibri" pitchFamily="34" charset="-120"/>
              </a:rPr>
              <a:t>monotone speech is a classic sign</a:t>
            </a:r>
            <a:endParaRPr lang="en-US" sz="1200" dirty="0"/>
          </a:p>
        </p:txBody>
      </p:sp>
      <p:sp>
        <p:nvSpPr>
          <p:cNvPr id="9" name="Shape 7"/>
          <p:cNvSpPr/>
          <p:nvPr/>
        </p:nvSpPr>
        <p:spPr>
          <a:xfrm>
            <a:off x="822960" y="2432304"/>
            <a:ext cx="10543032" cy="822960"/>
          </a:xfrm>
          <a:prstGeom prst="roundRect">
            <a:avLst>
              <a:gd name="adj" fmla="val 1333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0" name="Text 8"/>
          <p:cNvSpPr txBox="1"/>
          <p:nvPr/>
        </p:nvSpPr>
        <p:spPr>
          <a:xfrm>
            <a:off x="1097280" y="2432304"/>
            <a:ext cx="4206240" cy="822960"/>
          </a:xfrm>
          <a:prstGeom prst="rect">
            <a:avLst/>
          </a:prstGeom>
          <a:noFill/>
          <a:ln/>
        </p:spPr>
        <p:txBody>
          <a:bodyPr wrap="square" lIns="0" tIns="0" rIns="0" bIns="0" rtlCol="0" anchor="ctr"/>
          <a:lstStyle/>
          <a:p>
            <a:pPr marL="0" indent="0">
              <a:buNone/>
            </a:pPr>
            <a:r>
              <a:rPr lang="en-US" sz="1500" b="1" dirty="0">
                <a:solidFill>
                  <a:srgbClr val="241A45"/>
                </a:solidFill>
                <a:latin typeface="Calibri" pitchFamily="34" charset="0"/>
                <a:ea typeface="Calibri" pitchFamily="34" charset="-122"/>
                <a:cs typeface="Calibri" pitchFamily="34" charset="-120"/>
              </a:rPr>
              <a:t>Is the vibration steady?</a:t>
            </a:r>
            <a:endParaRPr lang="en-US" sz="1500" dirty="0"/>
          </a:p>
        </p:txBody>
      </p:sp>
      <p:sp>
        <p:nvSpPr>
          <p:cNvPr id="11" name="Text 9"/>
          <p:cNvSpPr txBox="1"/>
          <p:nvPr/>
        </p:nvSpPr>
        <p:spPr>
          <a:xfrm>
            <a:off x="5486400" y="2432304"/>
            <a:ext cx="2651760" cy="822960"/>
          </a:xfrm>
          <a:prstGeom prst="rect">
            <a:avLst/>
          </a:prstGeom>
          <a:noFill/>
          <a:ln/>
        </p:spPr>
        <p:txBody>
          <a:bodyPr wrap="square" lIns="0" tIns="0" rIns="0" bIns="0" rtlCol="0" anchor="ctr"/>
          <a:lstStyle/>
          <a:p>
            <a:pPr marL="0" indent="0">
              <a:buNone/>
            </a:pPr>
            <a:r>
              <a:rPr lang="en-US" sz="1450" b="1" dirty="0">
                <a:solidFill>
                  <a:srgbClr val="43307A"/>
                </a:solidFill>
                <a:latin typeface="Bookman Old Style" pitchFamily="34" charset="0"/>
                <a:ea typeface="Bookman Old Style" pitchFamily="34" charset="-122"/>
                <a:cs typeface="Bookman Old Style" pitchFamily="34" charset="-120"/>
              </a:rPr>
              <a:t>jitter &amp; shimmer</a:t>
            </a:r>
            <a:endParaRPr lang="en-US" sz="1450" dirty="0"/>
          </a:p>
        </p:txBody>
      </p:sp>
      <p:sp>
        <p:nvSpPr>
          <p:cNvPr id="12" name="Text 10"/>
          <p:cNvSpPr txBox="1"/>
          <p:nvPr/>
        </p:nvSpPr>
        <p:spPr>
          <a:xfrm>
            <a:off x="8229600" y="2432304"/>
            <a:ext cx="3017520" cy="822960"/>
          </a:xfrm>
          <a:prstGeom prst="rect">
            <a:avLst/>
          </a:prstGeom>
          <a:noFill/>
          <a:ln/>
        </p:spPr>
        <p:txBody>
          <a:bodyPr wrap="square" lIns="0" tIns="0" rIns="0" bIns="0" rtlCol="0" anchor="ctr"/>
          <a:lstStyle/>
          <a:p>
            <a:pPr marL="0" indent="0">
              <a:buNone/>
            </a:pPr>
            <a:r>
              <a:rPr lang="en-US" sz="1200" i="1" dirty="0">
                <a:solidFill>
                  <a:srgbClr val="6A6284"/>
                </a:solidFill>
                <a:latin typeface="Calibri" pitchFamily="34" charset="0"/>
                <a:ea typeface="Calibri" pitchFamily="34" charset="-122"/>
                <a:cs typeface="Calibri" pitchFamily="34" charset="-120"/>
              </a:rPr>
              <a:t>shaky control makes it uneven</a:t>
            </a:r>
            <a:endParaRPr lang="en-US" sz="1200" dirty="0"/>
          </a:p>
        </p:txBody>
      </p:sp>
      <p:sp>
        <p:nvSpPr>
          <p:cNvPr id="13" name="Shape 11"/>
          <p:cNvSpPr/>
          <p:nvPr/>
        </p:nvSpPr>
        <p:spPr>
          <a:xfrm>
            <a:off x="822960" y="3401568"/>
            <a:ext cx="10543032" cy="822960"/>
          </a:xfrm>
          <a:prstGeom prst="roundRect">
            <a:avLst>
              <a:gd name="adj" fmla="val 1333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4" name="Text 12"/>
          <p:cNvSpPr txBox="1"/>
          <p:nvPr/>
        </p:nvSpPr>
        <p:spPr>
          <a:xfrm>
            <a:off x="1097280" y="3401568"/>
            <a:ext cx="4206240" cy="822960"/>
          </a:xfrm>
          <a:prstGeom prst="rect">
            <a:avLst/>
          </a:prstGeom>
          <a:noFill/>
          <a:ln/>
        </p:spPr>
        <p:txBody>
          <a:bodyPr wrap="square" lIns="0" tIns="0" rIns="0" bIns="0" rtlCol="0" anchor="ctr"/>
          <a:lstStyle/>
          <a:p>
            <a:pPr marL="0" indent="0">
              <a:buNone/>
            </a:pPr>
            <a:r>
              <a:rPr lang="en-US" sz="1500" b="1" dirty="0">
                <a:solidFill>
                  <a:srgbClr val="241A45"/>
                </a:solidFill>
                <a:latin typeface="Calibri" pitchFamily="34" charset="0"/>
                <a:ea typeface="Calibri" pitchFamily="34" charset="-122"/>
                <a:cs typeface="Calibri" pitchFamily="34" charset="-120"/>
              </a:rPr>
              <a:t>Is the voice clear or breathy?</a:t>
            </a:r>
            <a:endParaRPr lang="en-US" sz="1500" dirty="0"/>
          </a:p>
        </p:txBody>
      </p:sp>
      <p:sp>
        <p:nvSpPr>
          <p:cNvPr id="15" name="Text 13"/>
          <p:cNvSpPr txBox="1"/>
          <p:nvPr/>
        </p:nvSpPr>
        <p:spPr>
          <a:xfrm>
            <a:off x="5486400" y="3401568"/>
            <a:ext cx="2651760" cy="822960"/>
          </a:xfrm>
          <a:prstGeom prst="rect">
            <a:avLst/>
          </a:prstGeom>
          <a:noFill/>
          <a:ln/>
        </p:spPr>
        <p:txBody>
          <a:bodyPr wrap="square" lIns="0" tIns="0" rIns="0" bIns="0" rtlCol="0" anchor="ctr"/>
          <a:lstStyle/>
          <a:p>
            <a:pPr marL="0" indent="0">
              <a:buNone/>
            </a:pPr>
            <a:r>
              <a:rPr lang="en-US" sz="1450" b="1" dirty="0">
                <a:solidFill>
                  <a:srgbClr val="43307A"/>
                </a:solidFill>
                <a:latin typeface="Bookman Old Style" pitchFamily="34" charset="0"/>
                <a:ea typeface="Bookman Old Style" pitchFamily="34" charset="-122"/>
                <a:cs typeface="Bookman Old Style" pitchFamily="34" charset="-120"/>
              </a:rPr>
              <a:t>noise ratio (HNR)</a:t>
            </a:r>
            <a:endParaRPr lang="en-US" sz="1450" dirty="0"/>
          </a:p>
        </p:txBody>
      </p:sp>
      <p:sp>
        <p:nvSpPr>
          <p:cNvPr id="16" name="Text 14"/>
          <p:cNvSpPr txBox="1"/>
          <p:nvPr/>
        </p:nvSpPr>
        <p:spPr>
          <a:xfrm>
            <a:off x="8229600" y="3401568"/>
            <a:ext cx="3017520" cy="822960"/>
          </a:xfrm>
          <a:prstGeom prst="rect">
            <a:avLst/>
          </a:prstGeom>
          <a:noFill/>
          <a:ln/>
        </p:spPr>
        <p:txBody>
          <a:bodyPr wrap="square" lIns="0" tIns="0" rIns="0" bIns="0" rtlCol="0" anchor="ctr"/>
          <a:lstStyle/>
          <a:p>
            <a:pPr marL="0" indent="0">
              <a:buNone/>
            </a:pPr>
            <a:r>
              <a:rPr lang="en-US" sz="1200" i="1" dirty="0">
                <a:solidFill>
                  <a:srgbClr val="6A6284"/>
                </a:solidFill>
                <a:latin typeface="Calibri" pitchFamily="34" charset="0"/>
                <a:ea typeface="Calibri" pitchFamily="34" charset="-122"/>
                <a:cs typeface="Calibri" pitchFamily="34" charset="-120"/>
              </a:rPr>
              <a:t>weak folds let air leak</a:t>
            </a:r>
            <a:endParaRPr lang="en-US" sz="1200" dirty="0"/>
          </a:p>
        </p:txBody>
      </p:sp>
      <p:sp>
        <p:nvSpPr>
          <p:cNvPr id="17" name="Shape 15"/>
          <p:cNvSpPr/>
          <p:nvPr/>
        </p:nvSpPr>
        <p:spPr>
          <a:xfrm>
            <a:off x="822960" y="4370832"/>
            <a:ext cx="10543032" cy="822960"/>
          </a:xfrm>
          <a:prstGeom prst="roundRect">
            <a:avLst>
              <a:gd name="adj" fmla="val 1333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8" name="Text 16"/>
          <p:cNvSpPr txBox="1"/>
          <p:nvPr/>
        </p:nvSpPr>
        <p:spPr>
          <a:xfrm>
            <a:off x="1097280" y="4370832"/>
            <a:ext cx="4206240" cy="822960"/>
          </a:xfrm>
          <a:prstGeom prst="rect">
            <a:avLst/>
          </a:prstGeom>
          <a:noFill/>
          <a:ln/>
        </p:spPr>
        <p:txBody>
          <a:bodyPr wrap="square" lIns="0" tIns="0" rIns="0" bIns="0" rtlCol="0" anchor="ctr"/>
          <a:lstStyle/>
          <a:p>
            <a:pPr marL="0" indent="0">
              <a:buNone/>
            </a:pPr>
            <a:r>
              <a:rPr lang="en-US" sz="1500" b="1" dirty="0">
                <a:solidFill>
                  <a:srgbClr val="241A45"/>
                </a:solidFill>
                <a:latin typeface="Calibri" pitchFamily="34" charset="0"/>
                <a:ea typeface="Calibri" pitchFamily="34" charset="-122"/>
                <a:cs typeface="Calibri" pitchFamily="34" charset="-120"/>
              </a:rPr>
              <a:t>Are there many pauses?</a:t>
            </a:r>
            <a:endParaRPr lang="en-US" sz="1500" dirty="0"/>
          </a:p>
        </p:txBody>
      </p:sp>
      <p:sp>
        <p:nvSpPr>
          <p:cNvPr id="19" name="Text 17"/>
          <p:cNvSpPr txBox="1"/>
          <p:nvPr/>
        </p:nvSpPr>
        <p:spPr>
          <a:xfrm>
            <a:off x="5486400" y="4370832"/>
            <a:ext cx="2651760" cy="822960"/>
          </a:xfrm>
          <a:prstGeom prst="rect">
            <a:avLst/>
          </a:prstGeom>
          <a:noFill/>
          <a:ln/>
        </p:spPr>
        <p:txBody>
          <a:bodyPr wrap="square" lIns="0" tIns="0" rIns="0" bIns="0" rtlCol="0" anchor="ctr"/>
          <a:lstStyle/>
          <a:p>
            <a:pPr marL="0" indent="0">
              <a:buNone/>
            </a:pPr>
            <a:r>
              <a:rPr lang="en-US" sz="1450" b="1" dirty="0">
                <a:solidFill>
                  <a:srgbClr val="43307A"/>
                </a:solidFill>
                <a:latin typeface="Bookman Old Style" pitchFamily="34" charset="0"/>
                <a:ea typeface="Bookman Old Style" pitchFamily="34" charset="-122"/>
                <a:cs typeface="Bookman Old Style" pitchFamily="34" charset="-120"/>
              </a:rPr>
              <a:t>pause statistics</a:t>
            </a:r>
            <a:endParaRPr lang="en-US" sz="1450" dirty="0"/>
          </a:p>
        </p:txBody>
      </p:sp>
      <p:sp>
        <p:nvSpPr>
          <p:cNvPr id="20" name="Text 18"/>
          <p:cNvSpPr txBox="1"/>
          <p:nvPr/>
        </p:nvSpPr>
        <p:spPr>
          <a:xfrm>
            <a:off x="8229600" y="4370832"/>
            <a:ext cx="3017520" cy="822960"/>
          </a:xfrm>
          <a:prstGeom prst="rect">
            <a:avLst/>
          </a:prstGeom>
          <a:noFill/>
          <a:ln/>
        </p:spPr>
        <p:txBody>
          <a:bodyPr wrap="square" lIns="0" tIns="0" rIns="0" bIns="0" rtlCol="0" anchor="ctr"/>
          <a:lstStyle/>
          <a:p>
            <a:pPr marL="0" indent="0">
              <a:buNone/>
            </a:pPr>
            <a:r>
              <a:rPr lang="en-US" sz="1200" i="1" dirty="0">
                <a:solidFill>
                  <a:srgbClr val="6A6284"/>
                </a:solidFill>
                <a:latin typeface="Calibri" pitchFamily="34" charset="0"/>
                <a:ea typeface="Calibri" pitchFamily="34" charset="-122"/>
                <a:cs typeface="Calibri" pitchFamily="34" charset="-120"/>
              </a:rPr>
              <a:t>starting speech becomes harder</a:t>
            </a:r>
            <a:endParaRPr lang="en-US" sz="1200" dirty="0"/>
          </a:p>
        </p:txBody>
      </p:sp>
      <p:sp>
        <p:nvSpPr>
          <p:cNvPr id="21" name="Shape 19"/>
          <p:cNvSpPr/>
          <p:nvPr/>
        </p:nvSpPr>
        <p:spPr>
          <a:xfrm>
            <a:off x="822960" y="5340096"/>
            <a:ext cx="10543032" cy="822960"/>
          </a:xfrm>
          <a:prstGeom prst="roundRect">
            <a:avLst>
              <a:gd name="adj" fmla="val 13333"/>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22" name="Text 20"/>
          <p:cNvSpPr txBox="1"/>
          <p:nvPr/>
        </p:nvSpPr>
        <p:spPr>
          <a:xfrm>
            <a:off x="1097280" y="5340096"/>
            <a:ext cx="4206240" cy="822960"/>
          </a:xfrm>
          <a:prstGeom prst="rect">
            <a:avLst/>
          </a:prstGeom>
          <a:noFill/>
          <a:ln/>
        </p:spPr>
        <p:txBody>
          <a:bodyPr wrap="square" lIns="0" tIns="0" rIns="0" bIns="0" rtlCol="0" anchor="ctr"/>
          <a:lstStyle/>
          <a:p>
            <a:pPr marL="0" indent="0">
              <a:buNone/>
            </a:pPr>
            <a:r>
              <a:rPr lang="en-US" sz="1500" b="1" dirty="0">
                <a:solidFill>
                  <a:srgbClr val="241A45"/>
                </a:solidFill>
                <a:latin typeface="Calibri" pitchFamily="34" charset="0"/>
                <a:ea typeface="Calibri" pitchFamily="34" charset="-122"/>
                <a:cs typeface="Calibri" pitchFamily="34" charset="-120"/>
              </a:rPr>
              <a:t>How fast does the mouth move?</a:t>
            </a:r>
            <a:endParaRPr lang="en-US" sz="1500" dirty="0"/>
          </a:p>
        </p:txBody>
      </p:sp>
      <p:sp>
        <p:nvSpPr>
          <p:cNvPr id="23" name="Text 21"/>
          <p:cNvSpPr txBox="1"/>
          <p:nvPr/>
        </p:nvSpPr>
        <p:spPr>
          <a:xfrm>
            <a:off x="5486400" y="5340096"/>
            <a:ext cx="2651760" cy="822960"/>
          </a:xfrm>
          <a:prstGeom prst="rect">
            <a:avLst/>
          </a:prstGeom>
          <a:noFill/>
          <a:ln/>
        </p:spPr>
        <p:txBody>
          <a:bodyPr wrap="square" lIns="0" tIns="0" rIns="0" bIns="0" rtlCol="0" anchor="ctr"/>
          <a:lstStyle/>
          <a:p>
            <a:pPr marL="0" indent="0">
              <a:buNone/>
            </a:pPr>
            <a:r>
              <a:rPr lang="en-US" sz="1450" b="1" dirty="0">
                <a:solidFill>
                  <a:srgbClr val="43307A"/>
                </a:solidFill>
                <a:latin typeface="Bookman Old Style" pitchFamily="34" charset="0"/>
                <a:ea typeface="Bookman Old Style" pitchFamily="34" charset="-122"/>
                <a:cs typeface="Bookman Old Style" pitchFamily="34" charset="-120"/>
              </a:rPr>
              <a:t>spectrum (MFCC)</a:t>
            </a:r>
            <a:endParaRPr lang="en-US" sz="1450" dirty="0"/>
          </a:p>
        </p:txBody>
      </p:sp>
      <p:sp>
        <p:nvSpPr>
          <p:cNvPr id="24" name="Text 22"/>
          <p:cNvSpPr txBox="1"/>
          <p:nvPr/>
        </p:nvSpPr>
        <p:spPr>
          <a:xfrm>
            <a:off x="8229600" y="5340096"/>
            <a:ext cx="3017520" cy="822960"/>
          </a:xfrm>
          <a:prstGeom prst="rect">
            <a:avLst/>
          </a:prstGeom>
          <a:noFill/>
          <a:ln/>
        </p:spPr>
        <p:txBody>
          <a:bodyPr wrap="square" lIns="0" tIns="0" rIns="0" bIns="0" rtlCol="0" anchor="ctr"/>
          <a:lstStyle/>
          <a:p>
            <a:pPr marL="0" indent="0">
              <a:buNone/>
            </a:pPr>
            <a:r>
              <a:rPr lang="en-US" sz="1200" i="1" dirty="0">
                <a:solidFill>
                  <a:srgbClr val="6A6284"/>
                </a:solidFill>
                <a:latin typeface="Calibri" pitchFamily="34" charset="0"/>
                <a:ea typeface="Calibri" pitchFamily="34" charset="-122"/>
                <a:cs typeface="Calibri" pitchFamily="34" charset="-120"/>
              </a:rPr>
              <a:t>small slow movements blur letters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24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24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240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07  </a:t>
            </a:r>
            <a:r>
              <a:rPr lang="en-US" sz="1300" kern="0" spc="200" dirty="0">
                <a:solidFill>
                  <a:srgbClr val="6A6284"/>
                </a:solidFill>
                <a:latin typeface="Calibri" pitchFamily="34" charset="0"/>
                <a:ea typeface="Calibri" pitchFamily="34" charset="-122"/>
                <a:cs typeface="Calibri" pitchFamily="34" charset="-120"/>
              </a:rPr>
              <a:t>·  TEACHING THE COMPUTER</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Training, testing — and one golden rule</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699516" y="1691640"/>
            <a:ext cx="5074920" cy="2148840"/>
          </a:xfrm>
          <a:prstGeom prst="roundRect">
            <a:avLst>
              <a:gd name="adj" fmla="val 510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Text 4"/>
          <p:cNvSpPr txBox="1"/>
          <p:nvPr/>
        </p:nvSpPr>
        <p:spPr>
          <a:xfrm>
            <a:off x="699516" y="1892808"/>
            <a:ext cx="5074920" cy="457200"/>
          </a:xfrm>
          <a:prstGeom prst="rect">
            <a:avLst/>
          </a:prstGeom>
          <a:noFill/>
          <a:ln/>
        </p:spPr>
        <p:txBody>
          <a:bodyPr wrap="square" lIns="0" tIns="0" rIns="0" bIns="0" rtlCol="0" anchor="ctr"/>
          <a:lstStyle/>
          <a:p>
            <a:pPr marL="0" indent="0" algn="ctr">
              <a:buNone/>
            </a:pPr>
            <a:r>
              <a:rPr lang="en-US" sz="1900" b="1" dirty="0">
                <a:solidFill>
                  <a:srgbClr val="43307A"/>
                </a:solidFill>
                <a:latin typeface="Bookman Old Style" pitchFamily="34" charset="0"/>
                <a:ea typeface="Bookman Old Style" pitchFamily="34" charset="-122"/>
                <a:cs typeface="Bookman Old Style" pitchFamily="34" charset="-120"/>
              </a:rPr>
              <a:t>TRAINING</a:t>
            </a:r>
            <a:endParaRPr lang="en-US" sz="1900" dirty="0"/>
          </a:p>
        </p:txBody>
      </p:sp>
      <p:sp>
        <p:nvSpPr>
          <p:cNvPr id="7" name="Text 5"/>
          <p:cNvSpPr txBox="1"/>
          <p:nvPr/>
        </p:nvSpPr>
        <p:spPr>
          <a:xfrm>
            <a:off x="973836" y="2514600"/>
            <a:ext cx="4526280" cy="1097280"/>
          </a:xfrm>
          <a:prstGeom prst="rect">
            <a:avLst/>
          </a:prstGeom>
          <a:noFill/>
          <a:ln/>
        </p:spPr>
        <p:txBody>
          <a:bodyPr wrap="square" lIns="0" tIns="0" rIns="0" bIns="0" rtlCol="0" anchor="ctr"/>
          <a:lstStyle/>
          <a:p>
            <a:pPr marL="0" indent="0" algn="ctr">
              <a:buNone/>
            </a:pPr>
            <a:r>
              <a:rPr lang="en-US" sz="1550" dirty="0">
                <a:solidFill>
                  <a:srgbClr val="241A45"/>
                </a:solidFill>
                <a:latin typeface="Calibri" pitchFamily="34" charset="0"/>
                <a:ea typeface="Calibri" pitchFamily="34" charset="-122"/>
                <a:cs typeface="Calibri" pitchFamily="34" charset="-120"/>
              </a:rPr>
              <a:t>show many recordings WITH answers</a:t>
            </a:r>
            <a:endParaRPr lang="en-US" sz="1550" dirty="0"/>
          </a:p>
          <a:p>
            <a:pPr marL="0" indent="0" algn="ctr">
              <a:buNone/>
            </a:pPr>
            <a:r>
              <a:rPr lang="en-US" sz="1550" dirty="0">
                <a:solidFill>
                  <a:srgbClr val="241A45"/>
                </a:solidFill>
                <a:latin typeface="Calibri" pitchFamily="34" charset="0"/>
                <a:ea typeface="Calibri" pitchFamily="34" charset="-122"/>
                <a:cs typeface="Calibri" pitchFamily="34" charset="-120"/>
              </a:rPr>
              <a:t>→ the computer finds the pattern</a:t>
            </a:r>
            <a:endParaRPr lang="en-US" sz="1550" dirty="0"/>
          </a:p>
        </p:txBody>
      </p:sp>
      <p:sp>
        <p:nvSpPr>
          <p:cNvPr id="8" name="Shape 6"/>
          <p:cNvSpPr/>
          <p:nvPr/>
        </p:nvSpPr>
        <p:spPr>
          <a:xfrm>
            <a:off x="6414516" y="1691640"/>
            <a:ext cx="5074920" cy="2148840"/>
          </a:xfrm>
          <a:prstGeom prst="roundRect">
            <a:avLst>
              <a:gd name="adj" fmla="val 510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9" name="Text 7"/>
          <p:cNvSpPr txBox="1"/>
          <p:nvPr/>
        </p:nvSpPr>
        <p:spPr>
          <a:xfrm>
            <a:off x="6414516" y="1892808"/>
            <a:ext cx="5074920" cy="457200"/>
          </a:xfrm>
          <a:prstGeom prst="rect">
            <a:avLst/>
          </a:prstGeom>
          <a:noFill/>
          <a:ln/>
        </p:spPr>
        <p:txBody>
          <a:bodyPr wrap="square" lIns="0" tIns="0" rIns="0" bIns="0" rtlCol="0" anchor="ctr"/>
          <a:lstStyle/>
          <a:p>
            <a:pPr marL="0" indent="0" algn="ctr">
              <a:buNone/>
            </a:pPr>
            <a:r>
              <a:rPr lang="en-US" sz="1900" b="1" dirty="0">
                <a:solidFill>
                  <a:srgbClr val="D98A1F"/>
                </a:solidFill>
                <a:latin typeface="Bookman Old Style" pitchFamily="34" charset="0"/>
                <a:ea typeface="Bookman Old Style" pitchFamily="34" charset="-122"/>
                <a:cs typeface="Bookman Old Style" pitchFamily="34" charset="-120"/>
              </a:rPr>
              <a:t>TESTING</a:t>
            </a:r>
            <a:endParaRPr lang="en-US" sz="1900" dirty="0"/>
          </a:p>
        </p:txBody>
      </p:sp>
      <p:sp>
        <p:nvSpPr>
          <p:cNvPr id="10" name="Text 8"/>
          <p:cNvSpPr txBox="1"/>
          <p:nvPr/>
        </p:nvSpPr>
        <p:spPr>
          <a:xfrm>
            <a:off x="6688836" y="2514600"/>
            <a:ext cx="4526280" cy="1097280"/>
          </a:xfrm>
          <a:prstGeom prst="rect">
            <a:avLst/>
          </a:prstGeom>
          <a:noFill/>
          <a:ln/>
        </p:spPr>
        <p:txBody>
          <a:bodyPr wrap="square" lIns="0" tIns="0" rIns="0" bIns="0" rtlCol="0" anchor="ctr"/>
          <a:lstStyle/>
          <a:p>
            <a:pPr marL="0" indent="0" algn="ctr">
              <a:buNone/>
            </a:pPr>
            <a:r>
              <a:rPr lang="en-US" sz="1550" dirty="0">
                <a:solidFill>
                  <a:srgbClr val="241A45"/>
                </a:solidFill>
                <a:latin typeface="Calibri" pitchFamily="34" charset="0"/>
                <a:ea typeface="Calibri" pitchFamily="34" charset="-122"/>
                <a:cs typeface="Calibri" pitchFamily="34" charset="-120"/>
              </a:rPr>
              <a:t>new people, NO answers</a:t>
            </a:r>
            <a:endParaRPr lang="en-US" sz="1550" dirty="0"/>
          </a:p>
          <a:p>
            <a:pPr marL="0" indent="0" algn="ctr">
              <a:buNone/>
            </a:pPr>
            <a:r>
              <a:rPr lang="en-US" sz="1550" dirty="0">
                <a:solidFill>
                  <a:srgbClr val="241A45"/>
                </a:solidFill>
                <a:latin typeface="Calibri" pitchFamily="34" charset="0"/>
                <a:ea typeface="Calibri" pitchFamily="34" charset="-122"/>
                <a:cs typeface="Calibri" pitchFamily="34" charset="-120"/>
              </a:rPr>
              <a:t>→ can it still tell?</a:t>
            </a:r>
            <a:endParaRPr lang="en-US" sz="1550" dirty="0"/>
          </a:p>
        </p:txBody>
      </p:sp>
      <p:sp>
        <p:nvSpPr>
          <p:cNvPr id="11" name="Shape 9"/>
          <p:cNvSpPr/>
          <p:nvPr/>
        </p:nvSpPr>
        <p:spPr>
          <a:xfrm>
            <a:off x="1463040" y="4343400"/>
            <a:ext cx="9262872" cy="1234440"/>
          </a:xfrm>
          <a:prstGeom prst="roundRect">
            <a:avLst>
              <a:gd name="adj" fmla="val 8889"/>
            </a:avLst>
          </a:prstGeom>
          <a:solidFill>
            <a:srgbClr val="F1EDFA"/>
          </a:solidFill>
          <a:ln w="12700">
            <a:solidFill>
              <a:srgbClr val="E4DFF2"/>
            </a:solidFill>
            <a:prstDash val="solid"/>
          </a:ln>
          <a:effectLst>
            <a:outerShdw blurRad="127000" dist="38100" dir="5400000" algn="bl" rotWithShape="0">
              <a:srgbClr val="B4A8D4">
                <a:alpha val="40000"/>
              </a:srgbClr>
            </a:outerShdw>
          </a:effectLst>
        </p:spPr>
      </p:sp>
      <p:sp>
        <p:nvSpPr>
          <p:cNvPr id="12" name="Text 10"/>
          <p:cNvSpPr txBox="1"/>
          <p:nvPr/>
        </p:nvSpPr>
        <p:spPr>
          <a:xfrm>
            <a:off x="1463040" y="4343400"/>
            <a:ext cx="9262872" cy="1234440"/>
          </a:xfrm>
          <a:prstGeom prst="rect">
            <a:avLst/>
          </a:prstGeom>
          <a:noFill/>
          <a:ln/>
        </p:spPr>
        <p:txBody>
          <a:bodyPr wrap="square" lIns="1905" tIns="1905" rIns="1905" bIns="1905" rtlCol="0" anchor="ctr"/>
          <a:lstStyle/>
          <a:p>
            <a:pPr marL="0" indent="0" algn="ctr">
              <a:buNone/>
            </a:pPr>
            <a:r>
              <a:rPr lang="en-US" sz="1650" b="1" dirty="0">
                <a:solidFill>
                  <a:srgbClr val="43307A"/>
                </a:solidFill>
                <a:latin typeface="Calibri" pitchFamily="34" charset="0"/>
                <a:ea typeface="Calibri" pitchFamily="34" charset="-122"/>
                <a:cs typeface="Calibri" pitchFamily="34" charset="-120"/>
              </a:rPr>
              <a:t>Golden rule:  </a:t>
            </a:r>
            <a:r>
              <a:rPr lang="en-US" sz="1650" dirty="0">
                <a:solidFill>
                  <a:srgbClr val="241A45"/>
                </a:solidFill>
                <a:latin typeface="Calibri" pitchFamily="34" charset="0"/>
                <a:ea typeface="Calibri" pitchFamily="34" charset="-122"/>
                <a:cs typeface="Calibri" pitchFamily="34" charset="-120"/>
              </a:rPr>
              <a:t>never test on a person the computer trained on.</a:t>
            </a:r>
            <a:endParaRPr lang="en-US" sz="1650" dirty="0"/>
          </a:p>
          <a:p>
            <a:pPr marL="0" indent="0" algn="ctr">
              <a:buNone/>
            </a:pPr>
            <a:r>
              <a:rPr lang="en-US" sz="1650" dirty="0">
                <a:solidFill>
                  <a:srgbClr val="241A45"/>
                </a:solidFill>
                <a:latin typeface="Calibri" pitchFamily="34" charset="0"/>
                <a:ea typeface="Calibri" pitchFamily="34" charset="-122"/>
                <a:cs typeface="Calibri" pitchFamily="34" charset="-120"/>
              </a:rPr>
              <a:t>A student who saw the exam questions proves nothing.</a:t>
            </a:r>
            <a:endParaRPr lang="en-US" sz="16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9" grpId="0" animBg="1"/>
      <p:bldP spid="10"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B9B1D6"/>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457200"/>
            <a:ext cx="11091672" cy="640080"/>
          </a:xfrm>
          <a:prstGeom prst="rect">
            <a:avLst/>
          </a:prstGeom>
          <a:noFill/>
          <a:ln/>
        </p:spPr>
        <p:txBody>
          <a:bodyPr wrap="square" lIns="0" tIns="0" rIns="0" bIns="0" rtlCol="0" anchor="ctr"/>
          <a:lstStyle/>
          <a:p>
            <a:pPr marL="0" indent="0" algn="l">
              <a:buNone/>
            </a:pPr>
            <a:r>
              <a:rPr lang="en-US" sz="2600" b="1" dirty="0">
                <a:solidFill>
                  <a:srgbClr val="F5F2FC"/>
                </a:solidFill>
                <a:latin typeface="Bookman Old Style" pitchFamily="34" charset="0"/>
                <a:ea typeface="Bookman Old Style" pitchFamily="34" charset="-122"/>
                <a:cs typeface="Bookman Old Style" pitchFamily="34" charset="-120"/>
              </a:rPr>
              <a:t>The most important slide in this project</a:t>
            </a:r>
            <a:endParaRPr lang="en-US" sz="2600" dirty="0"/>
          </a:p>
        </p:txBody>
      </p:sp>
      <p:sp>
        <p:nvSpPr>
          <p:cNvPr id="4" name="Text 2"/>
          <p:cNvSpPr txBox="1"/>
          <p:nvPr/>
        </p:nvSpPr>
        <p:spPr>
          <a:xfrm>
            <a:off x="548640" y="1143000"/>
            <a:ext cx="11091672" cy="457200"/>
          </a:xfrm>
          <a:prstGeom prst="rect">
            <a:avLst/>
          </a:prstGeom>
          <a:noFill/>
          <a:ln/>
        </p:spPr>
        <p:txBody>
          <a:bodyPr wrap="square" lIns="0" tIns="0" rIns="0" bIns="0" rtlCol="0" anchor="ctr"/>
          <a:lstStyle/>
          <a:p>
            <a:pPr marL="0" indent="0" algn="l">
              <a:buNone/>
            </a:pPr>
            <a:r>
              <a:rPr lang="en-US" sz="1600" i="1" dirty="0">
                <a:solidFill>
                  <a:srgbClr val="B9B1D6"/>
                </a:solidFill>
                <a:latin typeface="Calibri" pitchFamily="34" charset="0"/>
                <a:ea typeface="Calibri" pitchFamily="34" charset="-122"/>
                <a:cs typeface="Calibri" pitchFamily="34" charset="-120"/>
              </a:rPr>
              <a:t>Same data.  Same model.  Only the split changed.</a:t>
            </a:r>
            <a:endParaRPr lang="en-US" sz="1600" dirty="0"/>
          </a:p>
        </p:txBody>
      </p:sp>
      <p:sp>
        <p:nvSpPr>
          <p:cNvPr id="5" name="Text 3"/>
          <p:cNvSpPr txBox="1"/>
          <p:nvPr/>
        </p:nvSpPr>
        <p:spPr>
          <a:xfrm>
            <a:off x="731520" y="2011680"/>
            <a:ext cx="5120640" cy="1463040"/>
          </a:xfrm>
          <a:prstGeom prst="rect">
            <a:avLst/>
          </a:prstGeom>
          <a:noFill/>
          <a:ln/>
        </p:spPr>
        <p:txBody>
          <a:bodyPr wrap="square" lIns="0" tIns="0" rIns="0" bIns="0" rtlCol="0" anchor="ctr"/>
          <a:lstStyle/>
          <a:p>
            <a:pPr marL="0" indent="0" algn="ctr">
              <a:buNone/>
            </a:pPr>
            <a:r>
              <a:rPr lang="en-US" sz="8400" b="1" dirty="0">
                <a:solidFill>
                  <a:srgbClr val="F2A93B"/>
                </a:solidFill>
                <a:latin typeface="Bookman Old Style" pitchFamily="34" charset="0"/>
                <a:ea typeface="Bookman Old Style" pitchFamily="34" charset="-122"/>
                <a:cs typeface="Bookman Old Style" pitchFamily="34" charset="-120"/>
              </a:rPr>
              <a:t>0.909</a:t>
            </a:r>
            <a:endParaRPr lang="en-US" sz="8400" dirty="0"/>
          </a:p>
        </p:txBody>
      </p:sp>
      <p:sp>
        <p:nvSpPr>
          <p:cNvPr id="6" name="Text 4"/>
          <p:cNvSpPr txBox="1"/>
          <p:nvPr/>
        </p:nvSpPr>
        <p:spPr>
          <a:xfrm>
            <a:off x="731520" y="3566160"/>
            <a:ext cx="5120640" cy="777240"/>
          </a:xfrm>
          <a:prstGeom prst="rect">
            <a:avLst/>
          </a:prstGeom>
          <a:noFill/>
          <a:ln/>
        </p:spPr>
        <p:txBody>
          <a:bodyPr wrap="square" lIns="0" tIns="0" rIns="0" bIns="0" rtlCol="0" anchor="ctr"/>
          <a:lstStyle/>
          <a:p>
            <a:pPr marL="0" indent="0" algn="ctr">
              <a:buNone/>
            </a:pPr>
            <a:r>
              <a:rPr lang="en-US" sz="1500" dirty="0">
                <a:solidFill>
                  <a:srgbClr val="F2A93B"/>
                </a:solidFill>
                <a:latin typeface="Calibri" pitchFamily="34" charset="0"/>
                <a:ea typeface="Calibri" pitchFamily="34" charset="-122"/>
                <a:cs typeface="Calibri" pitchFamily="34" charset="-120"/>
              </a:rPr>
              <a:t>the WRONG way: test on voices</a:t>
            </a:r>
            <a:endParaRPr lang="en-US" sz="1500" dirty="0"/>
          </a:p>
          <a:p>
            <a:pPr marL="0" indent="0" algn="ctr">
              <a:buNone/>
            </a:pPr>
            <a:r>
              <a:rPr lang="en-US" sz="1500" dirty="0">
                <a:solidFill>
                  <a:srgbClr val="F2A93B"/>
                </a:solidFill>
                <a:latin typeface="Calibri" pitchFamily="34" charset="0"/>
                <a:ea typeface="Calibri" pitchFamily="34" charset="-122"/>
                <a:cs typeface="Calibri" pitchFamily="34" charset="-120"/>
              </a:rPr>
              <a:t>the computer partly heard before</a:t>
            </a:r>
            <a:endParaRPr lang="en-US" sz="1500" dirty="0"/>
          </a:p>
        </p:txBody>
      </p:sp>
      <p:sp>
        <p:nvSpPr>
          <p:cNvPr id="7" name="Text 5"/>
          <p:cNvSpPr txBox="1"/>
          <p:nvPr/>
        </p:nvSpPr>
        <p:spPr>
          <a:xfrm>
            <a:off x="6309360" y="2011680"/>
            <a:ext cx="5120640" cy="1463040"/>
          </a:xfrm>
          <a:prstGeom prst="rect">
            <a:avLst/>
          </a:prstGeom>
          <a:noFill/>
          <a:ln/>
        </p:spPr>
        <p:txBody>
          <a:bodyPr wrap="square" lIns="0" tIns="0" rIns="0" bIns="0" rtlCol="0" anchor="ctr"/>
          <a:lstStyle/>
          <a:p>
            <a:pPr marL="0" indent="0" algn="ctr">
              <a:buNone/>
            </a:pPr>
            <a:r>
              <a:rPr lang="en-US" sz="8400" b="1" dirty="0">
                <a:solidFill>
                  <a:srgbClr val="F5F2FC"/>
                </a:solidFill>
                <a:latin typeface="Bookman Old Style" pitchFamily="34" charset="0"/>
                <a:ea typeface="Bookman Old Style" pitchFamily="34" charset="-122"/>
                <a:cs typeface="Bookman Old Style" pitchFamily="34" charset="-120"/>
              </a:rPr>
              <a:t>0.775</a:t>
            </a:r>
            <a:endParaRPr lang="en-US" sz="8400" dirty="0"/>
          </a:p>
        </p:txBody>
      </p:sp>
      <p:sp>
        <p:nvSpPr>
          <p:cNvPr id="8" name="Text 6"/>
          <p:cNvSpPr txBox="1"/>
          <p:nvPr/>
        </p:nvSpPr>
        <p:spPr>
          <a:xfrm>
            <a:off x="6309360" y="3566160"/>
            <a:ext cx="5120640" cy="777240"/>
          </a:xfrm>
          <a:prstGeom prst="rect">
            <a:avLst/>
          </a:prstGeom>
          <a:noFill/>
          <a:ln/>
        </p:spPr>
        <p:txBody>
          <a:bodyPr wrap="square" lIns="0" tIns="0" rIns="0" bIns="0" rtlCol="0" anchor="ctr"/>
          <a:lstStyle/>
          <a:p>
            <a:pPr marL="0" indent="0" algn="ctr">
              <a:buNone/>
            </a:pPr>
            <a:r>
              <a:rPr lang="en-US" sz="1500" dirty="0">
                <a:solidFill>
                  <a:srgbClr val="B9B1D6"/>
                </a:solidFill>
                <a:latin typeface="Calibri" pitchFamily="34" charset="0"/>
                <a:ea typeface="Calibri" pitchFamily="34" charset="-122"/>
                <a:cs typeface="Calibri" pitchFamily="34" charset="-120"/>
              </a:rPr>
              <a:t>the HONEST way: test only on people</a:t>
            </a:r>
            <a:endParaRPr lang="en-US" sz="1500" dirty="0"/>
          </a:p>
          <a:p>
            <a:pPr marL="0" indent="0" algn="ctr">
              <a:buNone/>
            </a:pPr>
            <a:r>
              <a:rPr lang="en-US" sz="1500" dirty="0">
                <a:solidFill>
                  <a:srgbClr val="B9B1D6"/>
                </a:solidFill>
                <a:latin typeface="Calibri" pitchFamily="34" charset="0"/>
                <a:ea typeface="Calibri" pitchFamily="34" charset="-122"/>
                <a:cs typeface="Calibri" pitchFamily="34" charset="-120"/>
              </a:rPr>
              <a:t>the computer never heard</a:t>
            </a:r>
            <a:endParaRPr lang="en-US" sz="1500" dirty="0"/>
          </a:p>
        </p:txBody>
      </p:sp>
      <p:sp>
        <p:nvSpPr>
          <p:cNvPr id="9" name="Shape 7"/>
          <p:cNvSpPr/>
          <p:nvPr/>
        </p:nvSpPr>
        <p:spPr>
          <a:xfrm>
            <a:off x="6094476" y="2103120"/>
            <a:ext cx="0" cy="2103120"/>
          </a:xfrm>
          <a:prstGeom prst="line">
            <a:avLst/>
          </a:prstGeom>
          <a:noFill/>
          <a:ln w="12700">
            <a:solidFill>
              <a:srgbClr val="B9B1D6"/>
            </a:solidFill>
            <a:prstDash val="dash"/>
          </a:ln>
        </p:spPr>
      </p:sp>
      <p:sp>
        <p:nvSpPr>
          <p:cNvPr id="10" name="Text 8"/>
          <p:cNvSpPr txBox="1"/>
          <p:nvPr/>
        </p:nvSpPr>
        <p:spPr>
          <a:xfrm>
            <a:off x="1097280" y="4892040"/>
            <a:ext cx="9994392" cy="1097280"/>
          </a:xfrm>
          <a:prstGeom prst="rect">
            <a:avLst/>
          </a:prstGeom>
          <a:noFill/>
          <a:ln/>
        </p:spPr>
        <p:txBody>
          <a:bodyPr wrap="square" lIns="0" tIns="0" rIns="0" bIns="0" rtlCol="0" anchor="ctr"/>
          <a:lstStyle/>
          <a:p>
            <a:pPr marL="0" indent="0" algn="ctr">
              <a:buNone/>
            </a:pPr>
            <a:r>
              <a:rPr lang="en-US" sz="1650" b="1" dirty="0">
                <a:solidFill>
                  <a:srgbClr val="F5F2FC"/>
                </a:solidFill>
                <a:latin typeface="Calibri" pitchFamily="34" charset="0"/>
                <a:ea typeface="Calibri" pitchFamily="34" charset="-122"/>
                <a:cs typeface="Calibri" pitchFamily="34" charset="-120"/>
              </a:rPr>
              <a:t>The difference is memorising people, not detecting disease.
</a:t>
            </a:r>
            <a:r>
              <a:rPr lang="en-US" sz="1650" dirty="0">
                <a:solidFill>
                  <a:srgbClr val="B9B1D6"/>
                </a:solidFill>
                <a:latin typeface="Calibri" pitchFamily="34" charset="0"/>
                <a:ea typeface="Calibri" pitchFamily="34" charset="-122"/>
                <a:cs typeface="Calibri" pitchFamily="34" charset="-120"/>
              </a:rPr>
              <a:t>This is why many published 95%+ results are not what they seem — our number is honest.</a:t>
            </a:r>
            <a:endParaRPr lang="en-US" sz="16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2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4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08  </a:t>
            </a:r>
            <a:r>
              <a:rPr lang="en-US" sz="1300" kern="0" spc="200" dirty="0">
                <a:solidFill>
                  <a:srgbClr val="6A6284"/>
                </a:solidFill>
                <a:latin typeface="Calibri" pitchFamily="34" charset="0"/>
                <a:ea typeface="Calibri" pitchFamily="34" charset="-122"/>
                <a:cs typeface="Calibri" pitchFamily="34" charset="-120"/>
              </a:rPr>
              <a:t>·  OUR MODEL</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A forest of 300 small decisions</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4379976" y="1600200"/>
            <a:ext cx="868680" cy="868680"/>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6" name="Image 0" descr="C:\Users\MShaheen\Documents\parkinsons_voice_project\report\defence\figs\v_tree.png"/>
          <p:cNvPicPr>
            <a:picLocks noChangeAspect="1"/>
          </p:cNvPicPr>
          <p:nvPr/>
        </p:nvPicPr>
        <p:blipFill>
          <a:blip r:embed="rId4"/>
          <a:stretch>
            <a:fillRect/>
          </a:stretch>
        </p:blipFill>
        <p:spPr>
          <a:xfrm>
            <a:off x="4605833" y="1826057"/>
            <a:ext cx="416966" cy="416966"/>
          </a:xfrm>
          <a:prstGeom prst="rect">
            <a:avLst/>
          </a:prstGeom>
        </p:spPr>
      </p:pic>
      <p:sp>
        <p:nvSpPr>
          <p:cNvPr id="7" name="Shape 4"/>
          <p:cNvSpPr/>
          <p:nvPr/>
        </p:nvSpPr>
        <p:spPr>
          <a:xfrm>
            <a:off x="5660136" y="1600200"/>
            <a:ext cx="868680" cy="868680"/>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8" name="Image 1" descr="C:\Users\MShaheen\Documents\parkinsons_voice_project\report\defence\figs\v_tree.png"/>
          <p:cNvPicPr>
            <a:picLocks noChangeAspect="1"/>
          </p:cNvPicPr>
          <p:nvPr/>
        </p:nvPicPr>
        <p:blipFill>
          <a:blip r:embed="rId4"/>
          <a:stretch>
            <a:fillRect/>
          </a:stretch>
        </p:blipFill>
        <p:spPr>
          <a:xfrm>
            <a:off x="5885993" y="1826057"/>
            <a:ext cx="416966" cy="416966"/>
          </a:xfrm>
          <a:prstGeom prst="rect">
            <a:avLst/>
          </a:prstGeom>
        </p:spPr>
      </p:pic>
      <p:sp>
        <p:nvSpPr>
          <p:cNvPr id="9" name="Shape 5"/>
          <p:cNvSpPr/>
          <p:nvPr/>
        </p:nvSpPr>
        <p:spPr>
          <a:xfrm>
            <a:off x="6940296" y="1600200"/>
            <a:ext cx="868680" cy="868680"/>
          </a:xfrm>
          <a:prstGeom prst="ellipse">
            <a:avLst/>
          </a:prstGeom>
          <a:solidFill>
            <a:srgbClr val="F1EDFA"/>
          </a:solidFill>
          <a:ln w="17780">
            <a:solidFill>
              <a:srgbClr val="43307A"/>
            </a:solidFill>
            <a:prstDash val="solid"/>
          </a:ln>
          <a:effectLst>
            <a:outerShdw blurRad="76200" dist="25400" dir="5400000" algn="bl" rotWithShape="0">
              <a:srgbClr val="B4A8D4">
                <a:alpha val="35000"/>
              </a:srgbClr>
            </a:outerShdw>
          </a:effectLst>
        </p:spPr>
      </p:sp>
      <p:pic>
        <p:nvPicPr>
          <p:cNvPr id="10" name="Image 2" descr="C:\Users\MShaheen\Documents\parkinsons_voice_project\report\defence\figs\v_tree.png"/>
          <p:cNvPicPr>
            <a:picLocks noChangeAspect="1"/>
          </p:cNvPicPr>
          <p:nvPr/>
        </p:nvPicPr>
        <p:blipFill>
          <a:blip r:embed="rId4"/>
          <a:stretch>
            <a:fillRect/>
          </a:stretch>
        </p:blipFill>
        <p:spPr>
          <a:xfrm>
            <a:off x="7166153" y="1826057"/>
            <a:ext cx="416966" cy="416966"/>
          </a:xfrm>
          <a:prstGeom prst="rect">
            <a:avLst/>
          </a:prstGeom>
        </p:spPr>
      </p:pic>
      <p:sp>
        <p:nvSpPr>
          <p:cNvPr id="11" name="Text 6"/>
          <p:cNvSpPr txBox="1"/>
          <p:nvPr/>
        </p:nvSpPr>
        <p:spPr>
          <a:xfrm>
            <a:off x="822960" y="2697480"/>
            <a:ext cx="10543032" cy="548640"/>
          </a:xfrm>
          <a:prstGeom prst="rect">
            <a:avLst/>
          </a:prstGeom>
          <a:noFill/>
          <a:ln/>
        </p:spPr>
        <p:txBody>
          <a:bodyPr wrap="square" lIns="0" tIns="0" rIns="0" bIns="0" rtlCol="0" anchor="ctr"/>
          <a:lstStyle/>
          <a:p>
            <a:pPr marL="0" indent="0" algn="ctr">
              <a:buNone/>
            </a:pPr>
            <a:r>
              <a:rPr lang="en-US" sz="2600" b="1" dirty="0">
                <a:solidFill>
                  <a:srgbClr val="43307A"/>
                </a:solidFill>
                <a:latin typeface="Bookman Old Style" pitchFamily="34" charset="0"/>
                <a:ea typeface="Bookman Old Style" pitchFamily="34" charset="-122"/>
                <a:cs typeface="Bookman Old Style" pitchFamily="34" charset="-120"/>
              </a:rPr>
              <a:t>Random Forest</a:t>
            </a:r>
            <a:endParaRPr lang="en-US" sz="2600" dirty="0"/>
          </a:p>
        </p:txBody>
      </p:sp>
      <p:sp>
        <p:nvSpPr>
          <p:cNvPr id="12" name="Text 7"/>
          <p:cNvSpPr txBox="1"/>
          <p:nvPr/>
        </p:nvSpPr>
        <p:spPr>
          <a:xfrm>
            <a:off x="822960" y="3246120"/>
            <a:ext cx="10543032" cy="411480"/>
          </a:xfrm>
          <a:prstGeom prst="rect">
            <a:avLst/>
          </a:prstGeom>
          <a:noFill/>
          <a:ln/>
        </p:spPr>
        <p:txBody>
          <a:bodyPr wrap="square" lIns="0" tIns="0" rIns="0" bIns="0" rtlCol="0" anchor="ctr"/>
          <a:lstStyle/>
          <a:p>
            <a:pPr marL="0" indent="0" algn="ctr">
              <a:buNone/>
            </a:pPr>
            <a:r>
              <a:rPr lang="en-US" sz="1600" dirty="0">
                <a:solidFill>
                  <a:srgbClr val="241A45"/>
                </a:solidFill>
                <a:latin typeface="Calibri" pitchFamily="34" charset="0"/>
                <a:ea typeface="Calibri" pitchFamily="34" charset="-122"/>
                <a:cs typeface="Calibri" pitchFamily="34" charset="-120"/>
              </a:rPr>
              <a:t>300 small decision trees look at the 74 numbers — then they vote.</a:t>
            </a:r>
            <a:endParaRPr lang="en-US" sz="1600" dirty="0"/>
          </a:p>
        </p:txBody>
      </p:sp>
      <p:sp>
        <p:nvSpPr>
          <p:cNvPr id="13" name="Shape 8"/>
          <p:cNvSpPr/>
          <p:nvPr/>
        </p:nvSpPr>
        <p:spPr>
          <a:xfrm>
            <a:off x="699516" y="3931920"/>
            <a:ext cx="5074920" cy="1371600"/>
          </a:xfrm>
          <a:prstGeom prst="roundRect">
            <a:avLst>
              <a:gd name="adj" fmla="val 8000"/>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4" name="Text 9"/>
          <p:cNvSpPr txBox="1"/>
          <p:nvPr/>
        </p:nvSpPr>
        <p:spPr>
          <a:xfrm>
            <a:off x="699516" y="3931920"/>
            <a:ext cx="5074920" cy="1371600"/>
          </a:xfrm>
          <a:prstGeom prst="rect">
            <a:avLst/>
          </a:prstGeom>
          <a:noFill/>
          <a:ln/>
        </p:spPr>
        <p:txBody>
          <a:bodyPr wrap="square" lIns="1905" tIns="1905" rIns="1905" bIns="1905" rtlCol="0" anchor="ctr"/>
          <a:lstStyle/>
          <a:p>
            <a:pPr marL="0" indent="0">
              <a:buNone/>
            </a:pPr>
            <a:r>
              <a:rPr lang="en-US" sz="1450" b="1" dirty="0">
                <a:solidFill>
                  <a:srgbClr val="241A45"/>
                </a:solidFill>
                <a:latin typeface="Calibri" pitchFamily="34" charset="0"/>
                <a:ea typeface="Calibri" pitchFamily="34" charset="-122"/>
                <a:cs typeface="Calibri" pitchFamily="34" charset="-120"/>
              </a:rPr>
              <a:t>Why this model?
</a:t>
            </a:r>
            <a:r>
              <a:rPr lang="en-US" sz="1450" dirty="0">
                <a:solidFill>
                  <a:srgbClr val="6A6284"/>
                </a:solidFill>
                <a:latin typeface="Calibri" pitchFamily="34" charset="0"/>
                <a:ea typeface="Calibri" pitchFamily="34" charset="-122"/>
                <a:cs typeface="Calibri" pitchFamily="34" charset="-120"/>
              </a:rPr>
              <a:t>we can ask it which numbers it used — explainable</a:t>
            </a:r>
            <a:endParaRPr lang="en-US" sz="1450" dirty="0"/>
          </a:p>
        </p:txBody>
      </p:sp>
      <p:sp>
        <p:nvSpPr>
          <p:cNvPr id="15" name="Shape 10"/>
          <p:cNvSpPr/>
          <p:nvPr/>
        </p:nvSpPr>
        <p:spPr>
          <a:xfrm>
            <a:off x="6414516" y="3931920"/>
            <a:ext cx="5074920" cy="1371600"/>
          </a:xfrm>
          <a:prstGeom prst="roundRect">
            <a:avLst>
              <a:gd name="adj" fmla="val 8000"/>
            </a:avLst>
          </a:prstGeom>
          <a:solidFill>
            <a:srgbClr val="F1EDFA"/>
          </a:solidFill>
          <a:ln w="12700">
            <a:solidFill>
              <a:srgbClr val="E4DFF2"/>
            </a:solidFill>
            <a:prstDash val="solid"/>
          </a:ln>
          <a:effectLst>
            <a:outerShdw blurRad="127000" dist="38100" dir="5400000" algn="bl" rotWithShape="0">
              <a:srgbClr val="B4A8D4">
                <a:alpha val="40000"/>
              </a:srgbClr>
            </a:outerShdw>
          </a:effectLst>
        </p:spPr>
      </p:sp>
      <p:sp>
        <p:nvSpPr>
          <p:cNvPr id="16" name="Text 11"/>
          <p:cNvSpPr txBox="1"/>
          <p:nvPr/>
        </p:nvSpPr>
        <p:spPr>
          <a:xfrm>
            <a:off x="6414516" y="3931920"/>
            <a:ext cx="5074920" cy="1371600"/>
          </a:xfrm>
          <a:prstGeom prst="rect">
            <a:avLst/>
          </a:prstGeom>
          <a:noFill/>
          <a:ln/>
        </p:spPr>
        <p:txBody>
          <a:bodyPr wrap="square" lIns="1905" tIns="1905" rIns="1905" bIns="1905" rtlCol="0" anchor="ctr"/>
          <a:lstStyle/>
          <a:p>
            <a:pPr marL="0" indent="0">
              <a:buNone/>
            </a:pPr>
            <a:r>
              <a:rPr lang="en-US" sz="1450" b="1" dirty="0">
                <a:solidFill>
                  <a:srgbClr val="241A45"/>
                </a:solidFill>
                <a:latin typeface="Calibri" pitchFamily="34" charset="0"/>
                <a:ea typeface="Calibri" pitchFamily="34" charset="-122"/>
                <a:cs typeface="Calibri" pitchFamily="34" charset="-120"/>
              </a:rPr>
              <a:t>Its favourite number?
</a:t>
            </a:r>
            <a:r>
              <a:rPr lang="en-US" sz="1450" b="1" dirty="0">
                <a:solidFill>
                  <a:srgbClr val="43307A"/>
                </a:solidFill>
                <a:latin typeface="Calibri" pitchFamily="34" charset="0"/>
                <a:ea typeface="Calibri" pitchFamily="34" charset="-122"/>
                <a:cs typeface="Calibri" pitchFamily="34" charset="-120"/>
              </a:rPr>
              <a:t>pitch range — the monotone sign doctors know</a:t>
            </a:r>
            <a:endParaRPr lang="en-US" sz="1450" dirty="0"/>
          </a:p>
        </p:txBody>
      </p:sp>
      <p:sp>
        <p:nvSpPr>
          <p:cNvPr id="17" name="Text 12"/>
          <p:cNvSpPr txBox="1"/>
          <p:nvPr/>
        </p:nvSpPr>
        <p:spPr>
          <a:xfrm>
            <a:off x="822960" y="5577840"/>
            <a:ext cx="10543032" cy="411480"/>
          </a:xfrm>
          <a:prstGeom prst="rect">
            <a:avLst/>
          </a:prstGeom>
          <a:noFill/>
          <a:ln/>
        </p:spPr>
        <p:txBody>
          <a:bodyPr wrap="square" lIns="0" tIns="0" rIns="0" bIns="0" rtlCol="0" anchor="ctr"/>
          <a:lstStyle/>
          <a:p>
            <a:pPr marL="0" indent="0" algn="ctr">
              <a:buNone/>
            </a:pPr>
            <a:r>
              <a:rPr lang="en-US" sz="1350" i="1" dirty="0">
                <a:solidFill>
                  <a:srgbClr val="6A6284"/>
                </a:solidFill>
                <a:latin typeface="Calibri" pitchFamily="34" charset="0"/>
                <a:ea typeface="Calibri" pitchFamily="34" charset="-122"/>
                <a:cs typeface="Calibri" pitchFamily="34" charset="-120"/>
              </a:rPr>
              <a:t>Four models competed under the same honest test — this one won.</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11" grpId="0" animBg="1"/>
      <p:bldP spid="12" grpId="0" animBg="1"/>
      <p:bldP spid="14"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09  </a:t>
            </a:r>
            <a:r>
              <a:rPr lang="en-US" sz="1300" kern="0" spc="200" dirty="0">
                <a:solidFill>
                  <a:srgbClr val="6A6284"/>
                </a:solidFill>
                <a:latin typeface="Calibri" pitchFamily="34" charset="0"/>
                <a:ea typeface="Calibri" pitchFamily="34" charset="-122"/>
                <a:cs typeface="Calibri" pitchFamily="34" charset="-120"/>
              </a:rPr>
              <a:t>·  RESULTS</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How good is it — in plain words</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85216" y="1783080"/>
            <a:ext cx="3246120" cy="2560320"/>
          </a:xfrm>
          <a:prstGeom prst="roundRect">
            <a:avLst>
              <a:gd name="adj" fmla="val 42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Text 4"/>
          <p:cNvSpPr txBox="1"/>
          <p:nvPr/>
        </p:nvSpPr>
        <p:spPr>
          <a:xfrm>
            <a:off x="585216" y="2039112"/>
            <a:ext cx="3246120" cy="914400"/>
          </a:xfrm>
          <a:prstGeom prst="rect">
            <a:avLst/>
          </a:prstGeom>
          <a:noFill/>
          <a:ln/>
        </p:spPr>
        <p:txBody>
          <a:bodyPr wrap="square" lIns="0" tIns="0" rIns="0" bIns="0" rtlCol="0" anchor="ctr"/>
          <a:lstStyle/>
          <a:p>
            <a:pPr marL="0" indent="0" algn="ctr">
              <a:buNone/>
            </a:pPr>
            <a:r>
              <a:rPr lang="en-US" sz="4200" b="1" dirty="0">
                <a:solidFill>
                  <a:srgbClr val="43307A"/>
                </a:solidFill>
                <a:latin typeface="Bookman Old Style" pitchFamily="34" charset="0"/>
                <a:ea typeface="Bookman Old Style" pitchFamily="34" charset="-122"/>
                <a:cs typeface="Bookman Old Style" pitchFamily="34" charset="-120"/>
              </a:rPr>
              <a:t>0.822</a:t>
            </a:r>
            <a:endParaRPr lang="en-US" sz="4200" dirty="0"/>
          </a:p>
        </p:txBody>
      </p:sp>
      <p:sp>
        <p:nvSpPr>
          <p:cNvPr id="7" name="Text 5"/>
          <p:cNvSpPr txBox="1"/>
          <p:nvPr/>
        </p:nvSpPr>
        <p:spPr>
          <a:xfrm>
            <a:off x="585216" y="2990088"/>
            <a:ext cx="3246120" cy="411480"/>
          </a:xfrm>
          <a:prstGeom prst="rect">
            <a:avLst/>
          </a:prstGeom>
          <a:noFill/>
          <a:ln/>
        </p:spPr>
        <p:txBody>
          <a:bodyPr wrap="square" lIns="0" tIns="0" rIns="0" bIns="0" rtlCol="0" anchor="ctr"/>
          <a:lstStyle/>
          <a:p>
            <a:pPr marL="0" indent="0" algn="ctr">
              <a:buNone/>
            </a:pPr>
            <a:r>
              <a:rPr lang="en-US" sz="1500" b="1" dirty="0">
                <a:solidFill>
                  <a:srgbClr val="241A45"/>
                </a:solidFill>
                <a:latin typeface="Bookman Old Style" pitchFamily="34" charset="0"/>
                <a:ea typeface="Bookman Old Style" pitchFamily="34" charset="-122"/>
                <a:cs typeface="Bookman Old Style" pitchFamily="34" charset="-120"/>
              </a:rPr>
              <a:t>balanced accuracy</a:t>
            </a:r>
            <a:endParaRPr lang="en-US" sz="1500" dirty="0"/>
          </a:p>
        </p:txBody>
      </p:sp>
      <p:sp>
        <p:nvSpPr>
          <p:cNvPr id="8" name="Text 6"/>
          <p:cNvSpPr txBox="1"/>
          <p:nvPr/>
        </p:nvSpPr>
        <p:spPr>
          <a:xfrm>
            <a:off x="768096" y="3429000"/>
            <a:ext cx="2880360" cy="822960"/>
          </a:xfrm>
          <a:prstGeom prst="rect">
            <a:avLst/>
          </a:prstGeom>
          <a:noFill/>
          <a:ln/>
        </p:spPr>
        <p:txBody>
          <a:bodyPr wrap="square" lIns="0" tIns="0" rIns="0" bIns="0" rtlCol="0" anchor="ctr"/>
          <a:lstStyle/>
          <a:p>
            <a:pPr marL="0" indent="0" algn="ctr">
              <a:buNone/>
            </a:pPr>
            <a:r>
              <a:rPr lang="en-US" sz="1250" dirty="0">
                <a:solidFill>
                  <a:srgbClr val="6A6284"/>
                </a:solidFill>
                <a:latin typeface="Calibri" pitchFamily="34" charset="0"/>
                <a:ea typeface="Calibri" pitchFamily="34" charset="-122"/>
                <a:cs typeface="Calibri" pitchFamily="34" charset="-120"/>
              </a:rPr>
              <a:t>the fair overall score, on</a:t>
            </a:r>
            <a:endParaRPr lang="en-US" sz="1250" dirty="0"/>
          </a:p>
          <a:p>
            <a:pPr marL="0" indent="0" algn="ctr">
              <a:buNone/>
            </a:pPr>
            <a:r>
              <a:rPr lang="en-US" sz="1250" dirty="0">
                <a:solidFill>
                  <a:srgbClr val="6A6284"/>
                </a:solidFill>
                <a:latin typeface="Calibri" pitchFamily="34" charset="0"/>
                <a:ea typeface="Calibri" pitchFamily="34" charset="-122"/>
                <a:cs typeface="Calibri" pitchFamily="34" charset="-120"/>
              </a:rPr>
              <a:t>people it never heard</a:t>
            </a:r>
            <a:endParaRPr lang="en-US" sz="1250" dirty="0"/>
          </a:p>
        </p:txBody>
      </p:sp>
      <p:sp>
        <p:nvSpPr>
          <p:cNvPr id="9" name="Shape 7"/>
          <p:cNvSpPr/>
          <p:nvPr/>
        </p:nvSpPr>
        <p:spPr>
          <a:xfrm>
            <a:off x="4471416" y="1783080"/>
            <a:ext cx="3246120" cy="2560320"/>
          </a:xfrm>
          <a:prstGeom prst="roundRect">
            <a:avLst>
              <a:gd name="adj" fmla="val 42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0" name="Text 8"/>
          <p:cNvSpPr txBox="1"/>
          <p:nvPr/>
        </p:nvSpPr>
        <p:spPr>
          <a:xfrm>
            <a:off x="4471416" y="2039112"/>
            <a:ext cx="3246120" cy="914400"/>
          </a:xfrm>
          <a:prstGeom prst="rect">
            <a:avLst/>
          </a:prstGeom>
          <a:noFill/>
          <a:ln/>
        </p:spPr>
        <p:txBody>
          <a:bodyPr wrap="square" lIns="0" tIns="0" rIns="0" bIns="0" rtlCol="0" anchor="ctr"/>
          <a:lstStyle/>
          <a:p>
            <a:pPr marL="0" indent="0" algn="ctr">
              <a:buNone/>
            </a:pPr>
            <a:r>
              <a:rPr lang="en-US" sz="4200" b="1" dirty="0">
                <a:solidFill>
                  <a:srgbClr val="43307A"/>
                </a:solidFill>
                <a:latin typeface="Bookman Old Style" pitchFamily="34" charset="0"/>
                <a:ea typeface="Bookman Old Style" pitchFamily="34" charset="-122"/>
                <a:cs typeface="Bookman Old Style" pitchFamily="34" charset="-120"/>
              </a:rPr>
              <a:t>77%</a:t>
            </a:r>
            <a:endParaRPr lang="en-US" sz="4200" dirty="0"/>
          </a:p>
        </p:txBody>
      </p:sp>
      <p:sp>
        <p:nvSpPr>
          <p:cNvPr id="11" name="Text 9"/>
          <p:cNvSpPr txBox="1"/>
          <p:nvPr/>
        </p:nvSpPr>
        <p:spPr>
          <a:xfrm>
            <a:off x="4471416" y="2990088"/>
            <a:ext cx="3246120" cy="411480"/>
          </a:xfrm>
          <a:prstGeom prst="rect">
            <a:avLst/>
          </a:prstGeom>
          <a:noFill/>
          <a:ln/>
        </p:spPr>
        <p:txBody>
          <a:bodyPr wrap="square" lIns="0" tIns="0" rIns="0" bIns="0" rtlCol="0" anchor="ctr"/>
          <a:lstStyle/>
          <a:p>
            <a:pPr marL="0" indent="0" algn="ctr">
              <a:buNone/>
            </a:pPr>
            <a:r>
              <a:rPr lang="en-US" sz="1500" b="1" dirty="0">
                <a:solidFill>
                  <a:srgbClr val="241A45"/>
                </a:solidFill>
                <a:latin typeface="Bookman Old Style" pitchFamily="34" charset="0"/>
                <a:ea typeface="Bookman Old Style" pitchFamily="34" charset="-122"/>
                <a:cs typeface="Bookman Old Style" pitchFamily="34" charset="-120"/>
              </a:rPr>
              <a:t>sensitivity</a:t>
            </a:r>
            <a:endParaRPr lang="en-US" sz="1500" dirty="0"/>
          </a:p>
        </p:txBody>
      </p:sp>
      <p:sp>
        <p:nvSpPr>
          <p:cNvPr id="12" name="Text 10"/>
          <p:cNvSpPr txBox="1"/>
          <p:nvPr/>
        </p:nvSpPr>
        <p:spPr>
          <a:xfrm>
            <a:off x="4654296" y="3429000"/>
            <a:ext cx="2880360" cy="822960"/>
          </a:xfrm>
          <a:prstGeom prst="rect">
            <a:avLst/>
          </a:prstGeom>
          <a:noFill/>
          <a:ln/>
        </p:spPr>
        <p:txBody>
          <a:bodyPr wrap="square" lIns="0" tIns="0" rIns="0" bIns="0" rtlCol="0" anchor="ctr"/>
          <a:lstStyle/>
          <a:p>
            <a:pPr marL="0" indent="0" algn="ctr">
              <a:buNone/>
            </a:pPr>
            <a:r>
              <a:rPr lang="en-US" sz="1250" dirty="0">
                <a:solidFill>
                  <a:srgbClr val="6A6284"/>
                </a:solidFill>
                <a:latin typeface="Calibri" pitchFamily="34" charset="0"/>
                <a:ea typeface="Calibri" pitchFamily="34" charset="-122"/>
                <a:cs typeface="Calibri" pitchFamily="34" charset="-120"/>
              </a:rPr>
              <a:t>of all true patients,</a:t>
            </a:r>
            <a:endParaRPr lang="en-US" sz="1250" dirty="0"/>
          </a:p>
          <a:p>
            <a:pPr marL="0" indent="0" algn="ctr">
              <a:buNone/>
            </a:pPr>
            <a:r>
              <a:rPr lang="en-US" sz="1250" dirty="0">
                <a:solidFill>
                  <a:srgbClr val="6A6284"/>
                </a:solidFill>
                <a:latin typeface="Calibri" pitchFamily="34" charset="0"/>
                <a:ea typeface="Calibri" pitchFamily="34" charset="-122"/>
                <a:cs typeface="Calibri" pitchFamily="34" charset="-120"/>
              </a:rPr>
              <a:t>how many did we catch?</a:t>
            </a:r>
            <a:endParaRPr lang="en-US" sz="1250" dirty="0"/>
          </a:p>
        </p:txBody>
      </p:sp>
      <p:sp>
        <p:nvSpPr>
          <p:cNvPr id="13" name="Shape 11"/>
          <p:cNvSpPr/>
          <p:nvPr/>
        </p:nvSpPr>
        <p:spPr>
          <a:xfrm>
            <a:off x="8357616" y="1783080"/>
            <a:ext cx="3246120" cy="2560320"/>
          </a:xfrm>
          <a:prstGeom prst="roundRect">
            <a:avLst>
              <a:gd name="adj" fmla="val 4286"/>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14" name="Text 12"/>
          <p:cNvSpPr txBox="1"/>
          <p:nvPr/>
        </p:nvSpPr>
        <p:spPr>
          <a:xfrm>
            <a:off x="8357616" y="2039112"/>
            <a:ext cx="3246120" cy="914400"/>
          </a:xfrm>
          <a:prstGeom prst="rect">
            <a:avLst/>
          </a:prstGeom>
          <a:noFill/>
          <a:ln/>
        </p:spPr>
        <p:txBody>
          <a:bodyPr wrap="square" lIns="0" tIns="0" rIns="0" bIns="0" rtlCol="0" anchor="ctr"/>
          <a:lstStyle/>
          <a:p>
            <a:pPr marL="0" indent="0" algn="ctr">
              <a:buNone/>
            </a:pPr>
            <a:r>
              <a:rPr lang="en-US" sz="4200" b="1" dirty="0">
                <a:solidFill>
                  <a:srgbClr val="43307A"/>
                </a:solidFill>
                <a:latin typeface="Bookman Old Style" pitchFamily="34" charset="0"/>
                <a:ea typeface="Bookman Old Style" pitchFamily="34" charset="-122"/>
                <a:cs typeface="Bookman Old Style" pitchFamily="34" charset="-120"/>
              </a:rPr>
              <a:t>87%</a:t>
            </a:r>
            <a:endParaRPr lang="en-US" sz="4200" dirty="0"/>
          </a:p>
        </p:txBody>
      </p:sp>
      <p:sp>
        <p:nvSpPr>
          <p:cNvPr id="15" name="Text 13"/>
          <p:cNvSpPr txBox="1"/>
          <p:nvPr/>
        </p:nvSpPr>
        <p:spPr>
          <a:xfrm>
            <a:off x="8357616" y="2990088"/>
            <a:ext cx="3246120" cy="411480"/>
          </a:xfrm>
          <a:prstGeom prst="rect">
            <a:avLst/>
          </a:prstGeom>
          <a:noFill/>
          <a:ln/>
        </p:spPr>
        <p:txBody>
          <a:bodyPr wrap="square" lIns="0" tIns="0" rIns="0" bIns="0" rtlCol="0" anchor="ctr"/>
          <a:lstStyle/>
          <a:p>
            <a:pPr marL="0" indent="0" algn="ctr">
              <a:buNone/>
            </a:pPr>
            <a:r>
              <a:rPr lang="en-US" sz="1500" b="1" dirty="0">
                <a:solidFill>
                  <a:srgbClr val="241A45"/>
                </a:solidFill>
                <a:latin typeface="Bookman Old Style" pitchFamily="34" charset="0"/>
                <a:ea typeface="Bookman Old Style" pitchFamily="34" charset="-122"/>
                <a:cs typeface="Bookman Old Style" pitchFamily="34" charset="-120"/>
              </a:rPr>
              <a:t>specificity</a:t>
            </a:r>
            <a:endParaRPr lang="en-US" sz="1500" dirty="0"/>
          </a:p>
        </p:txBody>
      </p:sp>
      <p:sp>
        <p:nvSpPr>
          <p:cNvPr id="16" name="Text 14"/>
          <p:cNvSpPr txBox="1"/>
          <p:nvPr/>
        </p:nvSpPr>
        <p:spPr>
          <a:xfrm>
            <a:off x="8540496" y="3429000"/>
            <a:ext cx="2880360" cy="822960"/>
          </a:xfrm>
          <a:prstGeom prst="rect">
            <a:avLst/>
          </a:prstGeom>
          <a:noFill/>
          <a:ln/>
        </p:spPr>
        <p:txBody>
          <a:bodyPr wrap="square" lIns="0" tIns="0" rIns="0" bIns="0" rtlCol="0" anchor="ctr"/>
          <a:lstStyle/>
          <a:p>
            <a:pPr marL="0" indent="0" algn="ctr">
              <a:buNone/>
            </a:pPr>
            <a:r>
              <a:rPr lang="en-US" sz="1250" dirty="0">
                <a:solidFill>
                  <a:srgbClr val="6A6284"/>
                </a:solidFill>
                <a:latin typeface="Calibri" pitchFamily="34" charset="0"/>
                <a:ea typeface="Calibri" pitchFamily="34" charset="-122"/>
                <a:cs typeface="Calibri" pitchFamily="34" charset="-120"/>
              </a:rPr>
              <a:t>of all healthy people,</a:t>
            </a:r>
            <a:endParaRPr lang="en-US" sz="1250" dirty="0"/>
          </a:p>
          <a:p>
            <a:pPr marL="0" indent="0" algn="ctr">
              <a:buNone/>
            </a:pPr>
            <a:r>
              <a:rPr lang="en-US" sz="1250" dirty="0">
                <a:solidFill>
                  <a:srgbClr val="6A6284"/>
                </a:solidFill>
                <a:latin typeface="Calibri" pitchFamily="34" charset="0"/>
                <a:ea typeface="Calibri" pitchFamily="34" charset="-122"/>
                <a:cs typeface="Calibri" pitchFamily="34" charset="-120"/>
              </a:rPr>
              <a:t>how many did we clear?</a:t>
            </a:r>
            <a:endParaRPr lang="en-US" sz="1250" dirty="0"/>
          </a:p>
        </p:txBody>
      </p:sp>
      <p:sp>
        <p:nvSpPr>
          <p:cNvPr id="17" name="Shape 15"/>
          <p:cNvSpPr/>
          <p:nvPr/>
        </p:nvSpPr>
        <p:spPr>
          <a:xfrm>
            <a:off x="1828800" y="4846320"/>
            <a:ext cx="8531352" cy="914400"/>
          </a:xfrm>
          <a:prstGeom prst="roundRect">
            <a:avLst>
              <a:gd name="adj" fmla="val 12000"/>
            </a:avLst>
          </a:prstGeom>
          <a:solidFill>
            <a:srgbClr val="F1EDFA"/>
          </a:solidFill>
          <a:ln w="12700">
            <a:solidFill>
              <a:srgbClr val="E4DFF2"/>
            </a:solidFill>
            <a:prstDash val="solid"/>
          </a:ln>
          <a:effectLst>
            <a:outerShdw blurRad="127000" dist="38100" dir="5400000" algn="bl" rotWithShape="0">
              <a:srgbClr val="B4A8D4">
                <a:alpha val="40000"/>
              </a:srgbClr>
            </a:outerShdw>
          </a:effectLst>
        </p:spPr>
      </p:sp>
      <p:sp>
        <p:nvSpPr>
          <p:cNvPr id="18" name="Text 16"/>
          <p:cNvSpPr txBox="1"/>
          <p:nvPr/>
        </p:nvSpPr>
        <p:spPr>
          <a:xfrm>
            <a:off x="1828800" y="4846320"/>
            <a:ext cx="8531352" cy="914400"/>
          </a:xfrm>
          <a:prstGeom prst="rect">
            <a:avLst/>
          </a:prstGeom>
          <a:noFill/>
          <a:ln/>
        </p:spPr>
        <p:txBody>
          <a:bodyPr wrap="square" lIns="1524" tIns="1524" rIns="1524" bIns="1524" rtlCol="0" anchor="ctr"/>
          <a:lstStyle/>
          <a:p>
            <a:pPr marL="0" indent="0" algn="ctr">
              <a:buNone/>
            </a:pPr>
            <a:r>
              <a:rPr lang="en-US" sz="1450" b="1" dirty="0">
                <a:solidFill>
                  <a:srgbClr val="43307A"/>
                </a:solidFill>
                <a:latin typeface="Calibri" pitchFamily="34" charset="0"/>
                <a:ea typeface="Calibri" pitchFamily="34" charset="-122"/>
                <a:cs typeface="Calibri" pitchFamily="34" charset="-120"/>
              </a:rPr>
              <a:t>Why not plain accuracy?  </a:t>
            </a:r>
            <a:r>
              <a:rPr lang="en-US" sz="1450" dirty="0">
                <a:solidFill>
                  <a:srgbClr val="241A45"/>
                </a:solidFill>
                <a:latin typeface="Calibri" pitchFamily="34" charset="0"/>
                <a:ea typeface="Calibri" pitchFamily="34" charset="-122"/>
                <a:cs typeface="Calibri" pitchFamily="34" charset="-120"/>
              </a:rPr>
              <a:t>a lazy model that always says “healthy” scores 57.5% — and finds zero patients.</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09  </a:t>
            </a:r>
            <a:r>
              <a:rPr lang="en-US" sz="1300" kern="0" spc="200" dirty="0">
                <a:solidFill>
                  <a:srgbClr val="6A6284"/>
                </a:solidFill>
                <a:latin typeface="Calibri" pitchFamily="34" charset="0"/>
                <a:ea typeface="Calibri" pitchFamily="34" charset="-122"/>
                <a:cs typeface="Calibri" pitchFamily="34" charset="-120"/>
              </a:rPr>
              <a:t>·  RESULTS</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Every recording, counted honestly</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3017520" y="1325880"/>
            <a:ext cx="1691640" cy="731520"/>
          </a:xfrm>
          <a:prstGeom prst="rect">
            <a:avLst/>
          </a:prstGeom>
          <a:noFill/>
          <a:ln/>
        </p:spPr>
        <p:txBody>
          <a:bodyPr wrap="square" lIns="0" tIns="0" rIns="0" bIns="0" rtlCol="0" anchor="ctr"/>
          <a:lstStyle/>
          <a:p>
            <a:pPr marL="0" indent="0" algn="ctr">
              <a:buNone/>
            </a:pPr>
            <a:r>
              <a:rPr lang="en-US" sz="1250" b="1" dirty="0">
                <a:solidFill>
                  <a:srgbClr val="6A6284"/>
                </a:solidFill>
                <a:latin typeface="Calibri" pitchFamily="34" charset="0"/>
                <a:ea typeface="Calibri" pitchFamily="34" charset="-122"/>
                <a:cs typeface="Calibri" pitchFamily="34" charset="-120"/>
              </a:rPr>
              <a:t>model says:</a:t>
            </a:r>
            <a:endParaRPr lang="en-US" sz="1250" dirty="0"/>
          </a:p>
          <a:p>
            <a:pPr marL="0" indent="0" algn="ctr">
              <a:buNone/>
            </a:pPr>
            <a:r>
              <a:rPr lang="en-US" sz="1250" b="1" dirty="0">
                <a:solidFill>
                  <a:srgbClr val="6A6284"/>
                </a:solidFill>
                <a:latin typeface="Calibri" pitchFamily="34" charset="0"/>
                <a:ea typeface="Calibri" pitchFamily="34" charset="-122"/>
                <a:cs typeface="Calibri" pitchFamily="34" charset="-120"/>
              </a:rPr>
              <a:t>healthy</a:t>
            </a:r>
            <a:endParaRPr lang="en-US" sz="1250" dirty="0"/>
          </a:p>
        </p:txBody>
      </p:sp>
      <p:sp>
        <p:nvSpPr>
          <p:cNvPr id="6" name="Text 4"/>
          <p:cNvSpPr txBox="1"/>
          <p:nvPr/>
        </p:nvSpPr>
        <p:spPr>
          <a:xfrm>
            <a:off x="4855464" y="1325880"/>
            <a:ext cx="1691640" cy="731520"/>
          </a:xfrm>
          <a:prstGeom prst="rect">
            <a:avLst/>
          </a:prstGeom>
          <a:noFill/>
          <a:ln/>
        </p:spPr>
        <p:txBody>
          <a:bodyPr wrap="square" lIns="0" tIns="0" rIns="0" bIns="0" rtlCol="0" anchor="ctr"/>
          <a:lstStyle/>
          <a:p>
            <a:pPr marL="0" indent="0" algn="ctr">
              <a:buNone/>
            </a:pPr>
            <a:r>
              <a:rPr lang="en-US" sz="1250" b="1" dirty="0">
                <a:solidFill>
                  <a:srgbClr val="6A6284"/>
                </a:solidFill>
                <a:latin typeface="Calibri" pitchFamily="34" charset="0"/>
                <a:ea typeface="Calibri" pitchFamily="34" charset="-122"/>
                <a:cs typeface="Calibri" pitchFamily="34" charset="-120"/>
              </a:rPr>
              <a:t>model says:</a:t>
            </a:r>
            <a:endParaRPr lang="en-US" sz="1250" dirty="0"/>
          </a:p>
          <a:p>
            <a:pPr marL="0" indent="0" algn="ctr">
              <a:buNone/>
            </a:pPr>
            <a:r>
              <a:rPr lang="en-US" sz="1250" b="1" dirty="0">
                <a:solidFill>
                  <a:srgbClr val="6A6284"/>
                </a:solidFill>
                <a:latin typeface="Calibri" pitchFamily="34" charset="0"/>
                <a:ea typeface="Calibri" pitchFamily="34" charset="-122"/>
                <a:cs typeface="Calibri" pitchFamily="34" charset="-120"/>
              </a:rPr>
              <a:t>Parkinson's</a:t>
            </a:r>
            <a:endParaRPr lang="en-US" sz="1250" dirty="0"/>
          </a:p>
        </p:txBody>
      </p:sp>
      <p:sp>
        <p:nvSpPr>
          <p:cNvPr id="7" name="Text 5"/>
          <p:cNvSpPr txBox="1"/>
          <p:nvPr/>
        </p:nvSpPr>
        <p:spPr>
          <a:xfrm>
            <a:off x="1645920" y="2468880"/>
            <a:ext cx="1234440" cy="822960"/>
          </a:xfrm>
          <a:prstGeom prst="rect">
            <a:avLst/>
          </a:prstGeom>
          <a:noFill/>
          <a:ln/>
        </p:spPr>
        <p:txBody>
          <a:bodyPr wrap="square" lIns="0" tIns="0" rIns="0" bIns="0" rtlCol="0" anchor="ctr"/>
          <a:lstStyle/>
          <a:p>
            <a:pPr marL="0" indent="0" algn="r">
              <a:buNone/>
            </a:pPr>
            <a:r>
              <a:rPr lang="en-US" sz="1250" b="1" dirty="0">
                <a:solidFill>
                  <a:srgbClr val="6A6284"/>
                </a:solidFill>
                <a:latin typeface="Calibri" pitchFamily="34" charset="0"/>
                <a:ea typeface="Calibri" pitchFamily="34" charset="-122"/>
                <a:cs typeface="Calibri" pitchFamily="34" charset="-120"/>
              </a:rPr>
              <a:t>really</a:t>
            </a:r>
            <a:endParaRPr lang="en-US" sz="1250" dirty="0"/>
          </a:p>
          <a:p>
            <a:pPr marL="0" indent="0" algn="r">
              <a:buNone/>
            </a:pPr>
            <a:r>
              <a:rPr lang="en-US" sz="1250" b="1" dirty="0">
                <a:solidFill>
                  <a:srgbClr val="6A6284"/>
                </a:solidFill>
                <a:latin typeface="Calibri" pitchFamily="34" charset="0"/>
                <a:ea typeface="Calibri" pitchFamily="34" charset="-122"/>
                <a:cs typeface="Calibri" pitchFamily="34" charset="-120"/>
              </a:rPr>
              <a:t>healthy</a:t>
            </a:r>
            <a:endParaRPr lang="en-US" sz="1250" dirty="0"/>
          </a:p>
        </p:txBody>
      </p:sp>
      <p:sp>
        <p:nvSpPr>
          <p:cNvPr id="8" name="Text 6"/>
          <p:cNvSpPr txBox="1"/>
          <p:nvPr/>
        </p:nvSpPr>
        <p:spPr>
          <a:xfrm>
            <a:off x="1645920" y="4306824"/>
            <a:ext cx="1234440" cy="822960"/>
          </a:xfrm>
          <a:prstGeom prst="rect">
            <a:avLst/>
          </a:prstGeom>
          <a:noFill/>
          <a:ln/>
        </p:spPr>
        <p:txBody>
          <a:bodyPr wrap="square" lIns="0" tIns="0" rIns="0" bIns="0" rtlCol="0" anchor="ctr"/>
          <a:lstStyle/>
          <a:p>
            <a:pPr marL="0" indent="0" algn="r">
              <a:buNone/>
            </a:pPr>
            <a:r>
              <a:rPr lang="en-US" sz="1250" b="1" dirty="0">
                <a:solidFill>
                  <a:srgbClr val="6A6284"/>
                </a:solidFill>
                <a:latin typeface="Calibri" pitchFamily="34" charset="0"/>
                <a:ea typeface="Calibri" pitchFamily="34" charset="-122"/>
                <a:cs typeface="Calibri" pitchFamily="34" charset="-120"/>
              </a:rPr>
              <a:t>really</a:t>
            </a:r>
            <a:endParaRPr lang="en-US" sz="1250" dirty="0"/>
          </a:p>
          <a:p>
            <a:pPr marL="0" indent="0" algn="r">
              <a:buNone/>
            </a:pPr>
            <a:r>
              <a:rPr lang="en-US" sz="1250" b="1" dirty="0">
                <a:solidFill>
                  <a:srgbClr val="6A6284"/>
                </a:solidFill>
                <a:latin typeface="Calibri" pitchFamily="34" charset="0"/>
                <a:ea typeface="Calibri" pitchFamily="34" charset="-122"/>
                <a:cs typeface="Calibri" pitchFamily="34" charset="-120"/>
              </a:rPr>
              <a:t>Parkinson's</a:t>
            </a:r>
            <a:endParaRPr lang="en-US" sz="1250" dirty="0"/>
          </a:p>
        </p:txBody>
      </p:sp>
      <p:sp>
        <p:nvSpPr>
          <p:cNvPr id="9" name="Shape 7"/>
          <p:cNvSpPr/>
          <p:nvPr/>
        </p:nvSpPr>
        <p:spPr>
          <a:xfrm>
            <a:off x="3017520" y="2103120"/>
            <a:ext cx="1691640" cy="1691640"/>
          </a:xfrm>
          <a:prstGeom prst="roundRect">
            <a:avLst>
              <a:gd name="adj" fmla="val 6486"/>
            </a:avLst>
          </a:prstGeom>
          <a:solidFill>
            <a:srgbClr val="43307A">
              <a:alpha val="15000"/>
            </a:srgbClr>
          </a:solidFill>
          <a:ln w="19050">
            <a:solidFill>
              <a:srgbClr val="43307A"/>
            </a:solidFill>
            <a:prstDash val="solid"/>
          </a:ln>
        </p:spPr>
      </p:sp>
      <p:sp>
        <p:nvSpPr>
          <p:cNvPr id="10" name="Text 8"/>
          <p:cNvSpPr txBox="1"/>
          <p:nvPr/>
        </p:nvSpPr>
        <p:spPr>
          <a:xfrm>
            <a:off x="3017520" y="2359152"/>
            <a:ext cx="1691640" cy="777240"/>
          </a:xfrm>
          <a:prstGeom prst="rect">
            <a:avLst/>
          </a:prstGeom>
          <a:noFill/>
          <a:ln/>
        </p:spPr>
        <p:txBody>
          <a:bodyPr wrap="square" lIns="0" tIns="0" rIns="0" bIns="0" rtlCol="0" anchor="ctr"/>
          <a:lstStyle/>
          <a:p>
            <a:pPr marL="0" indent="0" algn="ctr">
              <a:buNone/>
            </a:pPr>
            <a:r>
              <a:rPr lang="en-US" sz="3600" b="1" dirty="0">
                <a:solidFill>
                  <a:srgbClr val="43307A"/>
                </a:solidFill>
                <a:latin typeface="Bookman Old Style" pitchFamily="34" charset="0"/>
                <a:ea typeface="Bookman Old Style" pitchFamily="34" charset="-122"/>
                <a:cs typeface="Bookman Old Style" pitchFamily="34" charset="-120"/>
              </a:rPr>
              <a:t>36</a:t>
            </a:r>
            <a:endParaRPr lang="en-US" sz="3600" dirty="0"/>
          </a:p>
        </p:txBody>
      </p:sp>
      <p:sp>
        <p:nvSpPr>
          <p:cNvPr id="11" name="Text 9"/>
          <p:cNvSpPr txBox="1"/>
          <p:nvPr/>
        </p:nvSpPr>
        <p:spPr>
          <a:xfrm>
            <a:off x="3017520" y="3200400"/>
            <a:ext cx="1691640" cy="411480"/>
          </a:xfrm>
          <a:prstGeom prst="rect">
            <a:avLst/>
          </a:prstGeom>
          <a:noFill/>
          <a:ln/>
        </p:spPr>
        <p:txBody>
          <a:bodyPr wrap="square" lIns="0" tIns="0" rIns="0" bIns="0" rtlCol="0" anchor="ctr"/>
          <a:lstStyle/>
          <a:p>
            <a:pPr marL="0" indent="0" algn="ctr">
              <a:buNone/>
            </a:pPr>
            <a:r>
              <a:rPr lang="en-US" sz="1250" dirty="0">
                <a:solidFill>
                  <a:srgbClr val="241A45"/>
                </a:solidFill>
                <a:latin typeface="Calibri" pitchFamily="34" charset="0"/>
                <a:ea typeface="Calibri" pitchFamily="34" charset="-122"/>
                <a:cs typeface="Calibri" pitchFamily="34" charset="-120"/>
              </a:rPr>
              <a:t>correct</a:t>
            </a:r>
            <a:endParaRPr lang="en-US" sz="1250" dirty="0"/>
          </a:p>
        </p:txBody>
      </p:sp>
      <p:sp>
        <p:nvSpPr>
          <p:cNvPr id="12" name="Shape 10"/>
          <p:cNvSpPr/>
          <p:nvPr/>
        </p:nvSpPr>
        <p:spPr>
          <a:xfrm>
            <a:off x="4855464" y="2103120"/>
            <a:ext cx="1691640" cy="1691640"/>
          </a:xfrm>
          <a:prstGeom prst="roundRect">
            <a:avLst>
              <a:gd name="adj" fmla="val 6486"/>
            </a:avLst>
          </a:prstGeom>
          <a:solidFill>
            <a:srgbClr val="D9534F">
              <a:alpha val="16000"/>
            </a:srgbClr>
          </a:solidFill>
          <a:ln w="19050">
            <a:solidFill>
              <a:srgbClr val="D9534F"/>
            </a:solidFill>
            <a:prstDash val="solid"/>
          </a:ln>
        </p:spPr>
      </p:sp>
      <p:sp>
        <p:nvSpPr>
          <p:cNvPr id="13" name="Text 11"/>
          <p:cNvSpPr txBox="1"/>
          <p:nvPr/>
        </p:nvSpPr>
        <p:spPr>
          <a:xfrm>
            <a:off x="4855464" y="2359152"/>
            <a:ext cx="1691640" cy="777240"/>
          </a:xfrm>
          <a:prstGeom prst="rect">
            <a:avLst/>
          </a:prstGeom>
          <a:noFill/>
          <a:ln/>
        </p:spPr>
        <p:txBody>
          <a:bodyPr wrap="square" lIns="0" tIns="0" rIns="0" bIns="0" rtlCol="0" anchor="ctr"/>
          <a:lstStyle/>
          <a:p>
            <a:pPr marL="0" indent="0" algn="ctr">
              <a:buNone/>
            </a:pPr>
            <a:r>
              <a:rPr lang="en-US" sz="3600" b="1" dirty="0">
                <a:solidFill>
                  <a:srgbClr val="D9534F"/>
                </a:solidFill>
                <a:latin typeface="Bookman Old Style" pitchFamily="34" charset="0"/>
                <a:ea typeface="Bookman Old Style" pitchFamily="34" charset="-122"/>
                <a:cs typeface="Bookman Old Style" pitchFamily="34" charset="-120"/>
              </a:rPr>
              <a:t>6</a:t>
            </a:r>
            <a:endParaRPr lang="en-US" sz="3600" dirty="0"/>
          </a:p>
        </p:txBody>
      </p:sp>
      <p:sp>
        <p:nvSpPr>
          <p:cNvPr id="14" name="Text 12"/>
          <p:cNvSpPr txBox="1"/>
          <p:nvPr/>
        </p:nvSpPr>
        <p:spPr>
          <a:xfrm>
            <a:off x="4855464" y="3200400"/>
            <a:ext cx="1691640" cy="411480"/>
          </a:xfrm>
          <a:prstGeom prst="rect">
            <a:avLst/>
          </a:prstGeom>
          <a:noFill/>
          <a:ln/>
        </p:spPr>
        <p:txBody>
          <a:bodyPr wrap="square" lIns="0" tIns="0" rIns="0" bIns="0" rtlCol="0" anchor="ctr"/>
          <a:lstStyle/>
          <a:p>
            <a:pPr marL="0" indent="0" algn="ctr">
              <a:buNone/>
            </a:pPr>
            <a:r>
              <a:rPr lang="en-US" sz="1250" dirty="0">
                <a:solidFill>
                  <a:srgbClr val="241A45"/>
                </a:solidFill>
                <a:latin typeface="Calibri" pitchFamily="34" charset="0"/>
                <a:ea typeface="Calibri" pitchFamily="34" charset="-122"/>
                <a:cs typeface="Calibri" pitchFamily="34" charset="-120"/>
              </a:rPr>
              <a:t>false alarm</a:t>
            </a:r>
            <a:endParaRPr lang="en-US" sz="1250" dirty="0"/>
          </a:p>
        </p:txBody>
      </p:sp>
      <p:sp>
        <p:nvSpPr>
          <p:cNvPr id="15" name="Shape 13"/>
          <p:cNvSpPr/>
          <p:nvPr/>
        </p:nvSpPr>
        <p:spPr>
          <a:xfrm>
            <a:off x="3017520" y="3941064"/>
            <a:ext cx="1691640" cy="1691640"/>
          </a:xfrm>
          <a:prstGeom prst="roundRect">
            <a:avLst>
              <a:gd name="adj" fmla="val 6486"/>
            </a:avLst>
          </a:prstGeom>
          <a:solidFill>
            <a:srgbClr val="D9534F">
              <a:alpha val="16000"/>
            </a:srgbClr>
          </a:solidFill>
          <a:ln w="19050">
            <a:solidFill>
              <a:srgbClr val="D9534F"/>
            </a:solidFill>
            <a:prstDash val="solid"/>
          </a:ln>
        </p:spPr>
      </p:sp>
      <p:sp>
        <p:nvSpPr>
          <p:cNvPr id="16" name="Text 14"/>
          <p:cNvSpPr txBox="1"/>
          <p:nvPr/>
        </p:nvSpPr>
        <p:spPr>
          <a:xfrm>
            <a:off x="3017520" y="4197096"/>
            <a:ext cx="1691640" cy="777240"/>
          </a:xfrm>
          <a:prstGeom prst="rect">
            <a:avLst/>
          </a:prstGeom>
          <a:noFill/>
          <a:ln/>
        </p:spPr>
        <p:txBody>
          <a:bodyPr wrap="square" lIns="0" tIns="0" rIns="0" bIns="0" rtlCol="0" anchor="ctr"/>
          <a:lstStyle/>
          <a:p>
            <a:pPr marL="0" indent="0" algn="ctr">
              <a:buNone/>
            </a:pPr>
            <a:r>
              <a:rPr lang="en-US" sz="3600" b="1" dirty="0">
                <a:solidFill>
                  <a:srgbClr val="D9534F"/>
                </a:solidFill>
                <a:latin typeface="Bookman Old Style" pitchFamily="34" charset="0"/>
                <a:ea typeface="Bookman Old Style" pitchFamily="34" charset="-122"/>
                <a:cs typeface="Bookman Old Style" pitchFamily="34" charset="-120"/>
              </a:rPr>
              <a:t>7</a:t>
            </a:r>
            <a:endParaRPr lang="en-US" sz="3600" dirty="0"/>
          </a:p>
        </p:txBody>
      </p:sp>
      <p:sp>
        <p:nvSpPr>
          <p:cNvPr id="17" name="Text 15"/>
          <p:cNvSpPr txBox="1"/>
          <p:nvPr/>
        </p:nvSpPr>
        <p:spPr>
          <a:xfrm>
            <a:off x="3017520" y="5038344"/>
            <a:ext cx="1691640" cy="411480"/>
          </a:xfrm>
          <a:prstGeom prst="rect">
            <a:avLst/>
          </a:prstGeom>
          <a:noFill/>
          <a:ln/>
        </p:spPr>
        <p:txBody>
          <a:bodyPr wrap="square" lIns="0" tIns="0" rIns="0" bIns="0" rtlCol="0" anchor="ctr"/>
          <a:lstStyle/>
          <a:p>
            <a:pPr marL="0" indent="0" algn="ctr">
              <a:buNone/>
            </a:pPr>
            <a:r>
              <a:rPr lang="en-US" sz="1250" dirty="0">
                <a:solidFill>
                  <a:srgbClr val="241A45"/>
                </a:solidFill>
                <a:latin typeface="Calibri" pitchFamily="34" charset="0"/>
                <a:ea typeface="Calibri" pitchFamily="34" charset="-122"/>
                <a:cs typeface="Calibri" pitchFamily="34" charset="-120"/>
              </a:rPr>
              <a:t>missed</a:t>
            </a:r>
            <a:endParaRPr lang="en-US" sz="1250" dirty="0"/>
          </a:p>
        </p:txBody>
      </p:sp>
      <p:sp>
        <p:nvSpPr>
          <p:cNvPr id="18" name="Shape 16"/>
          <p:cNvSpPr/>
          <p:nvPr/>
        </p:nvSpPr>
        <p:spPr>
          <a:xfrm>
            <a:off x="4855464" y="3941064"/>
            <a:ext cx="1691640" cy="1691640"/>
          </a:xfrm>
          <a:prstGeom prst="roundRect">
            <a:avLst>
              <a:gd name="adj" fmla="val 6486"/>
            </a:avLst>
          </a:prstGeom>
          <a:solidFill>
            <a:srgbClr val="43307A">
              <a:alpha val="15000"/>
            </a:srgbClr>
          </a:solidFill>
          <a:ln w="19050">
            <a:solidFill>
              <a:srgbClr val="43307A"/>
            </a:solidFill>
            <a:prstDash val="solid"/>
          </a:ln>
        </p:spPr>
      </p:sp>
      <p:sp>
        <p:nvSpPr>
          <p:cNvPr id="19" name="Text 17"/>
          <p:cNvSpPr txBox="1"/>
          <p:nvPr/>
        </p:nvSpPr>
        <p:spPr>
          <a:xfrm>
            <a:off x="4855464" y="4197096"/>
            <a:ext cx="1691640" cy="777240"/>
          </a:xfrm>
          <a:prstGeom prst="rect">
            <a:avLst/>
          </a:prstGeom>
          <a:noFill/>
          <a:ln/>
        </p:spPr>
        <p:txBody>
          <a:bodyPr wrap="square" lIns="0" tIns="0" rIns="0" bIns="0" rtlCol="0" anchor="ctr"/>
          <a:lstStyle/>
          <a:p>
            <a:pPr marL="0" indent="0" algn="ctr">
              <a:buNone/>
            </a:pPr>
            <a:r>
              <a:rPr lang="en-US" sz="3600" b="1" dirty="0">
                <a:solidFill>
                  <a:srgbClr val="43307A"/>
                </a:solidFill>
                <a:latin typeface="Bookman Old Style" pitchFamily="34" charset="0"/>
                <a:ea typeface="Bookman Old Style" pitchFamily="34" charset="-122"/>
                <a:cs typeface="Bookman Old Style" pitchFamily="34" charset="-120"/>
              </a:rPr>
              <a:t>24</a:t>
            </a:r>
            <a:endParaRPr lang="en-US" sz="3600" dirty="0"/>
          </a:p>
        </p:txBody>
      </p:sp>
      <p:sp>
        <p:nvSpPr>
          <p:cNvPr id="20" name="Text 18"/>
          <p:cNvSpPr txBox="1"/>
          <p:nvPr/>
        </p:nvSpPr>
        <p:spPr>
          <a:xfrm>
            <a:off x="4855464" y="5038344"/>
            <a:ext cx="1691640" cy="411480"/>
          </a:xfrm>
          <a:prstGeom prst="rect">
            <a:avLst/>
          </a:prstGeom>
          <a:noFill/>
          <a:ln/>
        </p:spPr>
        <p:txBody>
          <a:bodyPr wrap="square" lIns="0" tIns="0" rIns="0" bIns="0" rtlCol="0" anchor="ctr"/>
          <a:lstStyle/>
          <a:p>
            <a:pPr marL="0" indent="0" algn="ctr">
              <a:buNone/>
            </a:pPr>
            <a:r>
              <a:rPr lang="en-US" sz="1250" dirty="0">
                <a:solidFill>
                  <a:srgbClr val="241A45"/>
                </a:solidFill>
                <a:latin typeface="Calibri" pitchFamily="34" charset="0"/>
                <a:ea typeface="Calibri" pitchFamily="34" charset="-122"/>
                <a:cs typeface="Calibri" pitchFamily="34" charset="-120"/>
              </a:rPr>
              <a:t>caught</a:t>
            </a:r>
            <a:endParaRPr lang="en-US" sz="1250" dirty="0"/>
          </a:p>
        </p:txBody>
      </p:sp>
      <p:sp>
        <p:nvSpPr>
          <p:cNvPr id="21" name="Text 19"/>
          <p:cNvSpPr txBox="1"/>
          <p:nvPr/>
        </p:nvSpPr>
        <p:spPr>
          <a:xfrm>
            <a:off x="7132320" y="2377440"/>
            <a:ext cx="4572000" cy="2377440"/>
          </a:xfrm>
          <a:prstGeom prst="rect">
            <a:avLst/>
          </a:prstGeom>
          <a:noFill/>
          <a:ln/>
        </p:spPr>
        <p:txBody>
          <a:bodyPr wrap="square" lIns="0" tIns="0" rIns="0" bIns="0" rtlCol="0" anchor="ctr"/>
          <a:lstStyle/>
          <a:p>
            <a:pPr marL="0" indent="0" algn="l">
              <a:lnSpc>
                <a:spcPts val="2600"/>
              </a:lnSpc>
              <a:buNone/>
            </a:pPr>
            <a:r>
              <a:rPr lang="en-US" sz="1650" dirty="0">
                <a:solidFill>
                  <a:srgbClr val="241A45"/>
                </a:solidFill>
                <a:latin typeface="Calibri" pitchFamily="34" charset="0"/>
                <a:ea typeface="Calibri" pitchFamily="34" charset="-122"/>
                <a:cs typeface="Calibri" pitchFamily="34" charset="-120"/>
              </a:rPr>
              <a:t>Out of 73 recordings:
</a:t>
            </a:r>
            <a:r>
              <a:rPr lang="en-US" sz="1650" b="1" dirty="0">
                <a:solidFill>
                  <a:srgbClr val="43307A"/>
                </a:solidFill>
                <a:latin typeface="Calibri" pitchFamily="34" charset="0"/>
                <a:ea typeface="Calibri" pitchFamily="34" charset="-122"/>
                <a:cs typeface="Calibri" pitchFamily="34" charset="-120"/>
              </a:rPr>
              <a:t>60 correct</a:t>
            </a:r>
            <a:r>
              <a:rPr lang="en-US" sz="1650" dirty="0">
                <a:solidFill>
                  <a:srgbClr val="6A6284"/>
                </a:solidFill>
                <a:latin typeface="Calibri" pitchFamily="34" charset="0"/>
                <a:ea typeface="Calibri" pitchFamily="34" charset="-122"/>
                <a:cs typeface="Calibri" pitchFamily="34" charset="-120"/>
              </a:rPr>
              <a:t>  ·  </a:t>
            </a:r>
            <a:r>
              <a:rPr lang="en-US" sz="1650" b="1" dirty="0">
                <a:solidFill>
                  <a:srgbClr val="D9534F"/>
                </a:solidFill>
                <a:latin typeface="Calibri" pitchFamily="34" charset="0"/>
                <a:ea typeface="Calibri" pitchFamily="34" charset="-122"/>
                <a:cs typeface="Calibri" pitchFamily="34" charset="-120"/>
              </a:rPr>
              <a:t>13 mistakes</a:t>
            </a:r>
            <a:endParaRPr lang="en-US" sz="1650" dirty="0"/>
          </a:p>
          <a:p>
            <a:pPr marL="0" indent="0" algn="l">
              <a:lnSpc>
                <a:spcPts val="2600"/>
              </a:lnSpc>
              <a:buNone/>
            </a:pPr>
            <a:endParaRPr lang="en-US" sz="1650" dirty="0"/>
          </a:p>
          <a:p>
            <a:pPr marL="0" indent="0" algn="l">
              <a:lnSpc>
                <a:spcPts val="2600"/>
              </a:lnSpc>
              <a:buNone/>
            </a:pPr>
            <a:r>
              <a:rPr lang="en-US" sz="1650" i="1" dirty="0">
                <a:solidFill>
                  <a:srgbClr val="6A6284"/>
                </a:solidFill>
                <a:latin typeface="Calibri" pitchFamily="34" charset="0"/>
                <a:ea typeface="Calibri" pitchFamily="34" charset="-122"/>
                <a:cs typeface="Calibri" pitchFamily="34" charset="-120"/>
              </a:rPr>
              <a:t>Every screening tool makes mistakes.</a:t>
            </a:r>
            <a:endParaRPr lang="en-US" sz="1650" dirty="0"/>
          </a:p>
          <a:p>
            <a:pPr marL="0" indent="0" algn="l">
              <a:lnSpc>
                <a:spcPts val="2600"/>
              </a:lnSpc>
              <a:buNone/>
            </a:pPr>
            <a:r>
              <a:rPr lang="en-US" sz="1650" i="1" dirty="0">
                <a:solidFill>
                  <a:srgbClr val="6A6284"/>
                </a:solidFill>
                <a:latin typeface="Calibri" pitchFamily="34" charset="0"/>
                <a:ea typeface="Calibri" pitchFamily="34" charset="-122"/>
                <a:cs typeface="Calibri" pitchFamily="34" charset="-120"/>
              </a:rPr>
              <a:t>Honest tools count them.</a:t>
            </a:r>
            <a:endParaRPr lang="en-US" sz="16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320040"/>
          </a:xfrm>
          <a:prstGeom prst="rect">
            <a:avLst/>
          </a:prstGeom>
          <a:noFill/>
          <a:ln/>
        </p:spPr>
        <p:txBody>
          <a:bodyPr wrap="square" lIns="0" tIns="0" rIns="0" bIns="0" rtlCol="0" anchor="ctr"/>
          <a:lstStyle/>
          <a:p>
            <a:pPr marL="0" indent="0">
              <a:buNone/>
            </a:pPr>
            <a:r>
              <a:rPr lang="en-US" sz="1300" b="1" kern="0" spc="200" dirty="0">
                <a:solidFill>
                  <a:srgbClr val="D98A1F"/>
                </a:solidFill>
                <a:latin typeface="Calibri" pitchFamily="34" charset="0"/>
                <a:ea typeface="Calibri" pitchFamily="34" charset="-122"/>
                <a:cs typeface="Calibri" pitchFamily="34" charset="-120"/>
              </a:rPr>
              <a:t>10  </a:t>
            </a:r>
            <a:r>
              <a:rPr lang="en-US" sz="1300" kern="0" spc="200" dirty="0">
                <a:solidFill>
                  <a:srgbClr val="6A6284"/>
                </a:solidFill>
                <a:latin typeface="Calibri" pitchFamily="34" charset="0"/>
                <a:ea typeface="Calibri" pitchFamily="34" charset="-122"/>
                <a:cs typeface="Calibri" pitchFamily="34" charset="-120"/>
              </a:rPr>
              <a:t>·  THE HARD TEST</a:t>
            </a:r>
            <a:endParaRPr lang="en-US" sz="1300" dirty="0"/>
          </a:p>
        </p:txBody>
      </p:sp>
      <p:sp>
        <p:nvSpPr>
          <p:cNvPr id="3" name="Text 1"/>
          <p:cNvSpPr txBox="1"/>
          <p:nvPr/>
        </p:nvSpPr>
        <p:spPr>
          <a:xfrm>
            <a:off x="548640" y="621792"/>
            <a:ext cx="11091672" cy="777240"/>
          </a:xfrm>
          <a:prstGeom prst="rect">
            <a:avLst/>
          </a:prstGeom>
          <a:noFill/>
          <a:ln/>
        </p:spPr>
        <p:txBody>
          <a:bodyPr wrap="square" lIns="0" tIns="0" rIns="0" bIns="0" rtlCol="0" anchor="ctr"/>
          <a:lstStyle/>
          <a:p>
            <a:pPr marL="0" indent="0" algn="l">
              <a:buNone/>
            </a:pPr>
            <a:r>
              <a:rPr lang="en-US" sz="2900" b="1" dirty="0">
                <a:solidFill>
                  <a:srgbClr val="241A45"/>
                </a:solidFill>
                <a:latin typeface="Bookman Old Style" pitchFamily="34" charset="0"/>
                <a:ea typeface="Bookman Old Style" pitchFamily="34" charset="-122"/>
                <a:cs typeface="Bookman Old Style" pitchFamily="34" charset="-120"/>
              </a:rPr>
              <a:t>A different country, a frozen model</a:t>
            </a:r>
            <a:endParaRPr lang="en-US" sz="2900" dirty="0"/>
          </a:p>
        </p:txBody>
      </p:sp>
      <p:sp>
        <p:nvSpPr>
          <p:cNvPr id="4" name="Text 2"/>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6A6284"/>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1280160" y="1600200"/>
            <a:ext cx="9628632" cy="1234440"/>
          </a:xfrm>
          <a:prstGeom prst="roundRect">
            <a:avLst>
              <a:gd name="adj" fmla="val 8889"/>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6" name="Text 4"/>
          <p:cNvSpPr txBox="1"/>
          <p:nvPr/>
        </p:nvSpPr>
        <p:spPr>
          <a:xfrm>
            <a:off x="1600200" y="1600200"/>
            <a:ext cx="3291840" cy="1234440"/>
          </a:xfrm>
          <a:prstGeom prst="rect">
            <a:avLst/>
          </a:prstGeom>
          <a:noFill/>
          <a:ln/>
        </p:spPr>
        <p:txBody>
          <a:bodyPr wrap="square" lIns="0" tIns="0" rIns="0" bIns="0" rtlCol="0" anchor="ctr"/>
          <a:lstStyle/>
          <a:p>
            <a:pPr marL="0" indent="0">
              <a:buNone/>
            </a:pPr>
            <a:r>
              <a:rPr lang="en-US" sz="1800" b="1" dirty="0">
                <a:solidFill>
                  <a:srgbClr val="241A45"/>
                </a:solidFill>
                <a:latin typeface="Bookman Old Style" pitchFamily="34" charset="0"/>
                <a:ea typeface="Bookman Old Style" pitchFamily="34" charset="-122"/>
                <a:cs typeface="Bookman Old Style" pitchFamily="34" charset="-120"/>
              </a:rPr>
              <a:t>61 Italian speakers</a:t>
            </a:r>
            <a:endParaRPr lang="en-US" sz="1800" dirty="0"/>
          </a:p>
        </p:txBody>
      </p:sp>
      <p:sp>
        <p:nvSpPr>
          <p:cNvPr id="7" name="Text 5"/>
          <p:cNvSpPr txBox="1"/>
          <p:nvPr/>
        </p:nvSpPr>
        <p:spPr>
          <a:xfrm>
            <a:off x="5120640" y="1600200"/>
            <a:ext cx="6400800" cy="1234440"/>
          </a:xfrm>
          <a:prstGeom prst="rect">
            <a:avLst/>
          </a:prstGeom>
          <a:noFill/>
          <a:ln/>
        </p:spPr>
        <p:txBody>
          <a:bodyPr wrap="square" lIns="0" tIns="0" rIns="0" bIns="0" rtlCol="0" anchor="ctr"/>
          <a:lstStyle/>
          <a:p>
            <a:pPr marL="0" indent="0">
              <a:buNone/>
            </a:pPr>
            <a:r>
              <a:rPr lang="en-US" sz="1450" dirty="0">
                <a:solidFill>
                  <a:srgbClr val="6A6284"/>
                </a:solidFill>
                <a:latin typeface="Calibri" pitchFamily="34" charset="0"/>
                <a:ea typeface="Calibri" pitchFamily="34" charset="-122"/>
                <a:cs typeface="Calibri" pitchFamily="34" charset="-120"/>
              </a:rPr>
              <a:t>different language, microphones, rooms — and the model was frozen: no re-training at all</a:t>
            </a:r>
            <a:endParaRPr lang="en-US" sz="1450" dirty="0"/>
          </a:p>
        </p:txBody>
      </p:sp>
      <p:sp>
        <p:nvSpPr>
          <p:cNvPr id="8" name="Shape 6"/>
          <p:cNvSpPr/>
          <p:nvPr/>
        </p:nvSpPr>
        <p:spPr>
          <a:xfrm>
            <a:off x="1280160" y="3063240"/>
            <a:ext cx="9628632" cy="1234440"/>
          </a:xfrm>
          <a:prstGeom prst="roundRect">
            <a:avLst>
              <a:gd name="adj" fmla="val 8889"/>
            </a:avLst>
          </a:prstGeom>
          <a:solidFill>
            <a:srgbClr val="FFFFFF"/>
          </a:solidFill>
          <a:ln w="12700">
            <a:solidFill>
              <a:srgbClr val="E4DFF2"/>
            </a:solidFill>
            <a:prstDash val="solid"/>
          </a:ln>
          <a:effectLst>
            <a:outerShdw blurRad="127000" dist="38100" dir="5400000" algn="bl" rotWithShape="0">
              <a:srgbClr val="B4A8D4">
                <a:alpha val="40000"/>
              </a:srgbClr>
            </a:outerShdw>
          </a:effectLst>
        </p:spPr>
      </p:sp>
      <p:sp>
        <p:nvSpPr>
          <p:cNvPr id="9" name="Text 7"/>
          <p:cNvSpPr txBox="1"/>
          <p:nvPr/>
        </p:nvSpPr>
        <p:spPr>
          <a:xfrm>
            <a:off x="1600200" y="3063240"/>
            <a:ext cx="3291840" cy="1234440"/>
          </a:xfrm>
          <a:prstGeom prst="rect">
            <a:avLst/>
          </a:prstGeom>
          <a:noFill/>
          <a:ln/>
        </p:spPr>
        <p:txBody>
          <a:bodyPr wrap="square" lIns="0" tIns="0" rIns="0" bIns="0" rtlCol="0" anchor="ctr"/>
          <a:lstStyle/>
          <a:p>
            <a:pPr marL="0" indent="0">
              <a:buNone/>
            </a:pPr>
            <a:r>
              <a:rPr lang="en-US" sz="1800" b="1" dirty="0">
                <a:solidFill>
                  <a:srgbClr val="241A45"/>
                </a:solidFill>
                <a:latin typeface="Bookman Old Style" pitchFamily="34" charset="0"/>
                <a:ea typeface="Bookman Old Style" pitchFamily="34" charset="-122"/>
                <a:cs typeface="Bookman Old Style" pitchFamily="34" charset="-120"/>
              </a:rPr>
              <a:t>AUC 0.701</a:t>
            </a:r>
            <a:endParaRPr lang="en-US" sz="1800" dirty="0"/>
          </a:p>
        </p:txBody>
      </p:sp>
      <p:sp>
        <p:nvSpPr>
          <p:cNvPr id="10" name="Text 8"/>
          <p:cNvSpPr txBox="1"/>
          <p:nvPr/>
        </p:nvSpPr>
        <p:spPr>
          <a:xfrm>
            <a:off x="5120640" y="3063240"/>
            <a:ext cx="6400800" cy="1234440"/>
          </a:xfrm>
          <a:prstGeom prst="rect">
            <a:avLst/>
          </a:prstGeom>
          <a:noFill/>
          <a:ln/>
        </p:spPr>
        <p:txBody>
          <a:bodyPr wrap="square" lIns="0" tIns="0" rIns="0" bIns="0" rtlCol="0" anchor="ctr"/>
          <a:lstStyle/>
          <a:p>
            <a:pPr marL="0" indent="0">
              <a:buNone/>
            </a:pPr>
            <a:r>
              <a:rPr lang="en-US" sz="1450" dirty="0">
                <a:solidFill>
                  <a:srgbClr val="6A6284"/>
                </a:solidFill>
                <a:latin typeface="Calibri" pitchFamily="34" charset="0"/>
                <a:ea typeface="Calibri" pitchFamily="34" charset="-122"/>
                <a:cs typeface="Calibri" pitchFamily="34" charset="-120"/>
              </a:rPr>
              <a:t>given one patient and one healthy person, it still ranks the patient higher 70% of the time</a:t>
            </a:r>
            <a:endParaRPr lang="en-US" sz="1450" dirty="0"/>
          </a:p>
        </p:txBody>
      </p:sp>
      <p:sp>
        <p:nvSpPr>
          <p:cNvPr id="11" name="Shape 9"/>
          <p:cNvSpPr/>
          <p:nvPr/>
        </p:nvSpPr>
        <p:spPr>
          <a:xfrm>
            <a:off x="1280160" y="4526280"/>
            <a:ext cx="9628632" cy="1234440"/>
          </a:xfrm>
          <a:prstGeom prst="roundRect">
            <a:avLst>
              <a:gd name="adj" fmla="val 8889"/>
            </a:avLst>
          </a:prstGeom>
          <a:solidFill>
            <a:srgbClr val="F1EDFA"/>
          </a:solidFill>
          <a:ln w="12700">
            <a:solidFill>
              <a:srgbClr val="E4DFF2"/>
            </a:solidFill>
            <a:prstDash val="solid"/>
          </a:ln>
          <a:effectLst>
            <a:outerShdw blurRad="127000" dist="38100" dir="5400000" algn="bl" rotWithShape="0">
              <a:srgbClr val="B4A8D4">
                <a:alpha val="40000"/>
              </a:srgbClr>
            </a:outerShdw>
          </a:effectLst>
        </p:spPr>
      </p:sp>
      <p:sp>
        <p:nvSpPr>
          <p:cNvPr id="12" name="Text 10"/>
          <p:cNvSpPr txBox="1"/>
          <p:nvPr/>
        </p:nvSpPr>
        <p:spPr>
          <a:xfrm>
            <a:off x="1600200" y="4526280"/>
            <a:ext cx="3291840" cy="1234440"/>
          </a:xfrm>
          <a:prstGeom prst="rect">
            <a:avLst/>
          </a:prstGeom>
          <a:noFill/>
          <a:ln/>
        </p:spPr>
        <p:txBody>
          <a:bodyPr wrap="square" lIns="0" tIns="0" rIns="0" bIns="0" rtlCol="0" anchor="ctr"/>
          <a:lstStyle/>
          <a:p>
            <a:pPr marL="0" indent="0">
              <a:buNone/>
            </a:pPr>
            <a:r>
              <a:rPr lang="en-US" sz="1800" b="1" dirty="0">
                <a:solidFill>
                  <a:srgbClr val="43307A"/>
                </a:solidFill>
                <a:latin typeface="Bookman Old Style" pitchFamily="34" charset="0"/>
                <a:ea typeface="Bookman Old Style" pitchFamily="34" charset="-122"/>
                <a:cs typeface="Bookman Old Style" pitchFamily="34" charset="-120"/>
              </a:rPr>
              <a:t>it refused to guess</a:t>
            </a:r>
            <a:endParaRPr lang="en-US" sz="1800" dirty="0"/>
          </a:p>
        </p:txBody>
      </p:sp>
      <p:sp>
        <p:nvSpPr>
          <p:cNvPr id="13" name="Text 11"/>
          <p:cNvSpPr txBox="1"/>
          <p:nvPr/>
        </p:nvSpPr>
        <p:spPr>
          <a:xfrm>
            <a:off x="5120640" y="4526280"/>
            <a:ext cx="6400800" cy="1234440"/>
          </a:xfrm>
          <a:prstGeom prst="rect">
            <a:avLst/>
          </a:prstGeom>
          <a:noFill/>
          <a:ln/>
        </p:spPr>
        <p:txBody>
          <a:bodyPr wrap="square" lIns="0" tIns="0" rIns="0" bIns="0" rtlCol="0" anchor="ctr"/>
          <a:lstStyle/>
          <a:p>
            <a:pPr marL="0" indent="0">
              <a:buNone/>
            </a:pPr>
            <a:r>
              <a:rPr lang="en-US" sz="1450" dirty="0">
                <a:solidFill>
                  <a:srgbClr val="6A6284"/>
                </a:solidFill>
                <a:latin typeface="Calibri" pitchFamily="34" charset="0"/>
                <a:ea typeface="Calibri" pitchFamily="34" charset="-122"/>
                <a:cs typeface="Calibri" pitchFamily="34" charset="-120"/>
              </a:rPr>
              <a:t>every elderly healthy speaker got “cannot tell” instead of a wrong confident answer</a:t>
            </a:r>
            <a:endParaRPr lang="en-US" sz="1450" dirty="0"/>
          </a:p>
        </p:txBody>
      </p:sp>
      <p:sp>
        <p:nvSpPr>
          <p:cNvPr id="14" name="Text 12"/>
          <p:cNvSpPr txBox="1"/>
          <p:nvPr/>
        </p:nvSpPr>
        <p:spPr>
          <a:xfrm>
            <a:off x="822960" y="5989320"/>
            <a:ext cx="10543032" cy="457200"/>
          </a:xfrm>
          <a:prstGeom prst="rect">
            <a:avLst/>
          </a:prstGeom>
          <a:noFill/>
          <a:ln/>
        </p:spPr>
        <p:txBody>
          <a:bodyPr wrap="square" lIns="0" tIns="0" rIns="0" bIns="0" rtlCol="0" anchor="ctr"/>
          <a:lstStyle/>
          <a:p>
            <a:pPr marL="0" indent="0" algn="ctr">
              <a:buNone/>
            </a:pPr>
            <a:r>
              <a:rPr lang="en-US" sz="1600" i="1" dirty="0">
                <a:solidFill>
                  <a:srgbClr val="43307A"/>
                </a:solidFill>
                <a:latin typeface="Bookman Old Style" pitchFamily="34" charset="0"/>
                <a:ea typeface="Bookman Old Style" pitchFamily="34" charset="-122"/>
                <a:cs typeface="Bookman Old Style" pitchFamily="34" charset="-120"/>
              </a:rPr>
              <a:t>Knowing when to say “I don't know” is part of being honest.</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9" grpId="0" animBg="1"/>
      <p:bldP spid="10" grpId="0" animBg="1"/>
      <p:bldP spid="12"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622024" y="6400800"/>
            <a:ext cx="384048" cy="292608"/>
          </a:xfrm>
          <a:prstGeom prst="rect">
            <a:avLst/>
          </a:prstGeom>
          <a:noFill/>
          <a:ln/>
        </p:spPr>
        <p:txBody>
          <a:bodyPr wrap="square" lIns="0" tIns="0" rIns="0" bIns="0" rtlCol="0" anchor="ctr"/>
          <a:lstStyle/>
          <a:p>
            <a:pPr marL="0" indent="0" algn="r">
              <a:buNone/>
            </a:pPr>
            <a:r>
              <a:rPr lang="en-US" sz="1000" dirty="0">
                <a:solidFill>
                  <a:srgbClr val="B9B1D6"/>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502920"/>
            <a:ext cx="11091672" cy="685800"/>
          </a:xfrm>
          <a:prstGeom prst="rect">
            <a:avLst/>
          </a:prstGeom>
          <a:noFill/>
          <a:ln/>
        </p:spPr>
        <p:txBody>
          <a:bodyPr wrap="square" lIns="0" tIns="0" rIns="0" bIns="0" rtlCol="0" anchor="ctr"/>
          <a:lstStyle/>
          <a:p>
            <a:pPr marL="0" indent="0">
              <a:buNone/>
            </a:pPr>
            <a:r>
              <a:rPr lang="en-US" sz="2800" b="1" dirty="0">
                <a:solidFill>
                  <a:srgbClr val="F5F2FC"/>
                </a:solidFill>
                <a:latin typeface="Bookman Old Style" pitchFamily="34" charset="0"/>
                <a:ea typeface="Bookman Old Style" pitchFamily="34" charset="-122"/>
                <a:cs typeface="Bookman Old Style" pitchFamily="34" charset="-120"/>
              </a:rPr>
              <a:t>Three things to remember</a:t>
            </a:r>
            <a:endParaRPr lang="en-US" sz="2800" dirty="0"/>
          </a:p>
        </p:txBody>
      </p:sp>
      <p:sp>
        <p:nvSpPr>
          <p:cNvPr id="4" name="Shape 2"/>
          <p:cNvSpPr/>
          <p:nvPr/>
        </p:nvSpPr>
        <p:spPr>
          <a:xfrm>
            <a:off x="1554480" y="1947672"/>
            <a:ext cx="566928" cy="566928"/>
          </a:xfrm>
          <a:prstGeom prst="ellipse">
            <a:avLst/>
          </a:prstGeom>
          <a:solidFill>
            <a:srgbClr val="F2A93B"/>
          </a:solidFill>
          <a:ln/>
        </p:spPr>
      </p:sp>
      <p:sp>
        <p:nvSpPr>
          <p:cNvPr id="5" name="Text 3"/>
          <p:cNvSpPr txBox="1"/>
          <p:nvPr/>
        </p:nvSpPr>
        <p:spPr>
          <a:xfrm>
            <a:off x="1554480" y="1947672"/>
            <a:ext cx="566928" cy="566928"/>
          </a:xfrm>
          <a:prstGeom prst="rect">
            <a:avLst/>
          </a:prstGeom>
          <a:noFill/>
          <a:ln/>
        </p:spPr>
        <p:txBody>
          <a:bodyPr wrap="square" lIns="0" tIns="0" rIns="0" bIns="0" rtlCol="0" anchor="ctr"/>
          <a:lstStyle/>
          <a:p>
            <a:pPr marL="0" indent="0" algn="ctr">
              <a:buNone/>
            </a:pPr>
            <a:r>
              <a:rPr lang="en-US" sz="2000" b="1" dirty="0">
                <a:solidFill>
                  <a:srgbClr val="241A45"/>
                </a:solidFill>
                <a:latin typeface="Bookman Old Style" pitchFamily="34" charset="0"/>
                <a:ea typeface="Bookman Old Style" pitchFamily="34" charset="-122"/>
                <a:cs typeface="Bookman Old Style" pitchFamily="34" charset="-120"/>
              </a:rPr>
              <a:t>1</a:t>
            </a:r>
            <a:endParaRPr lang="en-US" sz="2000" dirty="0"/>
          </a:p>
        </p:txBody>
      </p:sp>
      <p:sp>
        <p:nvSpPr>
          <p:cNvPr id="6" name="Text 4"/>
          <p:cNvSpPr txBox="1"/>
          <p:nvPr/>
        </p:nvSpPr>
        <p:spPr>
          <a:xfrm>
            <a:off x="2423160" y="1783080"/>
            <a:ext cx="8257032" cy="914400"/>
          </a:xfrm>
          <a:prstGeom prst="rect">
            <a:avLst/>
          </a:prstGeom>
          <a:noFill/>
          <a:ln/>
        </p:spPr>
        <p:txBody>
          <a:bodyPr wrap="square" lIns="0" tIns="0" rIns="0" bIns="0" rtlCol="0" anchor="ctr"/>
          <a:lstStyle/>
          <a:p>
            <a:pPr marL="0" indent="0">
              <a:buNone/>
            </a:pPr>
            <a:r>
              <a:rPr lang="en-US" sz="1900" dirty="0">
                <a:solidFill>
                  <a:srgbClr val="F5F2FC"/>
                </a:solidFill>
                <a:latin typeface="Calibri" pitchFamily="34" charset="0"/>
                <a:ea typeface="Calibri" pitchFamily="34" charset="-122"/>
                <a:cs typeface="Calibri" pitchFamily="34" charset="-120"/>
              </a:rPr>
              <a:t>The voice carries a real, measurable signal of Parkinson's.</a:t>
            </a:r>
            <a:endParaRPr lang="en-US" sz="1900" dirty="0"/>
          </a:p>
        </p:txBody>
      </p:sp>
      <p:sp>
        <p:nvSpPr>
          <p:cNvPr id="7" name="Shape 5"/>
          <p:cNvSpPr/>
          <p:nvPr/>
        </p:nvSpPr>
        <p:spPr>
          <a:xfrm>
            <a:off x="1554480" y="3182112"/>
            <a:ext cx="566928" cy="566928"/>
          </a:xfrm>
          <a:prstGeom prst="ellipse">
            <a:avLst/>
          </a:prstGeom>
          <a:solidFill>
            <a:srgbClr val="F2A93B"/>
          </a:solidFill>
          <a:ln/>
        </p:spPr>
      </p:sp>
      <p:sp>
        <p:nvSpPr>
          <p:cNvPr id="8" name="Text 6"/>
          <p:cNvSpPr txBox="1"/>
          <p:nvPr/>
        </p:nvSpPr>
        <p:spPr>
          <a:xfrm>
            <a:off x="1554480" y="3182112"/>
            <a:ext cx="566928" cy="566928"/>
          </a:xfrm>
          <a:prstGeom prst="rect">
            <a:avLst/>
          </a:prstGeom>
          <a:noFill/>
          <a:ln/>
        </p:spPr>
        <p:txBody>
          <a:bodyPr wrap="square" lIns="0" tIns="0" rIns="0" bIns="0" rtlCol="0" anchor="ctr"/>
          <a:lstStyle/>
          <a:p>
            <a:pPr marL="0" indent="0" algn="ctr">
              <a:buNone/>
            </a:pPr>
            <a:r>
              <a:rPr lang="en-US" sz="2000" b="1" dirty="0">
                <a:solidFill>
                  <a:srgbClr val="241A45"/>
                </a:solidFill>
                <a:latin typeface="Bookman Old Style" pitchFamily="34" charset="0"/>
                <a:ea typeface="Bookman Old Style" pitchFamily="34" charset="-122"/>
                <a:cs typeface="Bookman Old Style" pitchFamily="34" charset="-120"/>
              </a:rPr>
              <a:t>2</a:t>
            </a:r>
            <a:endParaRPr lang="en-US" sz="2000" dirty="0"/>
          </a:p>
        </p:txBody>
      </p:sp>
      <p:sp>
        <p:nvSpPr>
          <p:cNvPr id="9" name="Text 7"/>
          <p:cNvSpPr txBox="1"/>
          <p:nvPr/>
        </p:nvSpPr>
        <p:spPr>
          <a:xfrm>
            <a:off x="2423160" y="3017520"/>
            <a:ext cx="8257032" cy="914400"/>
          </a:xfrm>
          <a:prstGeom prst="rect">
            <a:avLst/>
          </a:prstGeom>
          <a:noFill/>
          <a:ln/>
        </p:spPr>
        <p:txBody>
          <a:bodyPr wrap="square" lIns="0" tIns="0" rIns="0" bIns="0" rtlCol="0" anchor="ctr"/>
          <a:lstStyle/>
          <a:p>
            <a:pPr marL="0" indent="0">
              <a:buNone/>
            </a:pPr>
            <a:r>
              <a:rPr lang="en-US" sz="1900" dirty="0">
                <a:solidFill>
                  <a:srgbClr val="F5F2FC"/>
                </a:solidFill>
                <a:latin typeface="Calibri" pitchFamily="34" charset="0"/>
                <a:ea typeface="Calibri" pitchFamily="34" charset="-122"/>
                <a:cs typeface="Calibri" pitchFamily="34" charset="-120"/>
              </a:rPr>
              <a:t>We tested honestly — only on people the computer never heard.</a:t>
            </a:r>
            <a:endParaRPr lang="en-US" sz="1900" dirty="0"/>
          </a:p>
        </p:txBody>
      </p:sp>
      <p:sp>
        <p:nvSpPr>
          <p:cNvPr id="10" name="Shape 8"/>
          <p:cNvSpPr/>
          <p:nvPr/>
        </p:nvSpPr>
        <p:spPr>
          <a:xfrm>
            <a:off x="1554480" y="4416552"/>
            <a:ext cx="566928" cy="566928"/>
          </a:xfrm>
          <a:prstGeom prst="ellipse">
            <a:avLst/>
          </a:prstGeom>
          <a:solidFill>
            <a:srgbClr val="F2A93B"/>
          </a:solidFill>
          <a:ln/>
        </p:spPr>
      </p:sp>
      <p:sp>
        <p:nvSpPr>
          <p:cNvPr id="11" name="Text 9"/>
          <p:cNvSpPr txBox="1"/>
          <p:nvPr/>
        </p:nvSpPr>
        <p:spPr>
          <a:xfrm>
            <a:off x="1554480" y="4416552"/>
            <a:ext cx="566928" cy="566928"/>
          </a:xfrm>
          <a:prstGeom prst="rect">
            <a:avLst/>
          </a:prstGeom>
          <a:noFill/>
          <a:ln/>
        </p:spPr>
        <p:txBody>
          <a:bodyPr wrap="square" lIns="0" tIns="0" rIns="0" bIns="0" rtlCol="0" anchor="ctr"/>
          <a:lstStyle/>
          <a:p>
            <a:pPr marL="0" indent="0" algn="ctr">
              <a:buNone/>
            </a:pPr>
            <a:r>
              <a:rPr lang="en-US" sz="2000" b="1" dirty="0">
                <a:solidFill>
                  <a:srgbClr val="241A45"/>
                </a:solidFill>
                <a:latin typeface="Bookman Old Style" pitchFamily="34" charset="0"/>
                <a:ea typeface="Bookman Old Style" pitchFamily="34" charset="-122"/>
                <a:cs typeface="Bookman Old Style" pitchFamily="34" charset="-120"/>
              </a:rPr>
              <a:t>3</a:t>
            </a:r>
            <a:endParaRPr lang="en-US" sz="2000" dirty="0"/>
          </a:p>
        </p:txBody>
      </p:sp>
      <p:sp>
        <p:nvSpPr>
          <p:cNvPr id="12" name="Text 10"/>
          <p:cNvSpPr txBox="1"/>
          <p:nvPr/>
        </p:nvSpPr>
        <p:spPr>
          <a:xfrm>
            <a:off x="2423160" y="4251960"/>
            <a:ext cx="8257032" cy="914400"/>
          </a:xfrm>
          <a:prstGeom prst="rect">
            <a:avLst/>
          </a:prstGeom>
          <a:noFill/>
          <a:ln/>
        </p:spPr>
        <p:txBody>
          <a:bodyPr wrap="square" lIns="0" tIns="0" rIns="0" bIns="0" rtlCol="0" anchor="ctr"/>
          <a:lstStyle/>
          <a:p>
            <a:pPr marL="0" indent="0">
              <a:buNone/>
            </a:pPr>
            <a:r>
              <a:rPr lang="en-US" sz="1900" dirty="0">
                <a:solidFill>
                  <a:srgbClr val="F5F2FC"/>
                </a:solidFill>
                <a:latin typeface="Calibri" pitchFamily="34" charset="0"/>
                <a:ea typeface="Calibri" pitchFamily="34" charset="-122"/>
                <a:cs typeface="Calibri" pitchFamily="34" charset="-120"/>
              </a:rPr>
              <a:t>It is a screening helper, not a diagnosis — a doctor decides.</a:t>
            </a:r>
            <a:endParaRPr lang="en-US" sz="1900" dirty="0"/>
          </a:p>
        </p:txBody>
      </p:sp>
      <p:sp>
        <p:nvSpPr>
          <p:cNvPr id="13" name="Text 11"/>
          <p:cNvSpPr txBox="1"/>
          <p:nvPr/>
        </p:nvSpPr>
        <p:spPr>
          <a:xfrm>
            <a:off x="822960" y="5760720"/>
            <a:ext cx="10543032" cy="502920"/>
          </a:xfrm>
          <a:prstGeom prst="rect">
            <a:avLst/>
          </a:prstGeom>
          <a:noFill/>
          <a:ln/>
        </p:spPr>
        <p:txBody>
          <a:bodyPr wrap="square" lIns="0" tIns="0" rIns="0" bIns="0" rtlCol="0" anchor="ctr"/>
          <a:lstStyle/>
          <a:p>
            <a:pPr marL="0" indent="0" algn="ctr">
              <a:buNone/>
            </a:pPr>
            <a:r>
              <a:rPr lang="en-US" sz="1700" i="1" dirty="0">
                <a:solidFill>
                  <a:srgbClr val="F2A93B"/>
                </a:solidFill>
                <a:latin typeface="Bookman Old Style" pitchFamily="34" charset="0"/>
                <a:ea typeface="Bookman Old Style" pitchFamily="34" charset="-122"/>
                <a:cs typeface="Bookman Old Style" pitchFamily="34" charset="-120"/>
              </a:rPr>
              <a:t>An honest 0.822 is worth more than an inflated number.</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1"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2651760"/>
            <a:ext cx="10543032" cy="914400"/>
          </a:xfrm>
          <a:prstGeom prst="rect">
            <a:avLst/>
          </a:prstGeom>
          <a:noFill/>
          <a:ln/>
        </p:spPr>
        <p:txBody>
          <a:bodyPr wrap="square" lIns="0" tIns="0" rIns="0" bIns="0" rtlCol="0" anchor="ctr"/>
          <a:lstStyle/>
          <a:p>
            <a:pPr marL="0" indent="0" algn="ctr">
              <a:buNone/>
            </a:pPr>
            <a:r>
              <a:rPr lang="en-US" sz="4800" b="1" dirty="0">
                <a:solidFill>
                  <a:srgbClr val="F5F2FC"/>
                </a:solidFill>
                <a:latin typeface="Bookman Old Style" pitchFamily="34" charset="0"/>
                <a:ea typeface="Bookman Old Style" pitchFamily="34" charset="-122"/>
                <a:cs typeface="Bookman Old Style" pitchFamily="34" charset="-120"/>
              </a:rPr>
              <a:t>Thank you</a:t>
            </a:r>
            <a:endParaRPr lang="en-US" sz="4800" dirty="0"/>
          </a:p>
        </p:txBody>
      </p:sp>
      <p:sp>
        <p:nvSpPr>
          <p:cNvPr id="3" name="Text 1"/>
          <p:cNvSpPr txBox="1"/>
          <p:nvPr/>
        </p:nvSpPr>
        <p:spPr>
          <a:xfrm>
            <a:off x="822960" y="3749040"/>
            <a:ext cx="10543032" cy="457200"/>
          </a:xfrm>
          <a:prstGeom prst="rect">
            <a:avLst/>
          </a:prstGeom>
          <a:noFill/>
          <a:ln/>
        </p:spPr>
        <p:txBody>
          <a:bodyPr wrap="square" lIns="0" tIns="0" rIns="0" bIns="0" rtlCol="0" anchor="ctr"/>
          <a:lstStyle/>
          <a:p>
            <a:pPr marL="0" indent="0" algn="ctr">
              <a:buNone/>
            </a:pPr>
            <a:r>
              <a:rPr lang="en-US" sz="1700" dirty="0">
                <a:solidFill>
                  <a:srgbClr val="B9B1D6"/>
                </a:solidFill>
                <a:latin typeface="Calibri" pitchFamily="34" charset="0"/>
                <a:ea typeface="Calibri" pitchFamily="34" charset="-122"/>
                <a:cs typeface="Calibri" pitchFamily="34" charset="-120"/>
              </a:rPr>
              <a:t>Questions are welcome.</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1921</Words>
  <Application>Microsoft Office PowerPoint</Application>
  <PresentationFormat>Widescreen</PresentationFormat>
  <Paragraphs>231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Signal Analysis Using Machine Learning for Early Detection of Parkinson's Disease</dc:title>
  <dc:subject>PptxGenJS Presentation</dc:subject>
  <dc:creator>Suhail Mohamed Alhammali</dc:creator>
  <cp:lastModifiedBy>سهيل محمد</cp:lastModifiedBy>
  <cp:revision>2</cp:revision>
  <dcterms:created xsi:type="dcterms:W3CDTF">2026-09-02T16:59:35Z</dcterms:created>
  <dcterms:modified xsi:type="dcterms:W3CDTF">2026-09-02T17:00:12Z</dcterms:modified>
</cp:coreProperties>
</file>